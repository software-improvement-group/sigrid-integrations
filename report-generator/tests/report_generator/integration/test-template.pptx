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561" r:id="rId5"/>
    <p:sldId id="11162" r:id="rId6"/>
    <p:sldId id="11167" r:id="rId7"/>
    <p:sldId id="11166" r:id="rId8"/>
    <p:sldId id="1824" r:id="rId9"/>
    <p:sldId id="1652" r:id="rId10"/>
    <p:sldId id="11164" r:id="rId11"/>
    <p:sldId id="11170" r:id="rId12"/>
    <p:sldId id="2185" r:id="rId13"/>
    <p:sldId id="516" r:id="rId14"/>
    <p:sldId id="517" r:id="rId15"/>
    <p:sldId id="519" r:id="rId16"/>
    <p:sldId id="518" r:id="rId17"/>
    <p:sldId id="520" r:id="rId18"/>
    <p:sldId id="521" r:id="rId19"/>
    <p:sldId id="523" r:id="rId20"/>
    <p:sldId id="111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/>
    <p:restoredTop sz="96327"/>
  </p:normalViewPr>
  <p:slideViewPr>
    <p:cSldViewPr snapToGrid="0" snapToObjects="1" showGuides="1">
      <p:cViewPr varScale="1">
        <p:scale>
          <a:sx n="119" d="100"/>
          <a:sy n="119" d="100"/>
        </p:scale>
        <p:origin x="224" y="-20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034B-534E-9ADC-79D3329DBEB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AA6CA5E8-FDB8-434A-B68E-C7A3CC6735E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FA8-464D-BE91-55CE5770358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6E19E0AF-A501-7C4B-8799-4B6F8CFD540B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FA8-464D-BE91-55CE577035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Java</c:v>
                </c:pt>
                <c:pt idx="1">
                  <c:v>C++</c:v>
                </c:pt>
                <c:pt idx="2">
                  <c:v>JavaScript</c:v>
                </c:pt>
                <c:pt idx="3">
                  <c:v>Python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0.86965532760192477</c:v>
                </c:pt>
                <c:pt idx="1">
                  <c:v>0.12658757732049117</c:v>
                </c:pt>
                <c:pt idx="2">
                  <c:v>3.5367373931502054E-3</c:v>
                </c:pt>
                <c:pt idx="3">
                  <c:v>2.2035768443385634E-4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0-034B-534E-9ADC-79D3329DB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C0-8749-A89A-75F11CBE0F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C0-8749-A89A-75F11CBE0F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C0-8749-A89A-75F11CBE0F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C0-8749-A89A-75F11CBE0F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0-1E47-A0AF-94D32305F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0"/>
            <c:spPr>
              <a:solidFill>
                <a:schemeClr val="accent1"/>
              </a:solidFill>
              <a:ln w="28575">
                <a:solidFill>
                  <a:schemeClr val="accent3"/>
                </a:soli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layout>
                <c:manualLayout>
                  <c:x val="1.606170496506116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[</a:t>
                    </a:r>
                    <a:r>
                      <a:rPr lang="en-US" dirty="0" err="1"/>
                      <a:t>SYSTEM_NAME</a:t>
                    </a:r>
                    <a:r>
                      <a:rPr lang="en-US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B86A-D14B-85E9-B8DEC18B60F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519-7043-91E7-EECF3C41425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Bitcoin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519-7043-91E7-EECF3C4142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519-7043-91E7-EECF3C41425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519-7043-91E7-EECF3C41425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519-7043-91E7-EECF3C41425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19-7043-91E7-EECF3C41425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519-7043-91E7-EECF3C41425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519-7043-91E7-EECF3C41425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519-7043-91E7-EECF3C41425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519-7043-91E7-EECF3C41425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519-7043-91E7-EECF3C41425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519-7043-91E7-EECF3C41425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Googleguava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519-7043-91E7-EECF3C41425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519-7043-91E7-EECF3C41425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0519-7043-91E7-EECF3C41425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519-7043-91E7-EECF3C41425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0519-7043-91E7-EECF3C41425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519-7043-91E7-EECF3C4142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0519-7043-91E7-EECF3C4142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519-7043-91E7-EECF3C41425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0519-7043-91E7-EECF3C41425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Microsoftterminal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0519-7043-91E7-EECF3C41425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0519-7043-91E7-EECF3C41425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Mysql-server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0519-7043-91E7-EECF3C41425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0519-7043-91E7-EECF3C41425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0519-7043-91E7-EECF3C41425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Oraclegraal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0519-7043-91E7-EECF3C41425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0519-7043-91E7-EECF3C41425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Postgres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0519-7043-91E7-EECF3C41425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0519-7043-91E7-EECF3C41425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0519-7043-91E7-EECF3C41425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0519-7043-91E7-EECF3C41425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0519-7043-91E7-EECF3C41425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0519-7043-91E7-EECF3C41425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0519-7043-91E7-EECF3C41425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0519-7043-91E7-EECF3C41425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0519-7043-91E7-EECF3C41425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0519-7043-91E7-EECF3C41425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0519-7043-91E7-EECF3C41425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0519-7043-91E7-EECF3C41425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0519-7043-91E7-EECF3C41425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0519-7043-91E7-EECF3C41425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Visual Studio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0519-7043-91E7-EECF3C41425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0519-7043-91E7-EECF3C41425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Webmethods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0519-7043-91E7-EECF3C41425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0519-7043-91E7-EECF3C41425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0519-7043-91E7-EECF3C414252}"/>
                </c:ext>
              </c:extLst>
            </c:dLbl>
            <c:numFmt formatCode="#,##0.0" sourceLinked="0"/>
            <c:spPr>
              <a:solidFill>
                <a:schemeClr val="accent3">
                  <a:alpha val="85000"/>
                </a:schemeClr>
              </a:soli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Sheet1!$A$2:$A$51</c:f>
              <c:numCache>
                <c:formatCode>General</c:formatCode>
                <c:ptCount val="50"/>
                <c:pt idx="0">
                  <c:v>28.068333333333332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2.3086110126054158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Sheet1!$C$2:$C$3</c15:f>
                <c15:dlblRangeCache>
                  <c:ptCount val="2"/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1-0A4B-BF3C-1F87FFDAF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7C1-0A4B-BF3C-1F87FFDAFFAB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7C1-0A4B-BF3C-1F87FFDAFFAB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7C1-0A4B-BF3C-1F87FFDAFF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7C1-0A4B-BF3C-1F87FFDAFFA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78-A848-A9F6-D040B7E58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9-5C45-872A-96D6CCD489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A49-5C45-872A-96D6CCD48952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A49-5C45-872A-96D6CCD48952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A49-5C45-872A-96D6CCD489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49-5C45-872A-96D6CCD489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8F-804A-98C0-2EFA001BB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8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levels – Main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389AAB-7EAB-2BCE-EF27-38E7BCB93625}"/>
              </a:ext>
            </a:extLst>
          </p:cNvPr>
          <p:cNvSpPr/>
          <p:nvPr userDrawn="1"/>
        </p:nvSpPr>
        <p:spPr>
          <a:xfrm>
            <a:off x="540685" y="2101058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F13346-4B42-9F09-0053-A9BED105047A}"/>
              </a:ext>
            </a:extLst>
          </p:cNvPr>
          <p:cNvSpPr/>
          <p:nvPr userDrawn="1"/>
        </p:nvSpPr>
        <p:spPr>
          <a:xfrm>
            <a:off x="525694" y="2026652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C024B4-A888-6074-86D4-D86B016E0171}"/>
              </a:ext>
            </a:extLst>
          </p:cNvPr>
          <p:cNvCxnSpPr>
            <a:cxnSpLocks/>
          </p:cNvCxnSpPr>
          <p:nvPr userDrawn="1"/>
        </p:nvCxnSpPr>
        <p:spPr>
          <a:xfrm>
            <a:off x="540689" y="2877393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3013020"/>
            <a:ext cx="7135680" cy="330498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19D16-1B43-83B4-AAC8-3F62CE8DD7EA}"/>
              </a:ext>
            </a:extLst>
          </p:cNvPr>
          <p:cNvSpPr/>
          <p:nvPr userDrawn="1"/>
        </p:nvSpPr>
        <p:spPr bwMode="auto">
          <a:xfrm rot="5400000">
            <a:off x="1548588" y="957613"/>
            <a:ext cx="195321" cy="2211125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7916A-C3C6-004B-AECE-7FDC1C99337B}"/>
              </a:ext>
            </a:extLst>
          </p:cNvPr>
          <p:cNvSpPr/>
          <p:nvPr userDrawn="1"/>
        </p:nvSpPr>
        <p:spPr bwMode="auto">
          <a:xfrm rot="5400000">
            <a:off x="3758269" y="959055"/>
            <a:ext cx="195321" cy="2208241"/>
          </a:xfrm>
          <a:prstGeom prst="rect">
            <a:avLst/>
          </a:prstGeom>
          <a:solidFill>
            <a:srgbClr val="DAE2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1625B-745E-62D9-BD2A-55957EA061A3}"/>
              </a:ext>
            </a:extLst>
          </p:cNvPr>
          <p:cNvSpPr/>
          <p:nvPr userDrawn="1"/>
        </p:nvSpPr>
        <p:spPr bwMode="auto">
          <a:xfrm rot="5400000">
            <a:off x="8182546" y="951652"/>
            <a:ext cx="195321" cy="2223047"/>
          </a:xfrm>
          <a:prstGeom prst="rect">
            <a:avLst/>
          </a:prstGeom>
          <a:solidFill>
            <a:srgbClr val="697C8E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A4D38-4E21-D4C5-440B-8F86DC2718F7}"/>
              </a:ext>
            </a:extLst>
          </p:cNvPr>
          <p:cNvSpPr/>
          <p:nvPr userDrawn="1"/>
        </p:nvSpPr>
        <p:spPr bwMode="auto">
          <a:xfrm rot="5400000">
            <a:off x="10398054" y="959190"/>
            <a:ext cx="195321" cy="220797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F30B0-F038-9819-805C-8B583196DFC5}"/>
              </a:ext>
            </a:extLst>
          </p:cNvPr>
          <p:cNvSpPr/>
          <p:nvPr userDrawn="1"/>
        </p:nvSpPr>
        <p:spPr bwMode="auto">
          <a:xfrm rot="5400000">
            <a:off x="5966706" y="958857"/>
            <a:ext cx="195321" cy="2208636"/>
          </a:xfrm>
          <a:prstGeom prst="rect">
            <a:avLst/>
          </a:prstGeom>
          <a:solidFill>
            <a:srgbClr val="B3BECD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9642B4-94D7-E002-5F8F-4B21E3C2B65C}"/>
              </a:ext>
            </a:extLst>
          </p:cNvPr>
          <p:cNvGrpSpPr/>
          <p:nvPr userDrawn="1"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E37F83-14A0-0B68-AAEB-CA6647EFED37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711BE83-E5FD-6BD3-812A-5637E13953A8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DCB0456-FBFD-F1A5-7BB5-98B8476CCA9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247D5E-E670-34AF-DF42-421FD37A7527}"/>
              </a:ext>
            </a:extLst>
          </p:cNvPr>
          <p:cNvSpPr txBox="1"/>
          <p:nvPr userDrawn="1"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8B723-3138-94E0-50D1-42ABD67C9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98721" y="871382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</a:t>
            </a:r>
            <a:endParaRPr lang="en-NL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71B52DB1-1BF8-95E7-0DE2-99D8E78CA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98721" y="103063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MMM</a:t>
            </a:r>
            <a:endParaRPr lang="en-NL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7469CFBD-4AB0-5FB5-93CB-E2192E5AD3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8721" y="118988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err="1"/>
              <a:t>YYYY</a:t>
            </a:r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3AC85-C0F9-B46B-348B-4B11984EC5E1}"/>
              </a:ext>
            </a:extLst>
          </p:cNvPr>
          <p:cNvSpPr/>
          <p:nvPr userDrawn="1"/>
        </p:nvSpPr>
        <p:spPr>
          <a:xfrm>
            <a:off x="543839" y="2188488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D2BA3-6863-8915-EEE5-38EF562641E3}"/>
              </a:ext>
            </a:extLst>
          </p:cNvPr>
          <p:cNvSpPr/>
          <p:nvPr userDrawn="1"/>
        </p:nvSpPr>
        <p:spPr>
          <a:xfrm>
            <a:off x="2748924" y="2185760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05139-0A17-D664-05C0-54D53A944BDA}"/>
              </a:ext>
            </a:extLst>
          </p:cNvPr>
          <p:cNvSpPr/>
          <p:nvPr userDrawn="1"/>
        </p:nvSpPr>
        <p:spPr>
          <a:xfrm>
            <a:off x="4956896" y="2183032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67BEC-37DC-3116-8A37-73B187EE071A}"/>
              </a:ext>
            </a:extLst>
          </p:cNvPr>
          <p:cNvSpPr/>
          <p:nvPr userDrawn="1"/>
        </p:nvSpPr>
        <p:spPr>
          <a:xfrm>
            <a:off x="7181055" y="2191551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697C8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551A6-ABB3-F7C9-4D66-48E5CACFAA61}"/>
              </a:ext>
            </a:extLst>
          </p:cNvPr>
          <p:cNvSpPr/>
          <p:nvPr userDrawn="1"/>
        </p:nvSpPr>
        <p:spPr>
          <a:xfrm>
            <a:off x="9402060" y="2191551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D34E97-9069-8EB5-D476-4767C60B9DCB}"/>
              </a:ext>
            </a:extLst>
          </p:cNvPr>
          <p:cNvSpPr txBox="1"/>
          <p:nvPr userDrawn="1"/>
        </p:nvSpPr>
        <p:spPr>
          <a:xfrm>
            <a:off x="381410" y="2387321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49FA0-813B-F1FB-15A1-2F51541BD669}"/>
              </a:ext>
            </a:extLst>
          </p:cNvPr>
          <p:cNvSpPr txBox="1"/>
          <p:nvPr userDrawn="1"/>
        </p:nvSpPr>
        <p:spPr>
          <a:xfrm>
            <a:off x="5471355" y="2462115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FB1209-72DE-2C48-B685-6B5419CD68FB}"/>
              </a:ext>
            </a:extLst>
          </p:cNvPr>
          <p:cNvCxnSpPr>
            <a:cxnSpLocks/>
          </p:cNvCxnSpPr>
          <p:nvPr userDrawn="1"/>
        </p:nvCxnSpPr>
        <p:spPr>
          <a:xfrm flipV="1">
            <a:off x="7788343" y="3092712"/>
            <a:ext cx="0" cy="2605671"/>
          </a:xfrm>
          <a:prstGeom prst="line">
            <a:avLst/>
          </a:prstGeom>
          <a:ln w="19050" cmpd="sng">
            <a:solidFill>
              <a:srgbClr val="C7CCC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9EB7DA5-A189-5E80-A40E-0D5A616174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4525619"/>
              </p:ext>
            </p:extLst>
          </p:nvPr>
        </p:nvGraphicFramePr>
        <p:xfrm>
          <a:off x="543838" y="2137271"/>
          <a:ext cx="11047550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5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17443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24459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17733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24169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30723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11179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96CDAE8-7781-588D-787F-5341C2540339}"/>
              </a:ext>
            </a:extLst>
          </p:cNvPr>
          <p:cNvSpPr/>
          <p:nvPr userDrawn="1"/>
        </p:nvSpPr>
        <p:spPr>
          <a:xfrm>
            <a:off x="537472" y="1946275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7BF9B2-1645-5B9F-1FFC-28D76C8C78E8}"/>
              </a:ext>
            </a:extLst>
          </p:cNvPr>
          <p:cNvSpPr/>
          <p:nvPr userDrawn="1"/>
        </p:nvSpPr>
        <p:spPr>
          <a:xfrm>
            <a:off x="537472" y="1920940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4A0693-D200-6EF1-A143-74668BA406B3}"/>
              </a:ext>
            </a:extLst>
          </p:cNvPr>
          <p:cNvCxnSpPr/>
          <p:nvPr userDrawn="1"/>
        </p:nvCxnSpPr>
        <p:spPr>
          <a:xfrm>
            <a:off x="7168686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5382CA-3D46-3383-CE61-96754CBCB2DC}"/>
              </a:ext>
            </a:extLst>
          </p:cNvPr>
          <p:cNvCxnSpPr/>
          <p:nvPr userDrawn="1"/>
        </p:nvCxnSpPr>
        <p:spPr>
          <a:xfrm>
            <a:off x="939173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02FFCB-A60C-1ABB-22DD-D81A4F233622}"/>
              </a:ext>
            </a:extLst>
          </p:cNvPr>
          <p:cNvCxnSpPr/>
          <p:nvPr userDrawn="1"/>
        </p:nvCxnSpPr>
        <p:spPr>
          <a:xfrm>
            <a:off x="496005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512980-BEE5-E7F0-720E-A747745DDB11}"/>
              </a:ext>
            </a:extLst>
          </p:cNvPr>
          <p:cNvCxnSpPr/>
          <p:nvPr userDrawn="1"/>
        </p:nvCxnSpPr>
        <p:spPr>
          <a:xfrm>
            <a:off x="2751812" y="171146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FD5B0F4-1A06-1D76-C351-F35CEC5B2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9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Ignore or delete.</a:t>
            </a:r>
            <a:endParaRPr lang="en-NL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B45C554-BC58-F501-2AFB-377EF5E1A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5641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86184D8-48AE-84C4-D2D0-BD148A626F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8227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2F7945-8C5F-3982-B444-D1FDBBCD99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188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98ABF9CF-BBFE-4E06-9E06-4F52587081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542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D1F54-467C-F6F4-B066-0E8FD46045A1}"/>
              </a:ext>
            </a:extLst>
          </p:cNvPr>
          <p:cNvSpPr txBox="1"/>
          <p:nvPr userDrawn="1"/>
        </p:nvSpPr>
        <p:spPr>
          <a:xfrm>
            <a:off x="884809" y="-256756"/>
            <a:ext cx="10304572" cy="24622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lvl="0"/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▲ 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Dummy placeholders, 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due to use of star ratings for level descriptions. I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gnore them, they are not visible on the slide (t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hese placeholders are necessary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for compatibility with other templates). ▲</a:t>
            </a:r>
            <a:endParaRPr lang="en-NL" sz="1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901AC2-680E-4CD9-7DE1-234CE548C4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875" y="914509"/>
            <a:ext cx="1168590" cy="257763"/>
          </a:xfrm>
        </p:spPr>
        <p:txBody>
          <a:bodyPr wrap="none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Insert model name</a:t>
            </a:r>
            <a:endParaRPr lang="en-NL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B21183-F5CA-24B5-B8D6-DFE3A10DA671}"/>
              </a:ext>
            </a:extLst>
          </p:cNvPr>
          <p:cNvCxnSpPr>
            <a:cxnSpLocks/>
          </p:cNvCxnSpPr>
          <p:nvPr userDrawn="1"/>
        </p:nvCxnSpPr>
        <p:spPr>
          <a:xfrm>
            <a:off x="10247651" y="999720"/>
            <a:ext cx="0" cy="98830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81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419480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en-GB" sz="1400" b="1" dirty="0">
              <a:solidFill>
                <a:schemeClr val="accent1"/>
              </a:solidFill>
              <a:latin typeface="Calibri Regula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70243"/>
            <a:ext cx="4504276" cy="372650"/>
          </a:xfrm>
          <a:prstGeom prst="rect">
            <a:avLst/>
          </a:pr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2617" y="1867237"/>
            <a:ext cx="1946019" cy="169277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l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dependencies in total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858" y="1816783"/>
            <a:ext cx="562010" cy="265112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32BDF-19FE-16E0-140C-A92D63BFE40D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846DF8-6FB9-113B-E643-AFB994F128E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2CB4BC1-E3EB-78F3-84A5-877A5B841E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CF1F6A-1F88-8145-FE5C-042E83FC70D0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33F2AE-B882-CA12-2A4B-CA6E81F265E6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5B06F22-E984-AAA7-DF5B-49AA31FAED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8ECFD4-7514-0241-5872-BB758C0682D7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8AA51C-901A-9B84-CE25-4D427A46CAC1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309C6217-E883-2005-7854-9846D55830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35142B-912E-4B8A-58D9-C27402CCBF87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CB14B6-5B84-25D4-9CE0-CD4E9AB33AC3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826661C-B819-E9F6-2659-EBBAE34CB6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29CEE3-98D7-9F5B-587E-4C33DB5EB3B8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1422A-942B-5C44-B632-3495D5574AD2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A08C835-BC34-CED7-C169-00E4B30B00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69FE6E-A255-48D4-C7E8-F5E6D264D886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8C6D75-F690-0C6C-33C1-6B28E6F5F6AC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D163BBF-D73D-9771-B050-1D5ACCF613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860CF2-34E2-DE9F-17DE-0B05CCAB9F66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E5C3847-A367-1ACD-62C1-099B8EEB07F1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3281700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hyperlink" Target="https://wiki.sig.eu/confluence/x/JoDbC" TargetMode="Externa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3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4" r:id="rId19"/>
    <p:sldLayoutId id="2147483726" r:id="rId20"/>
    <p:sldLayoutId id="2147483727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emf"/><Relationship Id="rId5" Type="http://schemas.openxmlformats.org/officeDocument/2006/relationships/chart" Target="../charts/chart3.xml"/><Relationship Id="rId4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22244" y="6525935"/>
            <a:ext cx="64" cy="257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8D751-D7E7-9C49-9738-9C4485008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7436DB-3651-E842-9FB7-13DA5BE2FA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Management summary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763C605-75CA-DC4D-AE17-D3F134A4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10023452" cy="313412"/>
          </a:xfrm>
        </p:spPr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technical quality: management summary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9348AE8-5FBC-0E41-B4E0-8BE6CD80C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878" y="1363330"/>
            <a:ext cx="10889789" cy="518572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[Maintainability]</a:t>
            </a:r>
            <a:r>
              <a:rPr lang="en-US" sz="1800" dirty="0"/>
              <a:t> The system scores </a:t>
            </a:r>
            <a:r>
              <a:rPr lang="en-US" sz="1800" dirty="0" err="1"/>
              <a:t>MAINT_RELATIVE</a:t>
            </a:r>
            <a:r>
              <a:rPr lang="en-US" sz="1800" dirty="0"/>
              <a:t> the market average with </a:t>
            </a:r>
            <a:r>
              <a:rPr lang="en-US" sz="1800" dirty="0" err="1"/>
              <a:t>MAINT_RATING</a:t>
            </a:r>
            <a:r>
              <a:rPr lang="en-US" sz="1800" dirty="0"/>
              <a:t> stars (</a:t>
            </a:r>
            <a:r>
              <a:rPr lang="en-US" sz="1800" dirty="0" err="1"/>
              <a:t>MAINT_STARS</a:t>
            </a:r>
            <a:r>
              <a:rPr lang="en-US" sz="1800" dirty="0"/>
              <a:t>) on the SIG maintainability model. This indicates </a:t>
            </a:r>
            <a:r>
              <a:rPr lang="en-US" sz="1800" dirty="0" err="1"/>
              <a:t>MAINT_INDICATION</a:t>
            </a:r>
            <a:r>
              <a:rPr lang="en-US" sz="1800" dirty="0"/>
              <a:t> maintenance costs and time to market for functional changes. </a:t>
            </a:r>
            <a:r>
              <a:rPr lang="en-US" sz="1800" dirty="0" err="1"/>
              <a:t>MAINT_OBSERVATION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[Technology choice]</a:t>
            </a:r>
            <a:r>
              <a:rPr lang="en-US" sz="1800" dirty="0"/>
              <a:t> The system is </a:t>
            </a:r>
            <a:r>
              <a:rPr lang="en-US" sz="1800" dirty="0" err="1"/>
              <a:t>SYSTEM_PY</a:t>
            </a:r>
            <a:r>
              <a:rPr lang="en-US" sz="1800" dirty="0"/>
              <a:t> </a:t>
            </a:r>
            <a:r>
              <a:rPr lang="en-US" sz="1800" dirty="0" err="1"/>
              <a:t>PY</a:t>
            </a:r>
            <a:r>
              <a:rPr lang="en-US" sz="1800" dirty="0"/>
              <a:t> (</a:t>
            </a:r>
            <a:r>
              <a:rPr lang="en-US" sz="1800" dirty="0" err="1"/>
              <a:t>SYSTEM_LOC_FORMAT_COMMA</a:t>
            </a:r>
            <a:r>
              <a:rPr lang="en-US" sz="1800" dirty="0"/>
              <a:t> LOC) large. </a:t>
            </a:r>
            <a:r>
              <a:rPr lang="en-US" sz="1800" dirty="0" err="1"/>
              <a:t>TECH_SUMMARY</a:t>
            </a:r>
            <a:r>
              <a:rPr lang="en-US" sz="1800" dirty="0"/>
              <a:t> Its main technology is TECH_1_NAME.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[Test code] </a:t>
            </a:r>
            <a:r>
              <a:rPr lang="en-US" sz="1800" dirty="0"/>
              <a:t>The system has a test/code ratio of </a:t>
            </a:r>
            <a:r>
              <a:rPr lang="en-US" sz="1800" dirty="0" err="1"/>
              <a:t>TEST_CODE_RATIO</a:t>
            </a:r>
            <a:r>
              <a:rPr lang="en-US" sz="1800" dirty="0"/>
              <a:t>. This indicates </a:t>
            </a:r>
            <a:r>
              <a:rPr lang="en-US" sz="1800" dirty="0" err="1"/>
              <a:t>TEST_CODE_SUMMARY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ABC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[Architecture Quality] </a:t>
            </a:r>
            <a:r>
              <a:rPr lang="en-US" sz="1800" dirty="0"/>
              <a:t>The system rates </a:t>
            </a:r>
            <a:r>
              <a:rPr lang="en-US" sz="1800" dirty="0" err="1"/>
              <a:t>ARCH_RATING</a:t>
            </a:r>
            <a:r>
              <a:rPr lang="en-US" sz="1800" dirty="0"/>
              <a:t> stars (</a:t>
            </a:r>
            <a:r>
              <a:rPr lang="en-US" sz="1800" dirty="0" err="1">
                <a:latin typeface="+mj-lt"/>
              </a:rPr>
              <a:t>ARCH_STARS</a:t>
            </a:r>
            <a:r>
              <a:rPr lang="en-US" sz="1800" dirty="0">
                <a:latin typeface="Calibri" panose="020F0502020204030204" pitchFamily="34" charset="0"/>
              </a:rPr>
              <a:t>)</a:t>
            </a:r>
            <a:r>
              <a:rPr lang="en-US" sz="1800" dirty="0"/>
              <a:t> on the SIG Architecture Quality model, </a:t>
            </a:r>
            <a:r>
              <a:rPr lang="en-US" sz="1800" dirty="0" err="1"/>
              <a:t>ARCH_AT_BELOW</a:t>
            </a:r>
            <a:r>
              <a:rPr lang="en-US" sz="1800" dirty="0"/>
              <a:t> the market average. </a:t>
            </a:r>
            <a:r>
              <a:rPr lang="en-US" sz="1800" dirty="0" err="1"/>
              <a:t>ARCH_WORST_METRIC_REMARK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[Open-source health]</a:t>
            </a:r>
            <a:r>
              <a:rPr lang="en-US" sz="1800" dirty="0"/>
              <a:t> </a:t>
            </a:r>
            <a:r>
              <a:rPr lang="en-US" sz="1800" dirty="0" err="1"/>
              <a:t>OSH_RISK_SUMMARY</a:t>
            </a:r>
            <a:r>
              <a:rPr lang="en-US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43D544-1328-F0BC-2B01-FA489ECF0038}"/>
              </a:ext>
            </a:extLst>
          </p:cNvPr>
          <p:cNvGrpSpPr/>
          <p:nvPr/>
        </p:nvGrpSpPr>
        <p:grpSpPr>
          <a:xfrm>
            <a:off x="3447975" y="6529101"/>
            <a:ext cx="3073536" cy="256609"/>
            <a:chOff x="8280472" y="6533991"/>
            <a:chExt cx="3073536" cy="2566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4B3137-0ADF-0C01-58A6-4DC8AAE543B6}"/>
                </a:ext>
              </a:extLst>
            </p:cNvPr>
            <p:cNvSpPr txBox="1"/>
            <p:nvPr/>
          </p:nvSpPr>
          <p:spPr>
            <a:xfrm>
              <a:off x="8280472" y="6533991"/>
              <a:ext cx="3073536" cy="256609"/>
            </a:xfrm>
            <a:prstGeom prst="rect">
              <a:avLst/>
            </a:prstGeom>
            <a:noFill/>
          </p:spPr>
          <p:txBody>
            <a:bodyPr wrap="square" lIns="90000" rtlCol="0" anchor="t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000" b="1">
                  <a:solidFill>
                    <a:schemeClr val="accent1"/>
                  </a:solidFill>
                </a:rPr>
                <a:t>LEGEND</a:t>
              </a:r>
              <a:r>
                <a:rPr lang="en-US" sz="1000">
                  <a:solidFill>
                    <a:schemeClr val="accent1"/>
                  </a:solidFill>
                </a:rPr>
                <a:t>:    Low/no risk                                           High risk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A0954F-6B17-F07B-256E-572A096BF3BE}"/>
                </a:ext>
              </a:extLst>
            </p:cNvPr>
            <p:cNvCxnSpPr/>
            <p:nvPr/>
          </p:nvCxnSpPr>
          <p:spPr>
            <a:xfrm>
              <a:off x="9631624" y="6670459"/>
              <a:ext cx="1023457" cy="0"/>
            </a:xfrm>
            <a:prstGeom prst="line">
              <a:avLst/>
            </a:prstGeom>
            <a:ln w="63500" cap="rnd">
              <a:gradFill>
                <a:gsLst>
                  <a:gs pos="0">
                    <a:srgbClr val="57C968"/>
                  </a:gs>
                  <a:gs pos="33000">
                    <a:srgbClr val="F8C740"/>
                  </a:gs>
                  <a:gs pos="66000">
                    <a:srgbClr val="EF981A"/>
                  </a:gs>
                  <a:gs pos="100000">
                    <a:srgbClr val="DB493D"/>
                  </a:gs>
                </a:gsLst>
                <a:lin ang="0" scaled="0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4B119E-D97B-2CBE-3AAC-33962491AA02}"/>
              </a:ext>
            </a:extLst>
          </p:cNvPr>
          <p:cNvSpPr txBox="1"/>
          <p:nvPr/>
        </p:nvSpPr>
        <p:spPr>
          <a:xfrm>
            <a:off x="6445572" y="6528939"/>
            <a:ext cx="2996384" cy="25659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000">
                <a:solidFill>
                  <a:schemeClr val="accent1"/>
                </a:solidFill>
              </a:rPr>
              <a:t>L = No/Low | M = Moderate | </a:t>
            </a:r>
            <a:r>
              <a:rPr lang="en-GB" sz="1000">
                <a:solidFill>
                  <a:schemeClr val="accent1"/>
                </a:solidFill>
              </a:rPr>
              <a:t>H</a:t>
            </a:r>
            <a:r>
              <a:rPr lang="en-NL" sz="1000">
                <a:solidFill>
                  <a:schemeClr val="accent1"/>
                </a:solidFill>
              </a:rPr>
              <a:t> = High | C = Critical</a:t>
            </a:r>
          </a:p>
        </p:txBody>
      </p:sp>
    </p:spTree>
    <p:extLst>
      <p:ext uri="{BB962C8B-B14F-4D97-AF65-F5344CB8AC3E}">
        <p14:creationId xmlns:p14="http://schemas.microsoft.com/office/powerpoint/2010/main" val="183515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F449F31-3719-D447-B334-2BA3512A2A58}"/>
              </a:ext>
            </a:extLst>
          </p:cNvPr>
          <p:cNvSpPr/>
          <p:nvPr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57" name="Slide Number Placeholder 1">
            <a:extLst>
              <a:ext uri="{FF2B5EF4-FFF2-40B4-BE49-F238E27FC236}">
                <a16:creationId xmlns:a16="http://schemas.microsoft.com/office/drawing/2014/main" id="{43010B43-E6A1-0A42-81DC-A2705ED0D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2F5A018-2E28-3A48-A092-0C11E23992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 err="1">
                <a:solidFill>
                  <a:schemeClr val="accent3"/>
                </a:solidFill>
              </a:rPr>
              <a:t>technology</a:t>
            </a:r>
            <a:endParaRPr lang="da-DK" dirty="0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196999-2FDC-B64D-87C7-CBB95F4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system is </a:t>
            </a:r>
            <a:r>
              <a:rPr lang="en-US" dirty="0" err="1"/>
              <a:t>VOLUME_RELATIVE</a:t>
            </a:r>
            <a:r>
              <a:rPr lang="en-US" dirty="0"/>
              <a:t> in size and is built primarily in TECH_1_NAME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97E62-871D-ED41-BB4A-23A54EDA32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3297764" cy="4950000"/>
          </a:xfrm>
        </p:spPr>
        <p:txBody>
          <a:bodyPr/>
          <a:lstStyle/>
          <a:p>
            <a:r>
              <a:rPr lang="en-US" dirty="0" err="1"/>
              <a:t>TECH_COMMON_SUMMARY</a:t>
            </a:r>
            <a:endParaRPr lang="en-US" dirty="0"/>
          </a:p>
          <a:p>
            <a:r>
              <a:rPr lang="en-US" dirty="0" err="1"/>
              <a:t>TECH_VARIANCE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B95F9BC0-7330-914B-8E9E-94AD448E4FBA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SYSTEM_PY</a:t>
            </a:r>
            <a:r>
              <a:rPr lang="en-US" dirty="0"/>
              <a:t> </a:t>
            </a:r>
            <a:r>
              <a:rPr lang="en-US" dirty="0" err="1"/>
              <a:t>PY</a:t>
            </a:r>
            <a:endParaRPr lang="en-US" b="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056781-96E5-A84E-9B0E-0816F0C0E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478197"/>
              </p:ext>
            </p:extLst>
          </p:nvPr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47602722-FBEA-F24D-A573-D8200328D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63907"/>
              </p:ext>
            </p:extLst>
          </p:nvPr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size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(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PY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TECH_5_LOC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4953B0A-BA73-504C-811A-B3CDE825A186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Total system volume:</a:t>
            </a:r>
            <a:endParaRPr lang="en-US" b="0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9EA93C31-7D02-A448-9A77-0EEE72037098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SYSTEM_LOC_FORMAT_COMMA</a:t>
            </a:r>
            <a:r>
              <a:rPr lang="en-US" dirty="0"/>
              <a:t> LOC</a:t>
            </a:r>
            <a:endParaRPr lang="en-US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C1FDA-5A36-AF44-81EB-8575C7793171}"/>
              </a:ext>
            </a:extLst>
          </p:cNvPr>
          <p:cNvSpPr txBox="1"/>
          <p:nvPr/>
        </p:nvSpPr>
        <p:spPr>
          <a:xfrm>
            <a:off x="3588669" y="6539325"/>
            <a:ext cx="7345448" cy="24622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PM</a:t>
            </a:r>
            <a:r>
              <a:rPr lang="en-US" sz="1000">
                <a:solidFill>
                  <a:schemeClr val="accent1"/>
                </a:solidFill>
              </a:rPr>
              <a:t> = Person Months (rebuild size), </a:t>
            </a:r>
            <a:r>
              <a:rPr lang="en-US" sz="1000" b="1" err="1">
                <a:solidFill>
                  <a:schemeClr val="accent1"/>
                </a:solidFill>
              </a:rPr>
              <a:t>PY</a:t>
            </a:r>
            <a:r>
              <a:rPr lang="en-US" sz="1000">
                <a:solidFill>
                  <a:schemeClr val="accent1"/>
                </a:solidFill>
              </a:rPr>
              <a:t> = Person Years (rebuild size)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8CFB0-8BED-E2AA-7F87-EA8A27DA4B79}"/>
              </a:ext>
            </a:extLst>
          </p:cNvPr>
          <p:cNvSpPr txBox="1"/>
          <p:nvPr/>
        </p:nvSpPr>
        <p:spPr>
          <a:xfrm>
            <a:off x="10058400" y="-373182"/>
            <a:ext cx="2000312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TECHNOLOGY_CHART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00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8A21A-24C5-40C5-4CDB-EA624C29A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33BDC-89A5-E3A4-AEC7-4B221AF3E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TEST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0EBEF5-DCD9-FC37-4864-9AD952D1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has an </a:t>
            </a:r>
            <a:r>
              <a:rPr lang="en-US" dirty="0" err="1"/>
              <a:t>TEST_CODE_RELATIVE</a:t>
            </a:r>
            <a:r>
              <a:rPr lang="en-US" dirty="0"/>
              <a:t> test/code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7E356-2302-043B-D4F1-18D148D4F0C8}"/>
              </a:ext>
            </a:extLst>
          </p:cNvPr>
          <p:cNvSpPr txBox="1"/>
          <p:nvPr/>
        </p:nvSpPr>
        <p:spPr>
          <a:xfrm>
            <a:off x="7118733" y="1234521"/>
            <a:ext cx="4376866" cy="38805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b="1" dirty="0" err="1">
                <a:solidFill>
                  <a:schemeClr val="tx2"/>
                </a:solidFill>
              </a:rPr>
              <a:t>TEST_CODE_RATIO</a:t>
            </a:r>
            <a:r>
              <a:rPr lang="en-US" b="1" dirty="0">
                <a:solidFill>
                  <a:schemeClr val="tx2"/>
                </a:solidFill>
              </a:rPr>
              <a:t> overall Test/code ratio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4A68CB-2FEE-81FD-058E-2E5AD8DB5C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8932" y="5953982"/>
            <a:ext cx="4758570" cy="307564"/>
          </a:xfrm>
          <a:prstGeom prst="rect">
            <a:avLst/>
          </a:prstGeom>
        </p:spPr>
      </p:pic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AC1B7746-944D-B669-0A8D-A3370AB580D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18654622"/>
              </p:ext>
            </p:extLst>
          </p:nvPr>
        </p:nvGraphicFramePr>
        <p:xfrm>
          <a:off x="6957718" y="1622576"/>
          <a:ext cx="4537881" cy="4331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A0E6AF-E77A-4F4C-45E8-1299E5B1FD0B}"/>
              </a:ext>
            </a:extLst>
          </p:cNvPr>
          <p:cNvSpPr txBox="1"/>
          <p:nvPr/>
        </p:nvSpPr>
        <p:spPr>
          <a:xfrm>
            <a:off x="9771765" y="-373182"/>
            <a:ext cx="2420235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TEST_CODE_RATIO_CHART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93147D-DFE7-6BE7-7441-6D385DFAA343}"/>
              </a:ext>
            </a:extLst>
          </p:cNvPr>
          <p:cNvSpPr txBox="1"/>
          <p:nvPr/>
        </p:nvSpPr>
        <p:spPr>
          <a:xfrm>
            <a:off x="553154" y="1444963"/>
            <a:ext cx="4989689" cy="118987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SYSTEM_NAME</a:t>
            </a:r>
            <a:r>
              <a:rPr lang="en-US" sz="1600" dirty="0">
                <a:solidFill>
                  <a:schemeClr val="tx2"/>
                </a:solidFill>
              </a:rPr>
              <a:t> scores </a:t>
            </a:r>
            <a:r>
              <a:rPr lang="en-US" sz="1600" dirty="0" err="1">
                <a:solidFill>
                  <a:schemeClr val="tx2"/>
                </a:solidFill>
              </a:rPr>
              <a:t>TEST_CODE_RELATIVE</a:t>
            </a:r>
            <a:r>
              <a:rPr lang="en-US" sz="1600" dirty="0">
                <a:solidFill>
                  <a:schemeClr val="tx2"/>
                </a:solidFill>
              </a:rPr>
              <a:t>, with </a:t>
            </a:r>
            <a:r>
              <a:rPr lang="en-US" sz="1600" dirty="0" err="1">
                <a:solidFill>
                  <a:schemeClr val="tx2"/>
                </a:solidFill>
              </a:rPr>
              <a:t>TEST_CODE_RATIO</a:t>
            </a:r>
            <a:r>
              <a:rPr lang="en-US" sz="1600" dirty="0">
                <a:solidFill>
                  <a:schemeClr val="tx2"/>
                </a:solidFill>
              </a:rPr>
              <a:t> test/production code ratio. </a:t>
            </a:r>
          </a:p>
          <a:p>
            <a:pPr algn="l">
              <a:lnSpc>
                <a:spcPct val="113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TEST_CODE_SUMMARY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1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6A1C3D-3AA8-834F-A994-FA0207D3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10101"/>
            <a:ext cx="12192000" cy="53904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9F1CB-7901-D148-8851-054AF6F7AB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216756"/>
          </a:xfrm>
        </p:spPr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ADE34061-4828-C24F-8E69-8233C2B4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is a </a:t>
            </a:r>
            <a:r>
              <a:rPr lang="en-US" dirty="0" err="1"/>
              <a:t>MAINT_SIZE</a:t>
            </a:r>
            <a:r>
              <a:rPr lang="en-US" dirty="0"/>
              <a:t> system of </a:t>
            </a:r>
            <a:r>
              <a:rPr lang="en-US"/>
              <a:t>SYSTEM_PY </a:t>
            </a:r>
            <a:r>
              <a:rPr lang="en-US" dirty="0" err="1"/>
              <a:t>PY</a:t>
            </a:r>
            <a:r>
              <a:rPr lang="en-US" dirty="0"/>
              <a:t> which scores </a:t>
            </a:r>
            <a:r>
              <a:rPr lang="en-US" dirty="0" err="1"/>
              <a:t>MAINT_RATING</a:t>
            </a:r>
            <a:r>
              <a:rPr lang="en-US" dirty="0"/>
              <a:t> for maintainability 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22FF7-2BA3-1F40-8DD0-DE0D3F1EF364}"/>
              </a:ext>
            </a:extLst>
          </p:cNvPr>
          <p:cNvSpPr/>
          <p:nvPr/>
        </p:nvSpPr>
        <p:spPr>
          <a:xfrm>
            <a:off x="0" y="856385"/>
            <a:ext cx="12192001" cy="94061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5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4B5C55A-0F65-334C-BA45-7E6C78227CA0}"/>
              </a:ext>
            </a:extLst>
          </p:cNvPr>
          <p:cNvSpPr/>
          <p:nvPr/>
        </p:nvSpPr>
        <p:spPr>
          <a:xfrm>
            <a:off x="634296" y="856385"/>
            <a:ext cx="9349048" cy="6001615"/>
          </a:xfrm>
          <a:prstGeom prst="rect">
            <a:avLst/>
          </a:prstGeom>
          <a:gradFill>
            <a:gsLst>
              <a:gs pos="38000">
                <a:schemeClr val="accent2">
                  <a:alpha val="0"/>
                </a:schemeClr>
              </a:gs>
              <a:gs pos="62000">
                <a:schemeClr val="accent1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dirty="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E94B3-7184-6F49-9E35-6B595DC2D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9304" y="1798115"/>
            <a:ext cx="1040819" cy="365350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74159" y="3637528"/>
            <a:ext cx="1247606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27385" y="5971218"/>
            <a:ext cx="2826564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SYSTEM REBUILD VOLUME</a:t>
            </a:r>
            <a:r>
              <a:rPr lang="en-NL" sz="1100" dirty="0">
                <a:solidFill>
                  <a:schemeClr val="accent2"/>
                </a:solidFill>
              </a:rPr>
              <a:t>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/>
          <p:nvPr/>
        </p:nvCxnSpPr>
        <p:spPr>
          <a:xfrm flipV="1">
            <a:off x="723627" y="3154373"/>
            <a:ext cx="0" cy="1245793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/>
          <p:nvPr/>
        </p:nvCxnSpPr>
        <p:spPr>
          <a:xfrm>
            <a:off x="5427385" y="6293337"/>
            <a:ext cx="2826564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CHART_1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780878"/>
              </p:ext>
            </p:extLst>
          </p:nvPr>
        </p:nvGraphicFramePr>
        <p:xfrm>
          <a:off x="1477919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245200" y="1363956"/>
            <a:ext cx="3091908" cy="388055"/>
            <a:chOff x="4652159" y="1363956"/>
            <a:chExt cx="3091908" cy="3880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2756480" cy="388055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b="1" dirty="0">
                  <a:solidFill>
                    <a:schemeClr val="bg1"/>
                  </a:solidFill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54803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NL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sz="120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6F0224-6430-EFA1-D313-482D221B7593}"/>
              </a:ext>
            </a:extLst>
          </p:cNvPr>
          <p:cNvSpPr txBox="1"/>
          <p:nvPr/>
        </p:nvSpPr>
        <p:spPr>
          <a:xfrm>
            <a:off x="10854411" y="-307357"/>
            <a:ext cx="1404700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GALAXY_SLIDE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SYSTEM_NAME</a:t>
            </a:r>
            <a:r>
              <a:rPr lang="nl-NL" dirty="0"/>
              <a:t> scores </a:t>
            </a:r>
            <a:r>
              <a:rPr lang="nl-NL" dirty="0" err="1"/>
              <a:t>MAINT_INDICATION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maintainability</a:t>
            </a:r>
            <a:endParaRPr lang="en-NL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MAINT_DATE_DAY</a:t>
            </a:r>
            <a:endParaRPr lang="en-NL"/>
          </a:p>
        </p:txBody>
      </p:sp>
      <p:sp>
        <p:nvSpPr>
          <p:cNvPr id="227" name="Text Placeholder 226">
            <a:extLst>
              <a:ext uri="{FF2B5EF4-FFF2-40B4-BE49-F238E27FC236}">
                <a16:creationId xmlns:a16="http://schemas.microsoft.com/office/drawing/2014/main" id="{FAAA969D-31E3-621C-FDF8-31749FD317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MAINT_DATE_MONTH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MAINT_DATE_YEAR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9" name="Text Placeholder 228">
            <a:extLst>
              <a:ext uri="{FF2B5EF4-FFF2-40B4-BE49-F238E27FC236}">
                <a16:creationId xmlns:a16="http://schemas.microsoft.com/office/drawing/2014/main" id="{D6184AC1-2E4A-66F7-C655-6901112147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1220" y="914509"/>
            <a:ext cx="984245" cy="257763"/>
          </a:xfrm>
        </p:spPr>
        <p:txBody>
          <a:bodyPr/>
          <a:lstStyle/>
          <a:p>
            <a:r>
              <a:rPr lang="en-GB"/>
              <a:t>Maintainability</a:t>
            </a:r>
            <a:endParaRPr lang="en-N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27ECC-F4D1-7273-A4F6-58B0F444DF23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A6F0A6-4311-08D2-8340-B7A7C7FB136C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MARKER_MAINT_RATING</a:t>
              </a:r>
              <a:endParaRPr lang="en-US" sz="1400" b="1" dirty="0"/>
            </a:p>
          </p:txBody>
        </p:sp>
        <p:sp>
          <p:nvSpPr>
            <p:cNvPr id="52" name="Pentagon 51">
              <a:extLst>
                <a:ext uri="{FF2B5EF4-FFF2-40B4-BE49-F238E27FC236}">
                  <a16:creationId xmlns:a16="http://schemas.microsoft.com/office/drawing/2014/main" id="{D6282190-CB5E-00CF-1108-FD64568BF250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6" name="Group 52">
            <a:extLst>
              <a:ext uri="{FF2B5EF4-FFF2-40B4-BE49-F238E27FC236}">
                <a16:creationId xmlns:a16="http://schemas.microsoft.com/office/drawing/2014/main" id="{CEEF6B38-33C1-7E86-53F1-3C2F6EBBC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45820"/>
              </p:ext>
            </p:extLst>
          </p:nvPr>
        </p:nvGraphicFramePr>
        <p:xfrm>
          <a:off x="7984631" y="3243717"/>
          <a:ext cx="3755424" cy="1154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720861-DD0F-D566-06AC-40B24CCB06F1}"/>
              </a:ext>
            </a:extLst>
          </p:cNvPr>
          <p:cNvSpPr txBox="1"/>
          <p:nvPr/>
        </p:nvSpPr>
        <p:spPr>
          <a:xfrm>
            <a:off x="436369" y="3344081"/>
            <a:ext cx="6811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MAINT_RELATIVE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market average for maintainability. </a:t>
            </a:r>
            <a:r>
              <a:rPr lang="en-US" sz="1600" dirty="0">
                <a:solidFill>
                  <a:schemeClr val="accent1"/>
                </a:solidFill>
              </a:rPr>
              <a:t>This indicates </a:t>
            </a:r>
            <a:r>
              <a:rPr lang="en-US" sz="1600" dirty="0" err="1">
                <a:solidFill>
                  <a:schemeClr val="accent1"/>
                </a:solidFill>
              </a:rPr>
              <a:t>MAINT_INDICATION</a:t>
            </a:r>
            <a:r>
              <a:rPr lang="en-US" sz="1600" dirty="0">
                <a:solidFill>
                  <a:schemeClr val="accent1"/>
                </a:solidFill>
              </a:rPr>
              <a:t> maintenance costs and time to market for functional changes. </a:t>
            </a:r>
          </a:p>
          <a:p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Notable Metrics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MAINT_MULTIPLE_OBSERVATIONS</a:t>
            </a:r>
            <a:endParaRPr lang="en-US" sz="16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630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48743-6952-3E41-9EAE-79445DBE18D5}"/>
              </a:ext>
            </a:extLst>
          </p:cNvPr>
          <p:cNvSpPr/>
          <p:nvPr/>
        </p:nvSpPr>
        <p:spPr>
          <a:xfrm>
            <a:off x="540685" y="1890851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80031D-8002-E744-BAAA-BC5222DA882B}"/>
              </a:ext>
            </a:extLst>
          </p:cNvPr>
          <p:cNvSpPr/>
          <p:nvPr/>
        </p:nvSpPr>
        <p:spPr>
          <a:xfrm>
            <a:off x="525694" y="1816445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A220B-CADA-304A-81AB-5E5350C6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5AB7FEC-3C4E-3747-B264-B25107669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ARCHITECTURE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F01D3E4-9AF7-134E-86FD-74CBA979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3000"/>
              </a:lnSpc>
            </a:pPr>
            <a:r>
              <a:rPr lang="en-US" sz="2000" b="1" dirty="0" err="1">
                <a:solidFill>
                  <a:schemeClr val="tx2"/>
                </a:solidFill>
              </a:rPr>
              <a:t>SYSTEM_NAME</a:t>
            </a:r>
            <a:r>
              <a:rPr lang="en-US" sz="2000" b="1" dirty="0">
                <a:solidFill>
                  <a:schemeClr val="tx2"/>
                </a:solidFill>
              </a:rPr>
              <a:t> scores </a:t>
            </a:r>
            <a:r>
              <a:rPr lang="en-US" sz="2000" b="1" dirty="0" err="1">
                <a:solidFill>
                  <a:schemeClr val="tx2"/>
                </a:solidFill>
              </a:rPr>
              <a:t>ARCH_AT_BELOW</a:t>
            </a:r>
            <a:r>
              <a:rPr lang="en-US" sz="2000" b="1" dirty="0">
                <a:solidFill>
                  <a:schemeClr val="tx2"/>
                </a:solidFill>
              </a:rPr>
              <a:t> average (</a:t>
            </a:r>
            <a:r>
              <a:rPr lang="en-US" sz="2000" b="1" dirty="0" err="1">
                <a:solidFill>
                  <a:schemeClr val="tx2"/>
                </a:solidFill>
              </a:rPr>
              <a:t>ARCH_RATING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b="0" dirty="0">
                <a:latin typeface="Calibri" panose="020F0502020204030204" pitchFamily="34" charset="0"/>
              </a:rPr>
              <a:t>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0" dirty="0">
                <a:latin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for Architecture Quality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53A69D-5850-064B-9D98-63B4E85002D6}"/>
              </a:ext>
            </a:extLst>
          </p:cNvPr>
          <p:cNvSpPr/>
          <p:nvPr/>
        </p:nvSpPr>
        <p:spPr bwMode="auto">
          <a:xfrm rot="5400000">
            <a:off x="1548588" y="747406"/>
            <a:ext cx="195321" cy="2211125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54D7DA-B6A3-D942-A52D-6155C32505BF}"/>
              </a:ext>
            </a:extLst>
          </p:cNvPr>
          <p:cNvSpPr/>
          <p:nvPr/>
        </p:nvSpPr>
        <p:spPr>
          <a:xfrm>
            <a:off x="543839" y="1944661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C5CCD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  <a:endParaRPr lang="en-GB" sz="1400" dirty="0">
              <a:solidFill>
                <a:srgbClr val="C5CCD5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EF5B18-A22E-6343-80E5-093226C827C2}"/>
              </a:ext>
            </a:extLst>
          </p:cNvPr>
          <p:cNvSpPr/>
          <p:nvPr/>
        </p:nvSpPr>
        <p:spPr bwMode="auto">
          <a:xfrm rot="5400000">
            <a:off x="3758269" y="748848"/>
            <a:ext cx="195321" cy="2208241"/>
          </a:xfrm>
          <a:prstGeom prst="rect">
            <a:avLst/>
          </a:prstGeom>
          <a:solidFill>
            <a:srgbClr val="F09819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3583C2-7594-FB4E-9EFE-2945BE5C3270}"/>
              </a:ext>
            </a:extLst>
          </p:cNvPr>
          <p:cNvSpPr/>
          <p:nvPr/>
        </p:nvSpPr>
        <p:spPr bwMode="auto">
          <a:xfrm rot="5400000">
            <a:off x="8182546" y="741445"/>
            <a:ext cx="195321" cy="2223047"/>
          </a:xfrm>
          <a:prstGeom prst="rect">
            <a:avLst/>
          </a:prstGeom>
          <a:solidFill>
            <a:srgbClr val="57C968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F2ABEA-AB21-6942-81B5-0EE77F28BD5C}"/>
              </a:ext>
            </a:extLst>
          </p:cNvPr>
          <p:cNvSpPr/>
          <p:nvPr/>
        </p:nvSpPr>
        <p:spPr bwMode="auto">
          <a:xfrm rot="5400000">
            <a:off x="10398054" y="748983"/>
            <a:ext cx="195321" cy="2207971"/>
          </a:xfrm>
          <a:prstGeom prst="rect">
            <a:avLst/>
          </a:prstGeom>
          <a:solidFill>
            <a:srgbClr val="2C963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1167323-04D1-624D-AA3F-325DB698FE8C}"/>
              </a:ext>
            </a:extLst>
          </p:cNvPr>
          <p:cNvSpPr/>
          <p:nvPr/>
        </p:nvSpPr>
        <p:spPr>
          <a:xfrm>
            <a:off x="2748924" y="1941933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9AA6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9AA6B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05C056-85E7-EC47-8F2C-9FFBD30C699B}"/>
              </a:ext>
            </a:extLst>
          </p:cNvPr>
          <p:cNvSpPr/>
          <p:nvPr/>
        </p:nvSpPr>
        <p:spPr>
          <a:xfrm>
            <a:off x="4956896" y="1939205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6E7F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6E7F8B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DF8940-DBDE-D04A-9416-03F980EE69A6}"/>
              </a:ext>
            </a:extLst>
          </p:cNvPr>
          <p:cNvSpPr/>
          <p:nvPr/>
        </p:nvSpPr>
        <p:spPr>
          <a:xfrm>
            <a:off x="7181055" y="1947724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425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425966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972461-B2E3-3A46-92A9-AEE23A81F3B9}"/>
              </a:ext>
            </a:extLst>
          </p:cNvPr>
          <p:cNvSpPr/>
          <p:nvPr/>
        </p:nvSpPr>
        <p:spPr>
          <a:xfrm>
            <a:off x="9402060" y="1947724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173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rgbClr val="17324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FB0B4A-6F6E-BF47-8527-15F1086A865F}"/>
              </a:ext>
            </a:extLst>
          </p:cNvPr>
          <p:cNvSpPr/>
          <p:nvPr/>
        </p:nvSpPr>
        <p:spPr bwMode="auto">
          <a:xfrm rot="5400000">
            <a:off x="5966706" y="748650"/>
            <a:ext cx="195321" cy="2208636"/>
          </a:xfrm>
          <a:prstGeom prst="rect">
            <a:avLst/>
          </a:prstGeom>
          <a:solidFill>
            <a:srgbClr val="F8C64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768F9-6045-AE49-B24D-F61166D3EB6D}"/>
              </a:ext>
            </a:extLst>
          </p:cNvPr>
          <p:cNvSpPr txBox="1"/>
          <p:nvPr/>
        </p:nvSpPr>
        <p:spPr>
          <a:xfrm>
            <a:off x="381410" y="2177114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5F6BC3-0EC2-7742-9CCE-F275883089E5}"/>
              </a:ext>
            </a:extLst>
          </p:cNvPr>
          <p:cNvSpPr txBox="1"/>
          <p:nvPr/>
        </p:nvSpPr>
        <p:spPr>
          <a:xfrm>
            <a:off x="5471355" y="2251908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A3DFED-AEF8-2B48-A242-97EAC1EC9E77}"/>
              </a:ext>
            </a:extLst>
          </p:cNvPr>
          <p:cNvCxnSpPr/>
          <p:nvPr/>
        </p:nvCxnSpPr>
        <p:spPr>
          <a:xfrm>
            <a:off x="496005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FB4D89-3B68-844D-9BCE-97B6664582B2}"/>
              </a:ext>
            </a:extLst>
          </p:cNvPr>
          <p:cNvCxnSpPr/>
          <p:nvPr/>
        </p:nvCxnSpPr>
        <p:spPr>
          <a:xfrm>
            <a:off x="542723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34D086-5422-2B4D-B0DA-75470D69BF18}"/>
              </a:ext>
            </a:extLst>
          </p:cNvPr>
          <p:cNvCxnSpPr/>
          <p:nvPr/>
        </p:nvCxnSpPr>
        <p:spPr>
          <a:xfrm>
            <a:off x="2751812" y="1501261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9B24B0A-42B5-9D43-B1B4-4891FD4D24FB}"/>
              </a:ext>
            </a:extLst>
          </p:cNvPr>
          <p:cNvCxnSpPr/>
          <p:nvPr/>
        </p:nvCxnSpPr>
        <p:spPr>
          <a:xfrm>
            <a:off x="11599702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288335-AA5C-8049-8C30-11DD52E4CE4F}"/>
              </a:ext>
            </a:extLst>
          </p:cNvPr>
          <p:cNvCxnSpPr>
            <a:cxnSpLocks/>
          </p:cNvCxnSpPr>
          <p:nvPr/>
        </p:nvCxnSpPr>
        <p:spPr>
          <a:xfrm>
            <a:off x="540689" y="2667186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2CB44-B742-314A-8BD1-F77760810CC6}"/>
              </a:ext>
            </a:extLst>
          </p:cNvPr>
          <p:cNvCxnSpPr/>
          <p:nvPr/>
        </p:nvCxnSpPr>
        <p:spPr>
          <a:xfrm>
            <a:off x="7168686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551C5D-577A-B242-A077-085BBF0F9CF1}"/>
              </a:ext>
            </a:extLst>
          </p:cNvPr>
          <p:cNvCxnSpPr/>
          <p:nvPr/>
        </p:nvCxnSpPr>
        <p:spPr>
          <a:xfrm>
            <a:off x="939173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07D88E2-A714-4442-8CAB-278792CDA698}"/>
              </a:ext>
            </a:extLst>
          </p:cNvPr>
          <p:cNvGrpSpPr/>
          <p:nvPr/>
        </p:nvGrpSpPr>
        <p:grpSpPr>
          <a:xfrm>
            <a:off x="5860604" y="1256023"/>
            <a:ext cx="392906" cy="538322"/>
            <a:chOff x="5720628" y="1991582"/>
            <a:chExt cx="392906" cy="538322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65E9EFF-1361-6C4B-A578-9931A723E5EC}"/>
                </a:ext>
              </a:extLst>
            </p:cNvPr>
            <p:cNvSpPr/>
            <p:nvPr/>
          </p:nvSpPr>
          <p:spPr>
            <a:xfrm>
              <a:off x="5720628" y="1991582"/>
              <a:ext cx="392906" cy="392906"/>
            </a:xfrm>
            <a:prstGeom prst="rect">
              <a:avLst/>
            </a:prstGeom>
            <a:gradFill>
              <a:gsLst>
                <a:gs pos="0">
                  <a:srgbClr val="6076BA"/>
                </a:gs>
                <a:gs pos="100000">
                  <a:srgbClr val="AA98C3"/>
                </a:gs>
              </a:gsLst>
              <a:lin ang="2700000" scaled="0"/>
            </a:gra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dirty="0" err="1"/>
                <a:t>MARKER_ARCH_RATING</a:t>
              </a:r>
              <a:endParaRPr lang="en-US" sz="1600" b="1" dirty="0"/>
            </a:p>
          </p:txBody>
        </p:sp>
        <p:sp>
          <p:nvSpPr>
            <p:cNvPr id="101" name="Pentagon 100">
              <a:extLst>
                <a:ext uri="{FF2B5EF4-FFF2-40B4-BE49-F238E27FC236}">
                  <a16:creationId xmlns:a16="http://schemas.microsoft.com/office/drawing/2014/main" id="{69444AF9-F134-CB44-B4A1-AD9EA6C48B83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rgbClr val="A396C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D5C319F-00F9-D84E-9758-0206A067742F}"/>
              </a:ext>
            </a:extLst>
          </p:cNvPr>
          <p:cNvGrpSpPr/>
          <p:nvPr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7A71700-E7F8-F045-988D-31CE9EE100F4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952E0C5-7D84-894C-9033-F1BE52A32BA6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6719CF2-01EC-8046-823F-BB3A6315099E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063D054-D822-7C4A-AE2D-EF657B0A353A}"/>
              </a:ext>
            </a:extLst>
          </p:cNvPr>
          <p:cNvSpPr txBox="1"/>
          <p:nvPr/>
        </p:nvSpPr>
        <p:spPr>
          <a:xfrm>
            <a:off x="10647927" y="863629"/>
            <a:ext cx="1353769" cy="53918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ARCH_DATE_DAY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ARCH_DATE_MONTH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rgbClr val="B3BECD"/>
                </a:solidFill>
              </a:rPr>
              <a:t>ARCH_DATE_YEAR</a:t>
            </a:r>
            <a:endParaRPr lang="en-US" sz="1200" dirty="0">
              <a:solidFill>
                <a:srgbClr val="B3BECD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3AA5BC7-B715-604A-9B9D-83B2DC4945D4}"/>
              </a:ext>
            </a:extLst>
          </p:cNvPr>
          <p:cNvSpPr txBox="1"/>
          <p:nvPr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graphicFrame>
        <p:nvGraphicFramePr>
          <p:cNvPr id="14" name="Group 52">
            <a:extLst>
              <a:ext uri="{FF2B5EF4-FFF2-40B4-BE49-F238E27FC236}">
                <a16:creationId xmlns:a16="http://schemas.microsoft.com/office/drawing/2014/main" id="{48544E3C-8AC7-A154-122B-7281D42AE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46694"/>
              </p:ext>
            </p:extLst>
          </p:nvPr>
        </p:nvGraphicFramePr>
        <p:xfrm>
          <a:off x="8124539" y="3092432"/>
          <a:ext cx="3589609" cy="24220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10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1502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504466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Component Cohesion</a:t>
                      </a:r>
                      <a:endParaRPr kumimoji="0" lang="en-US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963878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Technology Prevalence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STARS_TECHNOLOGY_PREVALENCE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ARCH_RATING_TECHNOLOGY_PREVALENCE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217488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GB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+mn-cs"/>
                        </a:rPr>
                        <a:t>Knowledge 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053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674231"/>
                  </a:ext>
                </a:extLst>
              </a:tr>
            </a:tbl>
          </a:graphicData>
        </a:graphic>
      </p:graphicFrame>
      <p:sp>
        <p:nvSpPr>
          <p:cNvPr id="3" name="Hexagon 2">
            <a:extLst>
              <a:ext uri="{FF2B5EF4-FFF2-40B4-BE49-F238E27FC236}">
                <a16:creationId xmlns:a16="http://schemas.microsoft.com/office/drawing/2014/main" id="{D5CD9305-CCE9-EA52-C836-9AE14A1102F2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Knowledge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204D0A0-23BA-8D4D-D1F0-AD503F0745FC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BB2CEEEE-E9A9-1416-5AAD-D972DDBE5A93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dirty="0" err="1">
                <a:solidFill>
                  <a:srgbClr val="1E354B"/>
                </a:solidFill>
              </a:rPr>
              <a:t>COLOR_ARCH_RATING_STRUCTURE</a:t>
            </a:r>
            <a:r>
              <a:rPr lang="en-US" sz="1200" dirty="0">
                <a:solidFill>
                  <a:srgbClr val="1E354B"/>
                </a:solidFill>
              </a:rPr>
              <a:t> </a:t>
            </a:r>
            <a:r>
              <a:rPr lang="en-US" sz="1200" dirty="0">
                <a:solidFill>
                  <a:srgbClr val="1E354B"/>
                </a:solidFill>
                <a:latin typeface="Calibri" panose="020F0502020204030204" pitchFamily="34" charset="0"/>
              </a:rPr>
              <a:t>★</a:t>
            </a:r>
            <a:endParaRPr lang="en-US" sz="1050" dirty="0">
              <a:solidFill>
                <a:srgbClr val="1E354B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28EB117-3C52-28E2-1D2F-E7E5DFD59278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Evolution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0235E037-9510-428B-E797-FFDB9B2A8BDD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Data Access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44A085BF-41DC-A529-9DF1-2914BA7DD84E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Technology Stack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41BB-98C2-A0F0-E38F-BD2708718FCB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ARCH_WORST_METRIC_REMARK</a:t>
            </a:r>
            <a:endParaRPr lang="en-US" sz="1600" dirty="0">
              <a:solidFill>
                <a:schemeClr val="accent1"/>
              </a:solidFill>
              <a:latin typeface="Calibri" panose="020F0502020204030204"/>
            </a:endParaRPr>
          </a:p>
          <a:p>
            <a:br>
              <a:rPr lang="en-US" sz="1600" dirty="0">
                <a:solidFill>
                  <a:schemeClr val="accent1"/>
                </a:solidFill>
                <a:latin typeface="Calibri" panose="020F0502020204030204"/>
              </a:rPr>
            </a:br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ARCH_BEST_METRIC_REMARK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9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NUMBER">
            <a:extLst>
              <a:ext uri="{FF2B5EF4-FFF2-40B4-BE49-F238E27FC236}">
                <a16:creationId xmlns:a16="http://schemas.microsoft.com/office/drawing/2014/main" id="{7E702EAD-0EDF-F14B-BCF1-3374C4897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EB811218-1F4C-A74F-B046-57C38BEBF2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 err="1"/>
              <a:t>Key</a:t>
            </a:r>
            <a:r>
              <a:rPr lang="da-DK" dirty="0"/>
              <a:t>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68" name="TITLE">
            <a:extLst>
              <a:ext uri="{FF2B5EF4-FFF2-40B4-BE49-F238E27FC236}">
                <a16:creationId xmlns:a16="http://schemas.microsoft.com/office/drawing/2014/main" id="{819D60A3-E539-D240-8F7B-2E334005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OSH_TOTAL_VULN</a:t>
            </a:r>
            <a:r>
              <a:rPr lang="en-US" dirty="0"/>
              <a:t> vulnerable 3</a:t>
            </a:r>
            <a:r>
              <a:rPr lang="en-US" baseline="30000" dirty="0"/>
              <a:t>rd</a:t>
            </a:r>
            <a:r>
              <a:rPr lang="en-US" dirty="0"/>
              <a:t> party open-source dependencies were identified</a:t>
            </a:r>
          </a:p>
        </p:txBody>
      </p:sp>
      <p:sp>
        <p:nvSpPr>
          <p:cNvPr id="70" name="CONTENT">
            <a:extLst>
              <a:ext uri="{FF2B5EF4-FFF2-40B4-BE49-F238E27FC236}">
                <a16:creationId xmlns:a16="http://schemas.microsoft.com/office/drawing/2014/main" id="{35382002-BD0E-6D41-9C6F-BAEA966CEA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OSH_VULN_SUMMARY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OSH_LEGAL_SUMMARY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OSH_FRESHNESS_SUMMARY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OSH_MANAGEMENT_SUMMARY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1" name="TOTAL_DEPS">
            <a:extLst>
              <a:ext uri="{FF2B5EF4-FFF2-40B4-BE49-F238E27FC236}">
                <a16:creationId xmlns:a16="http://schemas.microsoft.com/office/drawing/2014/main" id="{8FE61D71-5271-124A-B53B-13F22C55A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OSH_TOTAL_DEPS</a:t>
            </a:r>
            <a:endParaRPr lang="en-US" dirty="0"/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9D7B5685-CC33-754B-82BD-27D4B80A0CE2}"/>
              </a:ext>
            </a:extLst>
          </p:cNvPr>
          <p:cNvSpPr txBox="1"/>
          <p:nvPr/>
        </p:nvSpPr>
        <p:spPr>
          <a:xfrm>
            <a:off x="456412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SNAPSHOT DATE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FCD4EA4-8E29-274C-9606-88147EEF45EE}"/>
              </a:ext>
            </a:extLst>
          </p:cNvPr>
          <p:cNvGrpSpPr/>
          <p:nvPr/>
        </p:nvGrpSpPr>
        <p:grpSpPr>
          <a:xfrm>
            <a:off x="5354172" y="806776"/>
            <a:ext cx="594110" cy="850933"/>
            <a:chOff x="10569980" y="810077"/>
            <a:chExt cx="594110" cy="850933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09A7ED2-A2F9-034C-B120-790832D15299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E632EFC-37E4-9B4A-B654-C53AB5D4C9C4}"/>
                </a:ext>
              </a:extLst>
            </p:cNvPr>
            <p:cNvSpPr/>
            <p:nvPr/>
          </p:nvSpPr>
          <p:spPr>
            <a:xfrm>
              <a:off x="10569980" y="813438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1E1648D-EC62-F54D-A2A0-57CEE34B1C8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bg1"/>
                </a:gs>
                <a:gs pos="55000">
                  <a:schemeClr val="bg2"/>
                </a:gs>
                <a:gs pos="0">
                  <a:schemeClr val="tx1">
                    <a:lumMod val="20000"/>
                    <a:lumOff val="80000"/>
                  </a:schemeClr>
                </a:gs>
                <a:gs pos="13000">
                  <a:schemeClr val="bg1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62" name="DATE_BOX">
            <a:extLst>
              <a:ext uri="{FF2B5EF4-FFF2-40B4-BE49-F238E27FC236}">
                <a16:creationId xmlns:a16="http://schemas.microsoft.com/office/drawing/2014/main" id="{99EAEF4D-487F-7E40-988B-DD1B4BDB1B42}"/>
              </a:ext>
            </a:extLst>
          </p:cNvPr>
          <p:cNvSpPr txBox="1"/>
          <p:nvPr/>
        </p:nvSpPr>
        <p:spPr>
          <a:xfrm>
            <a:off x="5037678" y="863629"/>
            <a:ext cx="1269963" cy="5392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OSH_DATE_DAY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OSH_DATE_MONTH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chemeClr val="tx1">
                    <a:alpha val="60000"/>
                  </a:schemeClr>
                </a:solidFill>
              </a:rPr>
              <a:t>OSH_DATE_YEAR</a:t>
            </a:r>
            <a:endParaRPr lang="en-US" sz="1200" dirty="0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6" name="CHART_1">
            <a:extLst>
              <a:ext uri="{FF2B5EF4-FFF2-40B4-BE49-F238E27FC236}">
                <a16:creationId xmlns:a16="http://schemas.microsoft.com/office/drawing/2014/main" id="{C04CE8AB-B4BC-90F2-0ABA-664197808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6656831"/>
              </p:ext>
            </p:extLst>
          </p:nvPr>
        </p:nvGraphicFramePr>
        <p:xfrm>
          <a:off x="2366249" y="2825980"/>
          <a:ext cx="3240000" cy="1475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_2">
            <a:extLst>
              <a:ext uri="{FF2B5EF4-FFF2-40B4-BE49-F238E27FC236}">
                <a16:creationId xmlns:a16="http://schemas.microsoft.com/office/drawing/2014/main" id="{81D6CA2D-63F4-2ADE-B0B2-80AF25FA2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94388"/>
              </p:ext>
            </p:extLst>
          </p:nvPr>
        </p:nvGraphicFramePr>
        <p:xfrm>
          <a:off x="2365814" y="402113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D0A0AD-8EC9-4B45-9E7B-B0715AA85681}"/>
              </a:ext>
            </a:extLst>
          </p:cNvPr>
          <p:cNvSpPr txBox="1"/>
          <p:nvPr/>
        </p:nvSpPr>
        <p:spPr>
          <a:xfrm>
            <a:off x="11068163" y="-374999"/>
            <a:ext cx="1104939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OSH_SLIDE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52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rates </a:t>
            </a:r>
            <a:r>
              <a:rPr lang="en-US" err="1"/>
              <a:t>OSH</a:t>
            </a:r>
            <a:r>
              <a:rPr lang="en-US"/>
              <a:t>_RELATIVE </a:t>
            </a:r>
            <a:r>
              <a:rPr lang="en-US" dirty="0"/>
              <a:t>in Open-Source health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3FAA-8831-A561-22BE-0BD6A7F10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86256E-1079-FD76-4125-F912312BA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525" y="2955487"/>
            <a:ext cx="7135680" cy="330498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OSH_VULN_SUMMARY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OSH_LEGAL_SUMMARY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OSH_FRESHNESS_SUMMARY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OSH_MANAGEMENT_SUMMARY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OSH_DATE_DAY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OSH_DATE_YEAR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8" name="Text Placeholder 228">
            <a:extLst>
              <a:ext uri="{FF2B5EF4-FFF2-40B4-BE49-F238E27FC236}">
                <a16:creationId xmlns:a16="http://schemas.microsoft.com/office/drawing/2014/main" id="{EA58BDC9-A65D-1EF9-C06F-B133B23341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23595" y="914509"/>
            <a:ext cx="1211870" cy="257763"/>
          </a:xfrm>
        </p:spPr>
        <p:txBody>
          <a:bodyPr/>
          <a:lstStyle/>
          <a:p>
            <a:r>
              <a:rPr lang="en-NL"/>
              <a:t>Open source health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9D8E7-562C-3F83-EDA5-551D478BD8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OSH_DATE_MONTH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8717E-20F8-B094-F836-3F06B295F0CF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2849B8-61B3-C046-18A7-A21F353E4A0E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MARKER_OSH_RATING</a:t>
              </a:r>
              <a:endParaRPr lang="en-US" sz="1400" b="1" dirty="0"/>
            </a:p>
          </p:txBody>
        </p:sp>
        <p:sp>
          <p:nvSpPr>
            <p:cNvPr id="7" name="Pentagon 6">
              <a:extLst>
                <a:ext uri="{FF2B5EF4-FFF2-40B4-BE49-F238E27FC236}">
                  <a16:creationId xmlns:a16="http://schemas.microsoft.com/office/drawing/2014/main" id="{3E78CEEB-4204-7EE6-1D31-1B8DC2596A01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Group 52">
            <a:extLst>
              <a:ext uri="{FF2B5EF4-FFF2-40B4-BE49-F238E27FC236}">
                <a16:creationId xmlns:a16="http://schemas.microsoft.com/office/drawing/2014/main" id="{9BEC8872-3FB6-1910-ED65-16029E5B2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67665"/>
              </p:ext>
            </p:extLst>
          </p:nvPr>
        </p:nvGraphicFramePr>
        <p:xfrm>
          <a:off x="7984631" y="3243717"/>
          <a:ext cx="3755424" cy="5526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37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F23F-0AD1-0347-BF7F-1B20660C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50B659-F724-1B47-9AC0-0C9C91F9FE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B116C-E601-C24A-9C7F-0F52952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917F-83E5-5E45-B28C-D0C1B7814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1030-EE41-F840-9218-1CBC03600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">
            <a:extLst>
              <a:ext uri="{FF2B5EF4-FFF2-40B4-BE49-F238E27FC236}">
                <a16:creationId xmlns:a16="http://schemas.microsoft.com/office/drawing/2014/main" id="{6D18B547-BA3F-1046-9F1B-A8CA602DA83E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00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88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0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7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7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3" cy="4789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08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76692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0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61DE-516A-2C47-C290-CC53EE2E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25075-AF88-4ABD-0816-000FE85C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A0A77-753D-20DB-3D53-A7D106A78F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ENTANGLEMENT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2569B-8BFD-D308-A55E-04765D4E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component entanglement related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D554A-888F-C192-ED2E-3071DD750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ENTANGLEMENT">
            <a:extLst>
              <a:ext uri="{FF2B5EF4-FFF2-40B4-BE49-F238E27FC236}">
                <a16:creationId xmlns:a16="http://schemas.microsoft.com/office/drawing/2014/main" id="{9838512D-A010-DDD6-1567-37B565CF5809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51494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966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53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Weight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27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59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75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53642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2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D80B1-1DD7-236F-9B91-B3FA651A2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392A5-169E-CF65-0C41-C1C81B8D0A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F5C235-EE43-F072-CFE2-8B3B48BA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placeholders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FCCB3C-AEF5-844E-6965-1CDA93673B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MAINT_DATE_MONTH_FULL</a:t>
            </a:r>
            <a:endParaRPr lang="nl-NL" dirty="0"/>
          </a:p>
          <a:p>
            <a:pPr marL="0" indent="0">
              <a:buNone/>
            </a:pPr>
            <a:r>
              <a:rPr lang="nl-NL"/>
              <a:t>ARCH_</a:t>
            </a:r>
            <a:r>
              <a:rPr lang="nl-NL" dirty="0" err="1"/>
              <a:t>DATE_MONTH_FULL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207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22532</TotalTime>
  <Words>1387</Words>
  <Application>Microsoft Macintosh PowerPoint</Application>
  <PresentationFormat>Widescreen</PresentationFormat>
  <Paragraphs>351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 Bold</vt:lpstr>
      <vt:lpstr>Calibri Regular</vt:lpstr>
      <vt:lpstr>TheSans B5 Plain</vt:lpstr>
      <vt:lpstr>TheSansMono M5</vt:lpstr>
      <vt:lpstr>Arial</vt:lpstr>
      <vt:lpstr>Calibri</vt:lpstr>
      <vt:lpstr>Calibri Light</vt:lpstr>
      <vt:lpstr>Wingdings</vt:lpstr>
      <vt:lpstr>Office Theme</vt:lpstr>
      <vt:lpstr>PowerPoint Presentation</vt:lpstr>
      <vt:lpstr>SYSTEM_NAME technical quality: management summary</vt:lpstr>
      <vt:lpstr>The system is VOLUME_RELATIVE in size and is built primarily in TECH_1_NAME</vt:lpstr>
      <vt:lpstr>SYSTEM_NAME has an TEST_CODE_RELATIVE test/code ratio</vt:lpstr>
      <vt:lpstr>SYSTEM_NAME is a MAINT_SIZE system of SYSTEM_PY PY which scores MAINT_RATING for maintainability </vt:lpstr>
      <vt:lpstr>SYSTEM_NAME scores MAINT_INDICATION for maintainability</vt:lpstr>
      <vt:lpstr>SYSTEM_NAME scores ARCH_AT_BELOW average (ARCH_RATING ★) for Architecture Quality</vt:lpstr>
      <vt:lpstr>OSH_TOTAL_VULN vulnerable 3rd party open-source dependencies were identified</vt:lpstr>
      <vt:lpstr>SYSTEM_NAME rates OSH_RELATIVE in Open-Source health</vt:lpstr>
      <vt:lpstr>An overview of the longest duplicates</vt:lpstr>
      <vt:lpstr>An overview of the longest units</vt:lpstr>
      <vt:lpstr>An overview of the most complex units</vt:lpstr>
      <vt:lpstr>An overview of the units with the largest interfaces</vt:lpstr>
      <vt:lpstr>An overview of the modules with the highest coupling</vt:lpstr>
      <vt:lpstr>An overview of component entanglement related findings</vt:lpstr>
      <vt:lpstr>An overview of high impact communicating files</vt:lpstr>
      <vt:lpstr>Other placeholders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Dennis Bijlsma</cp:lastModifiedBy>
  <cp:revision>124</cp:revision>
  <cp:lastPrinted>2020-07-02T15:41:27Z</cp:lastPrinted>
  <dcterms:created xsi:type="dcterms:W3CDTF">2024-01-03T15:04:34Z</dcterms:created>
  <dcterms:modified xsi:type="dcterms:W3CDTF">2025-12-10T08:52:13Z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