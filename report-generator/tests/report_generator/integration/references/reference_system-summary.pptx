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98" r:id="rId5"/>
  </p:sldMasterIdLst>
  <p:notesMasterIdLst>
    <p:notesMasterId r:id="rId24"/>
  </p:notesMasterIdLst>
  <p:handoutMasterIdLst>
    <p:handoutMasterId r:id="rId25"/>
  </p:handoutMasterIdLst>
  <p:sldIdLst>
    <p:sldId id="1973" r:id="rId6"/>
    <p:sldId id="2010" r:id="rId7"/>
    <p:sldId id="11394" r:id="rId8"/>
    <p:sldId id="2011" r:id="rId9"/>
    <p:sldId id="11482" r:id="rId10"/>
    <p:sldId id="11330" r:id="rId11"/>
    <p:sldId id="1988" r:id="rId12"/>
    <p:sldId id="2016" r:id="rId13"/>
    <p:sldId id="1824" r:id="rId14"/>
    <p:sldId id="11430" r:id="rId15"/>
    <p:sldId id="11483" r:id="rId16"/>
    <p:sldId id="11484" r:id="rId17"/>
    <p:sldId id="11481" r:id="rId18"/>
    <p:sldId id="11485" r:id="rId19"/>
    <p:sldId id="11486" r:id="rId20"/>
    <p:sldId id="2184" r:id="rId21"/>
    <p:sldId id="11487" r:id="rId22"/>
    <p:sldId id="11488"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ummary report" id="{018B3868-9EFD-2243-8203-AC471A43D12D}">
          <p14:sldIdLst>
            <p14:sldId id="1973"/>
            <p14:sldId id="2010"/>
            <p14:sldId id="11394"/>
            <p14:sldId id="2011"/>
          </p14:sldIdLst>
        </p14:section>
        <p14:section name="Cost Estimation Model" id="{27B7B39D-A53A-0E42-877A-CE78F793FEC4}">
          <p14:sldIdLst>
            <p14:sldId id="11482"/>
            <p14:sldId id="11330"/>
          </p14:sldIdLst>
        </p14:section>
        <p14:section name="Maintainability" id="{E6B43949-8A3C-084E-A0B9-37E6D4E40B4B}">
          <p14:sldIdLst>
            <p14:sldId id="1988"/>
            <p14:sldId id="2016"/>
            <p14:sldId id="1824"/>
            <p14:sldId id="11430"/>
            <p14:sldId id="11483"/>
            <p14:sldId id="11484"/>
          </p14:sldIdLst>
        </p14:section>
        <p14:section name="Architecture Quality" id="{BBE5D966-65D3-0247-846C-E3C2E3364341}">
          <p14:sldIdLst>
            <p14:sldId id="11481"/>
            <p14:sldId id="11485"/>
            <p14:sldId id="11486"/>
          </p14:sldIdLst>
        </p14:section>
        <p14:section name="Open Source Health" id="{304C7872-545A-A54B-B7F2-E55D10D25BD1}">
          <p14:sldIdLst>
            <p14:sldId id="2184"/>
            <p14:sldId id="11487"/>
            <p14:sldId id="11488"/>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436"/>
    <p:restoredTop sz="96763"/>
  </p:normalViewPr>
  <p:slideViewPr>
    <p:cSldViewPr snapToGrid="0" snapToObjects="1" showGuides="1">
      <p:cViewPr>
        <p:scale>
          <a:sx n="100" d="100"/>
          <a:sy n="100" d="100"/>
        </p:scale>
        <p:origin x="1936" y="77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viewProps" Target="viewProps.xml"/><Relationship Id="rId30" Type="http://schemas.microsoft.com/office/2018/10/relationships/authors" Target="author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0"/>
          <c:order val="0"/>
          <c:tx>
            <c:strRef>
              <c:f>Sheet1!$B$1</c:f>
              <c:strCache>
                <c:ptCount val="1"/>
                <c:pt idx="0">
                  <c:v>Series 1</c:v>
                </c:pt>
              </c:strCache>
            </c:strRef>
          </c:tx>
          <c:spPr>
            <a:ln w="19050" cap="rnd">
              <a:noFill/>
              <a:round/>
            </a:ln>
            <a:effectLst>
              <a:outerShdw blurRad="76200" sx="102000" sy="102000" algn="ctr" rotWithShape="0">
                <a:schemeClr val="accent3">
                  <a:alpha val="30000"/>
                </a:schemeClr>
              </a:outerShdw>
            </a:effectLst>
          </c:spPr>
          <c:marker>
            <c:symbol val="diamond"/>
            <c:size val="11"/>
            <c:spPr>
              <a:solidFill>
                <a:schemeClr val="accent4">
                  <a:alpha val="55000"/>
                </a:schemeClr>
              </a:solidFill>
              <a:ln w="38100">
                <a:gradFill>
                  <a:gsLst>
                    <a:gs pos="58000">
                      <a:schemeClr val="accent4"/>
                    </a:gs>
                    <a:gs pos="23000">
                      <a:srgbClr val="E98C36"/>
                    </a:gs>
                  </a:gsLst>
                  <a:lin ang="2700000" scaled="0"/>
                </a:gradFill>
              </a:ln>
              <a:effectLst>
                <a:outerShdw blurRad="76200" sx="102000" sy="102000" algn="ctr" rotWithShape="0">
                  <a:schemeClr val="accent3">
                    <a:alpha val="30000"/>
                  </a:schemeClr>
                </a:outerShdw>
              </a:effectLst>
            </c:spPr>
          </c:marker>
          <c:dLbls>
            <c:dLbl>
              <c:idx val="0"/>
              <c:tx>
                <c:rich>
                  <a:bodyPr/>
                  <a:lstStyle/>
                  <a:p>
                    <a:r>
                      <a:rPr lang="en-US"/>
                      <a:t>Integrationtest-kafka</a:t>
                    </a:r>
                  </a:p>
                </c:rich>
              </c:tx>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0-B86A-D14B-85E9-B8DEC18B60F7}"/>
                </c:ext>
              </c:extLst>
            </c:dLbl>
            <c:dLbl>
              <c:idx val="3"/>
              <c:layout>
                <c:manualLayout>
                  <c:x val="-2.3413399101154898E-2"/>
                  <c:y val="-4.5616973413873718E-2"/>
                </c:manualLayout>
              </c:layout>
              <c:dLblPos val="r"/>
              <c:showLegendKey val="0"/>
              <c:showVal val="1"/>
              <c:showCatName val="0"/>
              <c:showSerName val="0"/>
              <c:showPercent val="0"/>
              <c:showBubbleSize val="0"/>
              <c:separator>; </c:separator>
              <c:extLst>
                <c:ext xmlns:c15="http://schemas.microsoft.com/office/drawing/2012/chart" uri="{CE6537A1-D6FC-4f65-9D91-7224C49458BB}">
                  <c15:showDataLabelsRange val="1"/>
                </c:ext>
                <c:ext xmlns:c16="http://schemas.microsoft.com/office/drawing/2014/chart" uri="{C3380CC4-5D6E-409C-BE32-E72D297353CC}">
                  <c16:uniqueId val="{00000002-B86A-D14B-85E9-B8DEC18B60F7}"/>
                </c:ext>
              </c:extLst>
            </c:dLbl>
            <c:numFmt formatCode="#,##0.0" sourceLinked="0"/>
            <c:spPr>
              <a:gradFill>
                <a:gsLst>
                  <a:gs pos="36000">
                    <a:schemeClr val="accent4">
                      <a:alpha val="90000"/>
                    </a:schemeClr>
                  </a:gs>
                  <a:gs pos="15000">
                    <a:srgbClr val="E98C36"/>
                  </a:gs>
                </a:gsLst>
                <a:lin ang="2700000" scaled="0"/>
              </a:gradFill>
              <a:ln>
                <a:noFill/>
              </a:ln>
              <a:effectLst>
                <a:outerShdw blurRad="187732" sx="102000" sy="102000" algn="ctr" rotWithShape="0">
                  <a:prstClr val="black">
                    <a:alpha val="19735"/>
                  </a:prstClr>
                </a:outerShdw>
              </a:effectLst>
            </c:spPr>
            <c:txPr>
              <a:bodyPr rot="0" spcFirstLastPara="1" vertOverflow="clip" horzOverflow="clip" vert="horz" wrap="none" lIns="36576" tIns="0" rIns="36576" bIns="0" anchor="ctr" anchorCtr="1">
                <a:spAutoFit/>
              </a:bodyPr>
              <a:lstStyle/>
              <a:p>
                <a:pPr>
                  <a:defRPr sz="1197" b="1" i="0" u="none" strike="noStrike" kern="1200" baseline="0">
                    <a:solidFill>
                      <a:schemeClr val="tx1"/>
                    </a:solidFill>
                    <a:latin typeface="+mn-lt"/>
                    <a:ea typeface="+mn-ea"/>
                    <a:cs typeface="+mn-cs"/>
                  </a:defRPr>
                </a:pPr>
                <a:endParaRPr lang="en-NL"/>
              </a:p>
            </c:txPr>
            <c:dLblPos val="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oundRect">
                    <a:avLst/>
                  </a:prstGeom>
                  <a:noFill/>
                  <a:ln>
                    <a:noFill/>
                  </a:ln>
                </c15:spPr>
                <c15:showDataLabelsRange val="1"/>
                <c15:showLeaderLines val="0"/>
              </c:ext>
            </c:extLst>
          </c:dLbls>
          <c:xVal>
            <c:numRef>
              <c:f>Sheet1!$A$2:$A$2</c:f>
              <c:numCache>
                <c:formatCode>General</c:formatCode>
                <c:ptCount val="1"/>
                <c:pt idx="0">
                  <c:v>43</c:v>
                </c:pt>
              </c:numCache>
            </c:numRef>
          </c:xVal>
          <c:yVal>
            <c:numRef>
              <c:f>Sheet1!$B$2:$B$2</c:f>
              <c:numCache>
                <c:formatCode>General</c:formatCode>
                <c:ptCount val="1"/>
                <c:pt idx="0">
                  <c:v>2.6396228517578364</c:v>
                </c:pt>
              </c:numCache>
            </c:numRef>
          </c:yVal>
          <c:smooth val="0"/>
          <c:extLst>
            <c:ext xmlns:c15="http://schemas.microsoft.com/office/drawing/2012/chart" uri="{02D57815-91ED-43cb-92C2-25804820EDAC}">
              <c15:datalabelsRange>
                <c15:f>Sheet1!$C$2:$C$2</c15:f>
                <c15:dlblRangeCache>
                  <c:ptCount val="1"/>
                  <c:pt idx="0">
                    <c:v>System 1</c:v>
                  </c:pt>
                </c15:dlblRangeCache>
              </c15:datalabelsRange>
            </c:ext>
            <c:ext xmlns:c16="http://schemas.microsoft.com/office/drawing/2014/chart" uri="{C3380CC4-5D6E-409C-BE32-E72D297353CC}">
              <c16:uniqueId val="{00000003-B86A-D14B-85E9-B8DEC18B60F7}"/>
            </c:ext>
          </c:extLst>
        </c:ser>
        <c:dLbls>
          <c:showLegendKey val="0"/>
          <c:showVal val="0"/>
          <c:showCatName val="0"/>
          <c:showSerName val="0"/>
          <c:showPercent val="0"/>
          <c:showBubbleSize val="0"/>
        </c:dLbls>
        <c:axId val="1649584720"/>
        <c:axId val="1649586368"/>
      </c:scatterChart>
      <c:valAx>
        <c:axId val="1649584720"/>
        <c:scaling>
          <c:logBase val="10"/>
          <c:orientation val="minMax"/>
          <c:max val="10000"/>
          <c:min val="0.1"/>
        </c:scaling>
        <c:delete val="0"/>
        <c:axPos val="b"/>
        <c:majorGridlines>
          <c:spPr>
            <a:ln w="9525" cap="flat" cmpd="sng" algn="ctr">
              <a:noFill/>
              <a:round/>
            </a:ln>
            <a:effectLst/>
          </c:spPr>
        </c:majorGridlines>
        <c:numFmt formatCode="0" sourceLinked="0"/>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1" i="0" u="none" strike="noStrike" kern="1200" baseline="0">
                <a:solidFill>
                  <a:schemeClr val="tx2">
                    <a:lumMod val="25000"/>
                    <a:lumOff val="75000"/>
                  </a:schemeClr>
                </a:solidFill>
                <a:latin typeface="+mn-lt"/>
                <a:ea typeface="+mn-ea"/>
                <a:cs typeface="+mn-cs"/>
              </a:defRPr>
            </a:pPr>
            <a:endParaRPr lang="en-NL"/>
          </a:p>
        </c:txPr>
        <c:crossAx val="1649586368"/>
        <c:crosses val="autoZero"/>
        <c:crossBetween val="midCat"/>
      </c:valAx>
      <c:valAx>
        <c:axId val="1649586368"/>
        <c:scaling>
          <c:orientation val="minMax"/>
          <c:max val="5.5"/>
          <c:min val="0.5"/>
        </c:scaling>
        <c:delete val="0"/>
        <c:axPos val="l"/>
        <c:majorGridlines>
          <c:spPr>
            <a:ln w="9525" cap="flat" cmpd="sng" algn="ctr">
              <a:noFill/>
              <a:round/>
            </a:ln>
            <a:effectLst/>
          </c:spPr>
        </c:majorGridlines>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97" b="0" i="0" u="none" strike="noStrike" kern="1200" baseline="0">
                <a:solidFill>
                  <a:schemeClr val="tx2">
                    <a:lumMod val="25000"/>
                    <a:lumOff val="75000"/>
                  </a:schemeClr>
                </a:solidFill>
                <a:latin typeface="+mn-lt"/>
                <a:ea typeface="+mn-ea"/>
                <a:cs typeface="+mn-cs"/>
              </a:defRPr>
            </a:pPr>
            <a:endParaRPr lang="en-NL"/>
          </a:p>
        </c:txPr>
        <c:crossAx val="1649584720"/>
        <c:crossesAt val="0.1"/>
        <c:crossBetween val="midCat"/>
        <c:majorUnit val="1"/>
        <c:minorUnit val="0.5"/>
      </c:valAx>
      <c:spPr>
        <a:noFill/>
        <a:ln>
          <a:noFill/>
        </a:ln>
        <a:effectLst/>
      </c:spPr>
    </c:plotArea>
    <c:plotVisOnly val="0"/>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clustered"/>
        <c:varyColors val="0"/>
        <c:ser>
          <c:idx val="0"/>
          <c:order val="0"/>
          <c:tx>
            <c:strRef>
              <c:f>Sheet1!$B$1</c:f>
              <c:strCache>
                <c:ptCount val="1"/>
                <c:pt idx="0">
                  <c:v>Volume in Person Months</c:v>
                </c:pt>
              </c:strCache>
            </c:strRef>
          </c:tx>
          <c:spPr>
            <a:solidFill>
              <a:schemeClr val="accent2"/>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chemeClr val="tx2"/>
              </a:solidFill>
              <a:ln w="19050">
                <a:noFill/>
              </a:ln>
              <a:effectLst>
                <a:outerShdw blurRad="241300" dist="38100" dir="2700000" algn="tl" rotWithShape="0">
                  <a:prstClr val="black">
                    <a:alpha val="15000"/>
                  </a:prstClr>
                </a:outerShdw>
              </a:effectLst>
            </c:spPr>
            <c:extLst>
              <c:ext xmlns:c16="http://schemas.microsoft.com/office/drawing/2014/chart" uri="{C3380CC4-5D6E-409C-BE32-E72D297353CC}">
                <c16:uniqueId val="{00000001-CB6A-254C-B03A-9EF9758E2292}"/>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tx2"/>
                    </a:solidFill>
                    <a:latin typeface="+mn-lt"/>
                    <a:ea typeface="+mn-ea"/>
                    <a:cs typeface="+mn-cs"/>
                  </a:defRPr>
                </a:pPr>
                <a:endParaRPr lang="en-NL"/>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solidFill>
                      <a:round/>
                    </a:ln>
                    <a:effectLst/>
                  </c:spPr>
                </c15:leaderLines>
              </c:ext>
            </c:extLst>
          </c:dLbls>
          <c:cat>
            <c:strRef>
              <c:f>Sheet1!$A$2:$A$3</c:f>
              <c:strCache>
                <c:ptCount val="2"/>
                <c:pt idx="0">
                  <c:v>Java</c:v>
                </c:pt>
                <c:pt idx="1">
                  <c:v>Python</c:v>
                </c:pt>
              </c:strCache>
            </c:strRef>
          </c:cat>
          <c:val>
            <c:numRef>
              <c:f>Sheet1!$B$2:$B$3</c:f>
              <c:numCache>
                <c:formatCode>General</c:formatCode>
                <c:ptCount val="2"/>
                <c:pt idx="0">
                  <c:v>0.99728394341520499</c:v>
                </c:pt>
                <c:pt idx="1">
                  <c:v>2.7160565847949751E-3</c:v>
                </c:pt>
              </c:numCache>
            </c:numRef>
          </c:val>
          <c:extLst>
            <c:ext xmlns:c16="http://schemas.microsoft.com/office/drawing/2014/chart" uri="{C3380CC4-5D6E-409C-BE32-E72D297353CC}">
              <c16:uniqueId val="{00000002-CB6A-254C-B03A-9EF9758E2292}"/>
            </c:ext>
          </c:extLst>
        </c:ser>
        <c:dLbls>
          <c:showLegendKey val="0"/>
          <c:showVal val="0"/>
          <c:showCatName val="0"/>
          <c:showSerName val="0"/>
          <c:showPercent val="0"/>
          <c:showBubbleSize val="0"/>
        </c:dLbls>
        <c:gapWidth val="2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1"/>
        <c:axPos val="l"/>
        <c:numFmt formatCode="General" sourceLinked="1"/>
        <c:majorTickMark val="out"/>
        <c:minorTickMark val="none"/>
        <c:tickLblPos val="nextTo"/>
        <c:crossAx val="47638752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Volume in Person Months</c:v>
                </c:pt>
              </c:strCache>
            </c:strRef>
          </c:tx>
          <c:dPt>
            <c:idx val="0"/>
            <c:bubble3D val="0"/>
            <c:spPr>
              <a:solidFill>
                <a:srgbClr val="3C8842"/>
              </a:solidFill>
              <a:ln w="19050">
                <a:solidFill>
                  <a:schemeClr val="lt1"/>
                </a:solidFill>
              </a:ln>
              <a:effectLst/>
            </c:spPr>
            <c:extLst>
              <c:ext xmlns:c16="http://schemas.microsoft.com/office/drawing/2014/chart" uri="{C3380CC4-5D6E-409C-BE32-E72D297353CC}">
                <c16:uniqueId val="{00000001-77F4-8A4B-8FCE-EB828520119B}"/>
              </c:ext>
            </c:extLst>
          </c:dPt>
          <c:dPt>
            <c:idx val="1"/>
            <c:bubble3D val="0"/>
            <c:spPr>
              <a:solidFill>
                <a:srgbClr val="3C8842"/>
              </a:solidFill>
              <a:ln w="19050">
                <a:solidFill>
                  <a:schemeClr val="lt1"/>
                </a:solidFill>
              </a:ln>
              <a:effectLst/>
            </c:spPr>
            <c:extLst>
              <c:ext xmlns:c16="http://schemas.microsoft.com/office/drawing/2014/chart" uri="{C3380CC4-5D6E-409C-BE32-E72D297353CC}">
                <c16:uniqueId val="{00000003-77F4-8A4B-8FCE-EB828520119B}"/>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77F4-8A4B-8FCE-EB828520119B}"/>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77F4-8A4B-8FCE-EB828520119B}"/>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bg1"/>
                    </a:solidFill>
                    <a:latin typeface="+mn-lt"/>
                    <a:ea typeface="+mn-ea"/>
                    <a:cs typeface="+mn-cs"/>
                  </a:defRPr>
                </a:pPr>
                <a:endParaRPr lang="en-NL"/>
              </a:p>
            </c:txPr>
            <c:dLblPos val="ctr"/>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Sheet1!$A$2:$A$3</c:f>
              <c:strCache>
                <c:ptCount val="2"/>
                <c:pt idx="0">
                  <c:v>Java</c:v>
                </c:pt>
                <c:pt idx="1">
                  <c:v>Python</c:v>
                </c:pt>
              </c:strCache>
            </c:strRef>
          </c:cat>
          <c:val>
            <c:numRef>
              <c:f>Sheet1!$B$2:$B$3</c:f>
              <c:numCache>
                <c:formatCode>General</c:formatCode>
                <c:ptCount val="2"/>
                <c:pt idx="0">
                  <c:v>0.99728394341520499</c:v>
                </c:pt>
                <c:pt idx="1">
                  <c:v>2.7160565847949751E-3</c:v>
                </c:pt>
              </c:numCache>
            </c:numRef>
          </c:val>
          <c:extLst>
            <c:ext xmlns:c16="http://schemas.microsoft.com/office/drawing/2014/chart" uri="{C3380CC4-5D6E-409C-BE32-E72D297353CC}">
              <c16:uniqueId val="{00000008-77F4-8A4B-8FCE-EB828520119B}"/>
            </c:ext>
          </c:extLst>
        </c:ser>
        <c:dLbls>
          <c:showLegendKey val="0"/>
          <c:showVal val="0"/>
          <c:showCatName val="0"/>
          <c:showSerName val="0"/>
          <c:showPercent val="0"/>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080532533357349E-2"/>
          <c:y val="9.4658855447728937E-2"/>
          <c:w val="0.87463248862865584"/>
          <c:h val="0.8106822891045421"/>
        </c:manualLayout>
      </c:layout>
      <c:barChart>
        <c:barDir val="bar"/>
        <c:grouping val="stacked"/>
        <c:varyColors val="0"/>
        <c:ser>
          <c:idx val="0"/>
          <c:order val="0"/>
          <c:tx>
            <c:strRef>
              <c:f>Sheet1!$B$1</c:f>
              <c:strCache>
                <c:ptCount val="1"/>
                <c:pt idx="0">
                  <c:v>Critical Risk</c:v>
                </c:pt>
              </c:strCache>
            </c:strRef>
          </c:tx>
          <c:spPr>
            <a:solidFill>
              <a:srgbClr val="910813"/>
            </a:solidFill>
            <a:ln>
              <a:noFill/>
            </a:ln>
            <a:effectLst/>
          </c:spPr>
          <c:invertIfNegative val="0"/>
          <c:cat>
            <c:strRef>
              <c:f>Sheet1!$A$2:$A$3</c:f>
              <c:strCache>
                <c:ptCount val="2"/>
                <c:pt idx="0">
                  <c:v>Vulnerability risk</c:v>
                </c:pt>
                <c:pt idx="1">
                  <c:v>Freshness risk</c:v>
                </c:pt>
              </c:strCache>
            </c:strRef>
          </c:cat>
          <c:val>
            <c:numRef>
              <c:f>Sheet1!$B$2:$B$3</c:f>
              <c:numCache>
                <c:formatCode>General</c:formatCode>
                <c:ptCount val="2"/>
                <c:pt idx="0">
                  <c:v>10</c:v>
                </c:pt>
                <c:pt idx="1">
                  <c:v>92</c:v>
                </c:pt>
              </c:numCache>
            </c:numRef>
          </c:val>
          <c:extLst>
            <c:ext xmlns:c16="http://schemas.microsoft.com/office/drawing/2014/chart" uri="{C3380CC4-5D6E-409C-BE32-E72D297353CC}">
              <c16:uniqueId val="{00000000-DAD1-4C45-9583-F7A397E38424}"/>
            </c:ext>
          </c:extLst>
        </c:ser>
        <c:ser>
          <c:idx val="1"/>
          <c:order val="1"/>
          <c:tx>
            <c:strRef>
              <c:f>Sheet1!$C$1</c:f>
              <c:strCache>
                <c:ptCount val="1"/>
                <c:pt idx="0">
                  <c:v>High Risk</c:v>
                </c:pt>
              </c:strCache>
            </c:strRef>
          </c:tx>
          <c:spPr>
            <a:solidFill>
              <a:srgbClr val="CF4731"/>
            </a:solidFill>
            <a:ln>
              <a:noFill/>
            </a:ln>
            <a:effectLst/>
          </c:spPr>
          <c:invertIfNegative val="0"/>
          <c:dPt>
            <c:idx val="2"/>
            <c:invertIfNegative val="0"/>
            <c:bubble3D val="0"/>
            <c:spPr>
              <a:solidFill>
                <a:srgbClr val="CF4731"/>
              </a:solidFill>
              <a:ln>
                <a:noFill/>
              </a:ln>
              <a:effectLst/>
            </c:spPr>
            <c:extLst>
              <c:ext xmlns:c16="http://schemas.microsoft.com/office/drawing/2014/chart" uri="{C3380CC4-5D6E-409C-BE32-E72D297353CC}">
                <c16:uniqueId val="{00000002-DAD1-4C45-9583-F7A397E38424}"/>
              </c:ext>
            </c:extLst>
          </c:dPt>
          <c:dPt>
            <c:idx val="3"/>
            <c:invertIfNegative val="0"/>
            <c:bubble3D val="0"/>
            <c:spPr>
              <a:solidFill>
                <a:srgbClr val="CF4731"/>
              </a:solidFill>
              <a:ln>
                <a:noFill/>
              </a:ln>
              <a:effectLst/>
            </c:spPr>
            <c:extLst>
              <c:ext xmlns:c16="http://schemas.microsoft.com/office/drawing/2014/chart" uri="{C3380CC4-5D6E-409C-BE32-E72D297353CC}">
                <c16:uniqueId val="{00000004-DAD1-4C45-9583-F7A397E38424}"/>
              </c:ext>
            </c:extLst>
          </c:dPt>
          <c:dPt>
            <c:idx val="4"/>
            <c:invertIfNegative val="0"/>
            <c:bubble3D val="0"/>
            <c:spPr>
              <a:solidFill>
                <a:srgbClr val="CF4731"/>
              </a:solidFill>
              <a:ln>
                <a:noFill/>
              </a:ln>
              <a:effectLst/>
            </c:spPr>
            <c:extLst>
              <c:ext xmlns:c16="http://schemas.microsoft.com/office/drawing/2014/chart" uri="{C3380CC4-5D6E-409C-BE32-E72D297353CC}">
                <c16:uniqueId val="{00000006-DAD1-4C45-9583-F7A397E38424}"/>
              </c:ext>
            </c:extLst>
          </c:dPt>
          <c:dPt>
            <c:idx val="5"/>
            <c:invertIfNegative val="0"/>
            <c:bubble3D val="0"/>
            <c:spPr>
              <a:solidFill>
                <a:srgbClr val="CF4731"/>
              </a:solidFill>
              <a:ln>
                <a:noFill/>
              </a:ln>
              <a:effectLst/>
            </c:spPr>
            <c:extLst>
              <c:ext xmlns:c16="http://schemas.microsoft.com/office/drawing/2014/chart" uri="{C3380CC4-5D6E-409C-BE32-E72D297353CC}">
                <c16:uniqueId val="{00000008-DAD1-4C45-9583-F7A397E38424}"/>
              </c:ext>
            </c:extLst>
          </c:dPt>
          <c:cat>
            <c:strRef>
              <c:f>Sheet1!$A$2:$A$3</c:f>
              <c:strCache>
                <c:ptCount val="2"/>
                <c:pt idx="0">
                  <c:v>Vulnerability risk</c:v>
                </c:pt>
                <c:pt idx="1">
                  <c:v>Freshness risk</c:v>
                </c:pt>
              </c:strCache>
            </c:strRef>
          </c:cat>
          <c:val>
            <c:numRef>
              <c:f>Sheet1!$C$2:$C$3</c:f>
              <c:numCache>
                <c:formatCode>General</c:formatCode>
                <c:ptCount val="2"/>
                <c:pt idx="0">
                  <c:v>6</c:v>
                </c:pt>
                <c:pt idx="1">
                  <c:v>21</c:v>
                </c:pt>
              </c:numCache>
            </c:numRef>
          </c:val>
          <c:extLst>
            <c:ext xmlns:c16="http://schemas.microsoft.com/office/drawing/2014/chart" uri="{C3380CC4-5D6E-409C-BE32-E72D297353CC}">
              <c16:uniqueId val="{00000009-DAD1-4C45-9583-F7A397E38424}"/>
            </c:ext>
          </c:extLst>
        </c:ser>
        <c:ser>
          <c:idx val="2"/>
          <c:order val="2"/>
          <c:tx>
            <c:strRef>
              <c:f>Sheet1!$D$1</c:f>
              <c:strCache>
                <c:ptCount val="1"/>
                <c:pt idx="0">
                  <c:v>Medium Risk</c:v>
                </c:pt>
              </c:strCache>
            </c:strRef>
          </c:tx>
          <c:spPr>
            <a:solidFill>
              <a:srgbClr val="E78E17"/>
            </a:solidFill>
            <a:ln>
              <a:noFill/>
            </a:ln>
            <a:effectLst/>
          </c:spPr>
          <c:invertIfNegative val="0"/>
          <c:dPt>
            <c:idx val="2"/>
            <c:invertIfNegative val="0"/>
            <c:bubble3D val="0"/>
            <c:spPr>
              <a:solidFill>
                <a:srgbClr val="E78E17"/>
              </a:solidFill>
              <a:ln>
                <a:noFill/>
              </a:ln>
              <a:effectLst/>
            </c:spPr>
            <c:extLst>
              <c:ext xmlns:c16="http://schemas.microsoft.com/office/drawing/2014/chart" uri="{C3380CC4-5D6E-409C-BE32-E72D297353CC}">
                <c16:uniqueId val="{0000000B-DAD1-4C45-9583-F7A397E38424}"/>
              </c:ext>
            </c:extLst>
          </c:dPt>
          <c:dPt>
            <c:idx val="5"/>
            <c:invertIfNegative val="0"/>
            <c:bubble3D val="0"/>
            <c:spPr>
              <a:solidFill>
                <a:srgbClr val="E78E17"/>
              </a:solidFill>
              <a:ln>
                <a:noFill/>
              </a:ln>
              <a:effectLst/>
            </c:spPr>
            <c:extLst>
              <c:ext xmlns:c16="http://schemas.microsoft.com/office/drawing/2014/chart" uri="{C3380CC4-5D6E-409C-BE32-E72D297353CC}">
                <c16:uniqueId val="{0000000D-DAD1-4C45-9583-F7A397E38424}"/>
              </c:ext>
            </c:extLst>
          </c:dPt>
          <c:cat>
            <c:strRef>
              <c:f>Sheet1!$A$2:$A$3</c:f>
              <c:strCache>
                <c:ptCount val="2"/>
                <c:pt idx="0">
                  <c:v>Vulnerability risk</c:v>
                </c:pt>
                <c:pt idx="1">
                  <c:v>Freshness risk</c:v>
                </c:pt>
              </c:strCache>
            </c:strRef>
          </c:cat>
          <c:val>
            <c:numRef>
              <c:f>Sheet1!$D$2:$D$3</c:f>
              <c:numCache>
                <c:formatCode>General</c:formatCode>
                <c:ptCount val="2"/>
                <c:pt idx="0">
                  <c:v>5</c:v>
                </c:pt>
                <c:pt idx="1">
                  <c:v>25</c:v>
                </c:pt>
              </c:numCache>
            </c:numRef>
          </c:val>
          <c:extLst>
            <c:ext xmlns:c16="http://schemas.microsoft.com/office/drawing/2014/chart" uri="{C3380CC4-5D6E-409C-BE32-E72D297353CC}">
              <c16:uniqueId val="{0000000E-DAD1-4C45-9583-F7A397E38424}"/>
            </c:ext>
          </c:extLst>
        </c:ser>
        <c:ser>
          <c:idx val="3"/>
          <c:order val="3"/>
          <c:tx>
            <c:strRef>
              <c:f>Sheet1!$E$1</c:f>
              <c:strCache>
                <c:ptCount val="1"/>
                <c:pt idx="0">
                  <c:v>Low Risk</c:v>
                </c:pt>
              </c:strCache>
            </c:strRef>
          </c:tx>
          <c:spPr>
            <a:solidFill>
              <a:srgbClr val="EBC937"/>
            </a:solidFill>
            <a:ln>
              <a:noFill/>
            </a:ln>
            <a:effectLst/>
          </c:spPr>
          <c:invertIfNegative val="0"/>
          <c:cat>
            <c:strRef>
              <c:f>Sheet1!$A$2:$A$3</c:f>
              <c:strCache>
                <c:ptCount val="2"/>
                <c:pt idx="0">
                  <c:v>Vulnerability risk</c:v>
                </c:pt>
                <c:pt idx="1">
                  <c:v>Freshness risk</c:v>
                </c:pt>
              </c:strCache>
            </c:strRef>
          </c:cat>
          <c:val>
            <c:numRef>
              <c:f>Sheet1!$E$2:$E$3</c:f>
              <c:numCache>
                <c:formatCode>General</c:formatCode>
                <c:ptCount val="2"/>
                <c:pt idx="0">
                  <c:v>5</c:v>
                </c:pt>
                <c:pt idx="1">
                  <c:v>2</c:v>
                </c:pt>
              </c:numCache>
            </c:numRef>
          </c:val>
          <c:extLst>
            <c:ext xmlns:c16="http://schemas.microsoft.com/office/drawing/2014/chart" uri="{C3380CC4-5D6E-409C-BE32-E72D297353CC}">
              <c16:uniqueId val="{0000000F-DAD1-4C45-9583-F7A397E38424}"/>
            </c:ext>
          </c:extLst>
        </c:ser>
        <c:dLbls>
          <c:showLegendKey val="0"/>
          <c:showVal val="0"/>
          <c:showCatName val="0"/>
          <c:showSerName val="0"/>
          <c:showPercent val="0"/>
          <c:showBubbleSize val="0"/>
        </c:dLbls>
        <c:gapWidth val="3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scaling>
        <c:delete val="1"/>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crossAx val="1358545104"/>
        <c:crosses val="max"/>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24475308641975E-2"/>
          <c:y val="5.5420651472336685E-2"/>
          <c:w val="0.87405833333333338"/>
          <c:h val="0.64701837089031744"/>
        </c:manualLayout>
      </c:layout>
      <c:barChart>
        <c:barDir val="bar"/>
        <c:grouping val="stacked"/>
        <c:varyColors val="0"/>
        <c:ser>
          <c:idx val="0"/>
          <c:order val="0"/>
          <c:tx>
            <c:strRef>
              <c:f>Sheet1!$B$1</c:f>
              <c:strCache>
                <c:ptCount val="1"/>
                <c:pt idx="0">
                  <c:v>Critical risk</c:v>
                </c:pt>
              </c:strCache>
            </c:strRef>
          </c:tx>
          <c:spPr>
            <a:solidFill>
              <a:srgbClr val="910813">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Sheet1!$B$2:$B$5</c:f>
              <c:numCache>
                <c:formatCode>General</c:formatCode>
                <c:ptCount val="4"/>
                <c:pt idx="0">
                  <c:v>1</c:v>
                </c:pt>
                <c:pt idx="1">
                  <c:v>2</c:v>
                </c:pt>
                <c:pt idx="2">
                  <c:v>3</c:v>
                </c:pt>
                <c:pt idx="3">
                  <c:v>1</c:v>
                </c:pt>
              </c:numCache>
            </c:numRef>
          </c:val>
          <c:extLst>
            <c:ext xmlns:c16="http://schemas.microsoft.com/office/drawing/2014/chart" uri="{C3380CC4-5D6E-409C-BE32-E72D297353CC}">
              <c16:uniqueId val="{00000000-CE17-EF47-AE5E-E9A0329BD14C}"/>
            </c:ext>
          </c:extLst>
        </c:ser>
        <c:ser>
          <c:idx val="1"/>
          <c:order val="1"/>
          <c:tx>
            <c:strRef>
              <c:f>Sheet1!$C$1</c:f>
              <c:strCache>
                <c:ptCount val="1"/>
                <c:pt idx="0">
                  <c:v>High risk</c:v>
                </c:pt>
              </c:strCache>
            </c:strRef>
          </c:tx>
          <c:spPr>
            <a:solidFill>
              <a:srgbClr val="CF4731">
                <a:alpha val="50000"/>
              </a:srgbClr>
            </a:solidFill>
            <a:ln>
              <a:noFill/>
            </a:ln>
            <a:effectLst/>
          </c:spPr>
          <c:invertIfNegative val="0"/>
          <c:dPt>
            <c:idx val="2"/>
            <c:invertIfNegative val="0"/>
            <c:bubble3D val="0"/>
            <c:spPr>
              <a:solidFill>
                <a:srgbClr val="CF4731">
                  <a:alpha val="50000"/>
                </a:srgbClr>
              </a:solidFill>
              <a:ln>
                <a:noFill/>
              </a:ln>
              <a:effectLst/>
            </c:spPr>
            <c:extLst>
              <c:ext xmlns:c16="http://schemas.microsoft.com/office/drawing/2014/chart" uri="{C3380CC4-5D6E-409C-BE32-E72D297353CC}">
                <c16:uniqueId val="{00000002-CE17-EF47-AE5E-E9A0329BD14C}"/>
              </c:ext>
            </c:extLst>
          </c:dPt>
          <c:dPt>
            <c:idx val="3"/>
            <c:invertIfNegative val="0"/>
            <c:bubble3D val="0"/>
            <c:spPr>
              <a:solidFill>
                <a:srgbClr val="CF4731">
                  <a:alpha val="50000"/>
                </a:srgbClr>
              </a:solidFill>
              <a:ln>
                <a:noFill/>
              </a:ln>
              <a:effectLst/>
            </c:spPr>
            <c:extLst>
              <c:ext xmlns:c16="http://schemas.microsoft.com/office/drawing/2014/chart" uri="{C3380CC4-5D6E-409C-BE32-E72D297353CC}">
                <c16:uniqueId val="{00000004-CE17-EF47-AE5E-E9A0329BD14C}"/>
              </c:ext>
            </c:extLst>
          </c:dPt>
          <c:dPt>
            <c:idx val="4"/>
            <c:invertIfNegative val="0"/>
            <c:bubble3D val="0"/>
            <c:spPr>
              <a:solidFill>
                <a:srgbClr val="CF4731">
                  <a:alpha val="50000"/>
                </a:srgbClr>
              </a:solidFill>
              <a:ln>
                <a:noFill/>
              </a:ln>
              <a:effectLst/>
            </c:spPr>
            <c:extLst>
              <c:ext xmlns:c16="http://schemas.microsoft.com/office/drawing/2014/chart" uri="{C3380CC4-5D6E-409C-BE32-E72D297353CC}">
                <c16:uniqueId val="{00000006-CE17-EF47-AE5E-E9A0329BD14C}"/>
              </c:ext>
            </c:extLst>
          </c:dPt>
          <c:dPt>
            <c:idx val="5"/>
            <c:invertIfNegative val="0"/>
            <c:bubble3D val="0"/>
            <c:spPr>
              <a:solidFill>
                <a:srgbClr val="CF4731">
                  <a:alpha val="50000"/>
                </a:srgbClr>
              </a:solidFill>
              <a:ln>
                <a:noFill/>
              </a:ln>
              <a:effectLst/>
            </c:spPr>
            <c:extLst>
              <c:ext xmlns:c16="http://schemas.microsoft.com/office/drawing/2014/chart" uri="{C3380CC4-5D6E-409C-BE32-E72D297353CC}">
                <c16:uniqueId val="{00000008-CE17-EF47-AE5E-E9A0329BD14C}"/>
              </c:ext>
            </c:extLst>
          </c:dPt>
          <c:cat>
            <c:strRef>
              <c:f>Sheet1!$A$2:$A$5</c:f>
              <c:strCache>
                <c:ptCount val="4"/>
                <c:pt idx="0">
                  <c:v>Freshness risk</c:v>
                </c:pt>
                <c:pt idx="1">
                  <c:v>Stability risk</c:v>
                </c:pt>
                <c:pt idx="2">
                  <c:v>Management risk</c:v>
                </c:pt>
                <c:pt idx="3">
                  <c:v>Activity risk</c:v>
                </c:pt>
              </c:strCache>
            </c:strRef>
          </c:cat>
          <c:val>
            <c:numRef>
              <c:f>Sheet1!$C$2:$C$5</c:f>
              <c:numCache>
                <c:formatCode>General</c:formatCode>
                <c:ptCount val="4"/>
                <c:pt idx="0">
                  <c:v>40</c:v>
                </c:pt>
                <c:pt idx="1">
                  <c:v>79</c:v>
                </c:pt>
                <c:pt idx="2">
                  <c:v>6</c:v>
                </c:pt>
                <c:pt idx="3">
                  <c:v>1</c:v>
                </c:pt>
              </c:numCache>
            </c:numRef>
          </c:val>
          <c:extLst>
            <c:ext xmlns:c16="http://schemas.microsoft.com/office/drawing/2014/chart" uri="{C3380CC4-5D6E-409C-BE32-E72D297353CC}">
              <c16:uniqueId val="{00000009-CE17-EF47-AE5E-E9A0329BD14C}"/>
            </c:ext>
          </c:extLst>
        </c:ser>
        <c:ser>
          <c:idx val="2"/>
          <c:order val="2"/>
          <c:tx>
            <c:strRef>
              <c:f>Sheet1!$D$1</c:f>
              <c:strCache>
                <c:ptCount val="1"/>
                <c:pt idx="0">
                  <c:v>Medium risk</c:v>
                </c:pt>
              </c:strCache>
            </c:strRef>
          </c:tx>
          <c:spPr>
            <a:solidFill>
              <a:srgbClr val="E78E17">
                <a:alpha val="50000"/>
              </a:srgbClr>
            </a:solidFill>
            <a:ln>
              <a:noFill/>
            </a:ln>
            <a:effectLst/>
          </c:spPr>
          <c:invertIfNegative val="0"/>
          <c:dPt>
            <c:idx val="2"/>
            <c:invertIfNegative val="0"/>
            <c:bubble3D val="0"/>
            <c:spPr>
              <a:solidFill>
                <a:srgbClr val="E78E17">
                  <a:alpha val="50000"/>
                </a:srgbClr>
              </a:solidFill>
              <a:ln>
                <a:noFill/>
              </a:ln>
              <a:effectLst/>
            </c:spPr>
            <c:extLst>
              <c:ext xmlns:c16="http://schemas.microsoft.com/office/drawing/2014/chart" uri="{C3380CC4-5D6E-409C-BE32-E72D297353CC}">
                <c16:uniqueId val="{0000000B-CE17-EF47-AE5E-E9A0329BD14C}"/>
              </c:ext>
            </c:extLst>
          </c:dPt>
          <c:dPt>
            <c:idx val="5"/>
            <c:invertIfNegative val="0"/>
            <c:bubble3D val="0"/>
            <c:spPr>
              <a:solidFill>
                <a:srgbClr val="E78E17">
                  <a:alpha val="50000"/>
                </a:srgbClr>
              </a:solidFill>
              <a:ln>
                <a:noFill/>
              </a:ln>
              <a:effectLst/>
            </c:spPr>
            <c:extLst>
              <c:ext xmlns:c16="http://schemas.microsoft.com/office/drawing/2014/chart" uri="{C3380CC4-5D6E-409C-BE32-E72D297353CC}">
                <c16:uniqueId val="{0000000D-CE17-EF47-AE5E-E9A0329BD14C}"/>
              </c:ext>
            </c:extLst>
          </c:dPt>
          <c:cat>
            <c:strRef>
              <c:f>Sheet1!$A$2:$A$5</c:f>
              <c:strCache>
                <c:ptCount val="4"/>
                <c:pt idx="0">
                  <c:v>Freshness risk</c:v>
                </c:pt>
                <c:pt idx="1">
                  <c:v>Stability risk</c:v>
                </c:pt>
                <c:pt idx="2">
                  <c:v>Management risk</c:v>
                </c:pt>
                <c:pt idx="3">
                  <c:v>Activity risk</c:v>
                </c:pt>
              </c:strCache>
            </c:strRef>
          </c:cat>
          <c:val>
            <c:numRef>
              <c:f>Sheet1!$D$2:$D$5</c:f>
              <c:numCache>
                <c:formatCode>General</c:formatCode>
                <c:ptCount val="4"/>
                <c:pt idx="0">
                  <c:v>18</c:v>
                </c:pt>
                <c:pt idx="1">
                  <c:v>0</c:v>
                </c:pt>
                <c:pt idx="2">
                  <c:v>0</c:v>
                </c:pt>
                <c:pt idx="3">
                  <c:v>21</c:v>
                </c:pt>
              </c:numCache>
            </c:numRef>
          </c:val>
          <c:extLst>
            <c:ext xmlns:c16="http://schemas.microsoft.com/office/drawing/2014/chart" uri="{C3380CC4-5D6E-409C-BE32-E72D297353CC}">
              <c16:uniqueId val="{0000000E-CE17-EF47-AE5E-E9A0329BD14C}"/>
            </c:ext>
          </c:extLst>
        </c:ser>
        <c:ser>
          <c:idx val="3"/>
          <c:order val="3"/>
          <c:tx>
            <c:strRef>
              <c:f>Sheet1!$E$1</c:f>
              <c:strCache>
                <c:ptCount val="1"/>
                <c:pt idx="0">
                  <c:v>Low risk</c:v>
                </c:pt>
              </c:strCache>
            </c:strRef>
          </c:tx>
          <c:spPr>
            <a:solidFill>
              <a:srgbClr val="EBC937">
                <a:alpha val="50000"/>
              </a:srgbClr>
            </a:solidFill>
            <a:ln>
              <a:noFill/>
            </a:ln>
            <a:effectLst/>
          </c:spPr>
          <c:invertIfNegative val="0"/>
          <c:cat>
            <c:strRef>
              <c:f>Sheet1!$A$2:$A$5</c:f>
              <c:strCache>
                <c:ptCount val="4"/>
                <c:pt idx="0">
                  <c:v>Freshness risk</c:v>
                </c:pt>
                <c:pt idx="1">
                  <c:v>Stability risk</c:v>
                </c:pt>
                <c:pt idx="2">
                  <c:v>Management risk</c:v>
                </c:pt>
                <c:pt idx="3">
                  <c:v>Activity risk</c:v>
                </c:pt>
              </c:strCache>
            </c:strRef>
          </c:cat>
          <c:val>
            <c:numRef>
              <c:f>Sheet1!$E$2:$E$5</c:f>
              <c:numCache>
                <c:formatCode>General</c:formatCode>
                <c:ptCount val="4"/>
                <c:pt idx="0">
                  <c:v>1</c:v>
                </c:pt>
                <c:pt idx="1">
                  <c:v>2</c:v>
                </c:pt>
                <c:pt idx="2">
                  <c:v>3</c:v>
                </c:pt>
                <c:pt idx="3">
                  <c:v>4</c:v>
                </c:pt>
              </c:numCache>
            </c:numRef>
          </c:val>
          <c:extLst>
            <c:ext xmlns:c16="http://schemas.microsoft.com/office/drawing/2014/chart" uri="{C3380CC4-5D6E-409C-BE32-E72D297353CC}">
              <c16:uniqueId val="{0000000F-CE17-EF47-AE5E-E9A0329BD14C}"/>
            </c:ext>
          </c:extLst>
        </c:ser>
        <c:dLbls>
          <c:showLegendKey val="0"/>
          <c:showVal val="0"/>
          <c:showCatName val="0"/>
          <c:showSerName val="0"/>
          <c:showPercent val="0"/>
          <c:showBubbleSize val="0"/>
        </c:dLbls>
        <c:gapWidth val="100"/>
        <c:overlap val="100"/>
        <c:axId val="1358545104"/>
        <c:axId val="1358370032"/>
      </c:barChart>
      <c:catAx>
        <c:axId val="1358545104"/>
        <c:scaling>
          <c:orientation val="maxMin"/>
        </c:scaling>
        <c:delete val="1"/>
        <c:axPos val="l"/>
        <c:numFmt formatCode="General" sourceLinked="1"/>
        <c:majorTickMark val="none"/>
        <c:minorTickMark val="none"/>
        <c:tickLblPos val="nextTo"/>
        <c:crossAx val="1358370032"/>
        <c:crosses val="autoZero"/>
        <c:auto val="1"/>
        <c:lblAlgn val="ctr"/>
        <c:lblOffset val="100"/>
        <c:noMultiLvlLbl val="0"/>
      </c:catAx>
      <c:valAx>
        <c:axId val="1358370032"/>
        <c:scaling>
          <c:orientation val="minMax"/>
          <c:max val="150"/>
        </c:scaling>
        <c:delete val="0"/>
        <c:axPos val="b"/>
        <c:majorGridlines>
          <c:spPr>
            <a:ln w="9525" cap="flat" cmpd="sng" algn="ctr">
              <a:solidFill>
                <a:schemeClr val="tx1">
                  <a:lumMod val="60000"/>
                  <a:lumOff val="40000"/>
                  <a:alpha val="35000"/>
                </a:schemeClr>
              </a:solidFill>
              <a:prstDash val="solid"/>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crossAx val="1358545104"/>
        <c:crosses val="max"/>
        <c:crossBetween val="between"/>
      </c:valAx>
      <c:spPr>
        <a:noFill/>
        <a:ln>
          <a:noFill/>
        </a:ln>
        <a:effectLst/>
      </c:spPr>
    </c:plotArea>
    <c:legend>
      <c:legendPos val="b"/>
      <c:layout>
        <c:manualLayout>
          <c:xMode val="edge"/>
          <c:yMode val="edge"/>
          <c:x val="0"/>
          <c:y val="0.84692252680288804"/>
          <c:w val="1"/>
          <c:h val="0.1521944544255176"/>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0000"/>
                  <a:lumOff val="40000"/>
                </a:schemeClr>
              </a:solidFill>
              <a:latin typeface="+mn-lt"/>
              <a:ea typeface="+mn-ea"/>
              <a:cs typeface="+mn-cs"/>
            </a:defRPr>
          </a:pPr>
          <a:endParaRPr lang="en-NL"/>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3/20/26</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458F8-93FA-B1DD-C5DA-AC908975C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C4346B-6A9F-6AE5-3193-28E052250E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AB62E8-61D5-6300-EAA0-D706FB69D3C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4B13C8B-54D4-EAAF-EE74-BE6DEB1DFEA1}"/>
              </a:ext>
            </a:extLst>
          </p:cNvPr>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35948942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2785749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408DED6-61EF-5240-95D8-926F20A98C89}" type="slidenum">
              <a:rPr lang="en-US" smtClean="0"/>
              <a:t>14</a:t>
            </a:fld>
            <a:endParaRPr lang="en-US"/>
          </a:p>
        </p:txBody>
      </p:sp>
    </p:spTree>
    <p:extLst>
      <p:ext uri="{BB962C8B-B14F-4D97-AF65-F5344CB8AC3E}">
        <p14:creationId xmlns:p14="http://schemas.microsoft.com/office/powerpoint/2010/main" val="25316504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a:prstGeom prst="rect">
            <a:avLst/>
          </a:prstGeom>
        </p:spPr>
        <p:txBody>
          <a:bodyPr lIns="251999" rIns="180000" bIns="46800">
            <a:noAutofit/>
          </a:bodyPr>
          <a:lstStyle>
            <a:lvl1pPr algn="r">
              <a:defRPr sz="1000">
                <a:solidFill>
                  <a:srgbClr val="FFFFFF"/>
                </a:solidFill>
              </a:defRPr>
            </a:lvl1pPr>
          </a:lstStyle>
          <a:p>
            <a:r>
              <a:rPr lang="nl-NL"/>
              <a:t>Confidential</a:t>
            </a:r>
            <a:endParaRPr lang="nl-NL" dirty="0"/>
          </a:p>
        </p:txBody>
      </p:sp>
      <p:sp>
        <p:nvSpPr>
          <p:cNvPr id="2" name="Text Placeholder 11">
            <a:extLst>
              <a:ext uri="{FF2B5EF4-FFF2-40B4-BE49-F238E27FC236}">
                <a16:creationId xmlns:a16="http://schemas.microsoft.com/office/drawing/2014/main" id="{8AEBBE0C-2740-493E-2D03-D2829B97AB14}"/>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Tree>
    <p:extLst>
      <p:ext uri="{BB962C8B-B14F-4D97-AF65-F5344CB8AC3E}">
        <p14:creationId xmlns:p14="http://schemas.microsoft.com/office/powerpoint/2010/main" val="3615211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a:xfrm>
            <a:off x="849600" y="6462000"/>
            <a:ext cx="1085851" cy="231923"/>
          </a:xfrm>
          <a:prstGeom prst="rect">
            <a:avLst/>
          </a:prstGeom>
        </p:spPr>
        <p:txBody>
          <a:bodyPr/>
          <a:lstStyle>
            <a:lvl1pPr>
              <a:defRPr>
                <a:solidFill>
                  <a:srgbClr val="FFFFFF"/>
                </a:solidFill>
              </a:defRPr>
            </a:lvl1pPr>
          </a:lstStyle>
          <a:p>
            <a:r>
              <a:rPr lang="nl-NL"/>
              <a:t>Confidential</a:t>
            </a:r>
            <a:endParaRPr lang="nl-NL" dirty="0"/>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Tree>
    <p:extLst>
      <p:ext uri="{BB962C8B-B14F-4D97-AF65-F5344CB8AC3E}">
        <p14:creationId xmlns:p14="http://schemas.microsoft.com/office/powerpoint/2010/main" val="2526575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167060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reemap">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a:xfrm>
            <a:off x="849600" y="6462000"/>
            <a:ext cx="1085851" cy="231923"/>
          </a:xfrm>
          <a:prstGeom prst="rect">
            <a:avLst/>
          </a:prstGeom>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Rectangle 4">
            <a:extLst>
              <a:ext uri="{FF2B5EF4-FFF2-40B4-BE49-F238E27FC236}">
                <a16:creationId xmlns:a16="http://schemas.microsoft.com/office/drawing/2014/main" id="{831DF13F-1492-BD13-A6B1-7A914E1FDC59}"/>
              </a:ext>
            </a:extLst>
          </p:cNvPr>
          <p:cNvSpPr/>
          <p:nvPr userDrawn="1"/>
        </p:nvSpPr>
        <p:spPr>
          <a:xfrm>
            <a:off x="0" y="1390132"/>
            <a:ext cx="12192000" cy="4927867"/>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spTree>
    <p:extLst>
      <p:ext uri="{BB962C8B-B14F-4D97-AF65-F5344CB8AC3E}">
        <p14:creationId xmlns:p14="http://schemas.microsoft.com/office/powerpoint/2010/main" val="3381798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OSH system results">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4803D971-BBE6-A649-8B31-9455C887E2E8}"/>
              </a:ext>
            </a:extLst>
          </p:cNvPr>
          <p:cNvPicPr>
            <a:picLocks noChangeAspect="1"/>
          </p:cNvPicPr>
          <p:nvPr userDrawn="1"/>
        </p:nvPicPr>
        <p:blipFill>
          <a:blip>
            <a:alphaModFix amt="80000"/>
            <a:lum bright="-100000"/>
            <a:extLst>
              <a:ext uri="{96DAC541-7B7A-43D3-8B79-37D633B846F1}">
                <asvg:svgBlip xmlns:asvg="http://schemas.microsoft.com/office/drawing/2016/SVG/main" r:embed="rId2"/>
              </a:ext>
            </a:extLst>
          </a:blip>
          <a:stretch>
            <a:fillRect/>
          </a:stretch>
        </p:blipFill>
        <p:spPr>
          <a:xfrm>
            <a:off x="2608465" y="3915896"/>
            <a:ext cx="228600" cy="228600"/>
          </a:xfrm>
          <a:prstGeom prst="rect">
            <a:avLst/>
          </a:prstGeom>
        </p:spPr>
      </p:pic>
      <p:pic>
        <p:nvPicPr>
          <p:cNvPr id="21" name="Graphic 20">
            <a:extLst>
              <a:ext uri="{FF2B5EF4-FFF2-40B4-BE49-F238E27FC236}">
                <a16:creationId xmlns:a16="http://schemas.microsoft.com/office/drawing/2014/main" id="{AC4218B1-EADF-C24A-80B5-E0C1A5B39C1D}"/>
              </a:ext>
            </a:extLst>
          </p:cNvPr>
          <p:cNvPicPr>
            <a:picLocks noChangeAspect="1"/>
          </p:cNvPicPr>
          <p:nvPr userDrawn="1"/>
        </p:nvPicPr>
        <p:blipFill>
          <a:blip>
            <a:alphaModFix amt="80000"/>
            <a:lum bright="-100000"/>
            <a:extLst>
              <a:ext uri="{96DAC541-7B7A-43D3-8B79-37D633B846F1}">
                <asvg:svgBlip xmlns:asvg="http://schemas.microsoft.com/office/drawing/2016/SVG/main" r:embed="rId3"/>
              </a:ext>
            </a:extLst>
          </a:blip>
          <a:stretch>
            <a:fillRect/>
          </a:stretch>
        </p:blipFill>
        <p:spPr>
          <a:xfrm>
            <a:off x="2608465" y="3472522"/>
            <a:ext cx="228600" cy="228600"/>
          </a:xfrm>
          <a:prstGeom prst="rect">
            <a:avLst/>
          </a:prstGeom>
        </p:spPr>
      </p:pic>
      <p:pic>
        <p:nvPicPr>
          <p:cNvPr id="23" name="Graphic 22">
            <a:extLst>
              <a:ext uri="{FF2B5EF4-FFF2-40B4-BE49-F238E27FC236}">
                <a16:creationId xmlns:a16="http://schemas.microsoft.com/office/drawing/2014/main" id="{7FA05DD7-2ECA-4D48-A21C-8DFA7DFADE3A}"/>
              </a:ext>
            </a:extLst>
          </p:cNvPr>
          <p:cNvPicPr>
            <a:picLocks noChangeAspect="1"/>
          </p:cNvPicPr>
          <p:nvPr userDrawn="1"/>
        </p:nvPicPr>
        <p:blipFill>
          <a:blip>
            <a:alphaModFix amt="80000"/>
            <a:lum bright="-100000"/>
            <a:extLst>
              <a:ext uri="{96DAC541-7B7A-43D3-8B79-37D633B846F1}">
                <asvg:svgBlip xmlns:asvg="http://schemas.microsoft.com/office/drawing/2016/SVG/main" r:embed="rId4"/>
              </a:ext>
            </a:extLst>
          </a:blip>
          <a:stretch>
            <a:fillRect/>
          </a:stretch>
        </p:blipFill>
        <p:spPr>
          <a:xfrm>
            <a:off x="2608465" y="4775539"/>
            <a:ext cx="228600" cy="228600"/>
          </a:xfrm>
          <a:prstGeom prst="rect">
            <a:avLst/>
          </a:prstGeom>
        </p:spPr>
      </p:pic>
      <p:pic>
        <p:nvPicPr>
          <p:cNvPr id="25" name="Graphic 24">
            <a:extLst>
              <a:ext uri="{FF2B5EF4-FFF2-40B4-BE49-F238E27FC236}">
                <a16:creationId xmlns:a16="http://schemas.microsoft.com/office/drawing/2014/main" id="{00F4E791-EF53-DC4D-BF37-A43BAC720663}"/>
              </a:ext>
            </a:extLst>
          </p:cNvPr>
          <p:cNvPicPr>
            <a:picLocks noChangeAspect="1"/>
          </p:cNvPicPr>
          <p:nvPr userDrawn="1"/>
        </p:nvPicPr>
        <p:blipFill>
          <a:blip>
            <a:alphaModFix amt="80000"/>
            <a:lum bright="-100000"/>
            <a:extLst>
              <a:ext uri="{96DAC541-7B7A-43D3-8B79-37D633B846F1}">
                <asvg:svgBlip xmlns:asvg="http://schemas.microsoft.com/office/drawing/2016/SVG/main" r:embed="rId5"/>
              </a:ext>
            </a:extLst>
          </a:blip>
          <a:stretch>
            <a:fillRect/>
          </a:stretch>
        </p:blipFill>
        <p:spPr>
          <a:xfrm>
            <a:off x="2608465" y="3056253"/>
            <a:ext cx="228600" cy="228600"/>
          </a:xfrm>
          <a:prstGeom prst="rect">
            <a:avLst/>
          </a:prstGeom>
        </p:spPr>
      </p:pic>
      <p:sp>
        <p:nvSpPr>
          <p:cNvPr id="28" name="Oval 27">
            <a:extLst>
              <a:ext uri="{FF2B5EF4-FFF2-40B4-BE49-F238E27FC236}">
                <a16:creationId xmlns:a16="http://schemas.microsoft.com/office/drawing/2014/main" id="{5D59DCD9-95CA-2849-8561-B2216ED23288}"/>
              </a:ext>
            </a:extLst>
          </p:cNvPr>
          <p:cNvSpPr/>
          <p:nvPr/>
        </p:nvSpPr>
        <p:spPr>
          <a:xfrm>
            <a:off x="183655" y="2350901"/>
            <a:ext cx="5405506" cy="688946"/>
          </a:xfrm>
          <a:prstGeom prst="ellipse">
            <a:avLst/>
          </a:prstGeom>
          <a:solidFill>
            <a:srgbClr val="000000">
              <a:alpha val="15021"/>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273504" y="1814254"/>
            <a:ext cx="5472121" cy="972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0" name="TextBox 29">
            <a:extLst>
              <a:ext uri="{FF2B5EF4-FFF2-40B4-BE49-F238E27FC236}">
                <a16:creationId xmlns:a16="http://schemas.microsoft.com/office/drawing/2014/main" id="{F21ED1E9-7DDE-7349-A824-0A8F7F613A5A}"/>
              </a:ext>
            </a:extLst>
          </p:cNvPr>
          <p:cNvSpPr txBox="1"/>
          <p:nvPr userDrawn="1"/>
        </p:nvSpPr>
        <p:spPr>
          <a:xfrm>
            <a:off x="287680" y="1404912"/>
            <a:ext cx="4469780" cy="357085"/>
          </a:xfrm>
          <a:prstGeom prst="rect">
            <a:avLst/>
          </a:prstGeom>
          <a:noFill/>
        </p:spPr>
        <p:txBody>
          <a:bodyPr wrap="square" lIns="90000" rtlCol="0" anchor="t">
            <a:spAutoFit/>
          </a:bodyPr>
          <a:lstStyle/>
          <a:p>
            <a:pPr>
              <a:lnSpc>
                <a:spcPct val="114000"/>
              </a:lnSpc>
            </a:pPr>
            <a:r>
              <a:rPr lang="en-US" sz="1600" b="0" i="0" dirty="0">
                <a:solidFill>
                  <a:schemeClr val="tx1"/>
                </a:solidFill>
                <a:latin typeface="☞NOIR PRO MEDIUM" pitchFamily="2" charset="0"/>
              </a:rPr>
              <a:t>Risks in external dependencies</a:t>
            </a:r>
          </a:p>
        </p:txBody>
      </p:sp>
      <p:cxnSp>
        <p:nvCxnSpPr>
          <p:cNvPr id="33" name="Straight Connector 32">
            <a:extLst>
              <a:ext uri="{FF2B5EF4-FFF2-40B4-BE49-F238E27FC236}">
                <a16:creationId xmlns:a16="http://schemas.microsoft.com/office/drawing/2014/main" id="{C56613CA-FC98-E948-8B09-66C076B53E70}"/>
              </a:ext>
            </a:extLst>
          </p:cNvPr>
          <p:cNvCxnSpPr>
            <a:cxnSpLocks/>
          </p:cNvCxnSpPr>
          <p:nvPr/>
        </p:nvCxnSpPr>
        <p:spPr>
          <a:xfrm>
            <a:off x="2377457" y="2242127"/>
            <a:ext cx="720000" cy="0"/>
          </a:xfrm>
          <a:prstGeom prst="line">
            <a:avLst/>
          </a:prstGeom>
          <a:ln w="57150" cap="rnd">
            <a:solidFill>
              <a:srgbClr val="DB493D"/>
            </a:solidFill>
          </a:ln>
        </p:spPr>
        <p:style>
          <a:lnRef idx="1">
            <a:schemeClr val="accent1"/>
          </a:lnRef>
          <a:fillRef idx="0">
            <a:schemeClr val="accent1"/>
          </a:fillRef>
          <a:effectRef idx="0">
            <a:schemeClr val="accent1"/>
          </a:effectRef>
          <a:fontRef idx="minor">
            <a:schemeClr val="tx1"/>
          </a:fontRef>
        </p:style>
      </p:cxnSp>
      <p:sp>
        <p:nvSpPr>
          <p:cNvPr id="34" name="AutoShape 5">
            <a:extLst>
              <a:ext uri="{FF2B5EF4-FFF2-40B4-BE49-F238E27FC236}">
                <a16:creationId xmlns:a16="http://schemas.microsoft.com/office/drawing/2014/main" id="{9C79926D-A7E4-AB44-88CA-35B39C0B0F3B}"/>
              </a:ext>
            </a:extLst>
          </p:cNvPr>
          <p:cNvSpPr>
            <a:spLocks noChangeArrowheads="1"/>
          </p:cNvSpPr>
          <p:nvPr/>
        </p:nvSpPr>
        <p:spPr bwMode="auto">
          <a:xfrm>
            <a:off x="2404627" y="2320450"/>
            <a:ext cx="649538"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DB493D"/>
                </a:solidFill>
                <a:cs typeface="TheSansMono M5"/>
              </a:rPr>
              <a:t>high risk</a:t>
            </a:r>
          </a:p>
        </p:txBody>
      </p:sp>
      <p:sp>
        <p:nvSpPr>
          <p:cNvPr id="37" name="AutoShape 5">
            <a:extLst>
              <a:ext uri="{FF2B5EF4-FFF2-40B4-BE49-F238E27FC236}">
                <a16:creationId xmlns:a16="http://schemas.microsoft.com/office/drawing/2014/main" id="{A0F466DD-E497-0B47-9C89-D4A346F119C6}"/>
              </a:ext>
            </a:extLst>
          </p:cNvPr>
          <p:cNvSpPr>
            <a:spLocks noChangeArrowheads="1"/>
          </p:cNvSpPr>
          <p:nvPr/>
        </p:nvSpPr>
        <p:spPr bwMode="auto">
          <a:xfrm>
            <a:off x="3133984" y="2318493"/>
            <a:ext cx="888385"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EF981A"/>
                </a:solidFill>
                <a:cs typeface="TheSansMono M5"/>
              </a:rPr>
              <a:t>medium risk</a:t>
            </a:r>
          </a:p>
        </p:txBody>
      </p:sp>
      <p:cxnSp>
        <p:nvCxnSpPr>
          <p:cNvPr id="38" name="Straight Connector 37">
            <a:extLst>
              <a:ext uri="{FF2B5EF4-FFF2-40B4-BE49-F238E27FC236}">
                <a16:creationId xmlns:a16="http://schemas.microsoft.com/office/drawing/2014/main" id="{D061AE6C-EBE9-4F46-A618-ED7896ACA29D}"/>
              </a:ext>
            </a:extLst>
          </p:cNvPr>
          <p:cNvCxnSpPr>
            <a:cxnSpLocks/>
          </p:cNvCxnSpPr>
          <p:nvPr/>
        </p:nvCxnSpPr>
        <p:spPr>
          <a:xfrm>
            <a:off x="3216635" y="2242127"/>
            <a:ext cx="720000" cy="0"/>
          </a:xfrm>
          <a:prstGeom prst="line">
            <a:avLst/>
          </a:prstGeom>
          <a:ln w="57150" cap="rnd">
            <a:solidFill>
              <a:srgbClr val="EF981A"/>
            </a:solidFill>
          </a:ln>
        </p:spPr>
        <p:style>
          <a:lnRef idx="1">
            <a:schemeClr val="accent1"/>
          </a:lnRef>
          <a:fillRef idx="0">
            <a:schemeClr val="accent1"/>
          </a:fillRef>
          <a:effectRef idx="0">
            <a:schemeClr val="accent1"/>
          </a:effectRef>
          <a:fontRef idx="minor">
            <a:schemeClr val="tx1"/>
          </a:fontRef>
        </p:style>
      </p:cxnSp>
      <p:sp>
        <p:nvSpPr>
          <p:cNvPr id="41" name="AutoShape 5">
            <a:extLst>
              <a:ext uri="{FF2B5EF4-FFF2-40B4-BE49-F238E27FC236}">
                <a16:creationId xmlns:a16="http://schemas.microsoft.com/office/drawing/2014/main" id="{EA2FDCAB-455C-4E49-AF74-1E4FA9011BDE}"/>
              </a:ext>
            </a:extLst>
          </p:cNvPr>
          <p:cNvSpPr>
            <a:spLocks noChangeArrowheads="1"/>
          </p:cNvSpPr>
          <p:nvPr/>
        </p:nvSpPr>
        <p:spPr bwMode="auto">
          <a:xfrm>
            <a:off x="4094025" y="2313682"/>
            <a:ext cx="615297"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F8C740"/>
                </a:solidFill>
                <a:cs typeface="TheSansMono M5"/>
              </a:rPr>
              <a:t>low risk</a:t>
            </a:r>
          </a:p>
        </p:txBody>
      </p:sp>
      <p:cxnSp>
        <p:nvCxnSpPr>
          <p:cNvPr id="42" name="Straight Connector 41">
            <a:extLst>
              <a:ext uri="{FF2B5EF4-FFF2-40B4-BE49-F238E27FC236}">
                <a16:creationId xmlns:a16="http://schemas.microsoft.com/office/drawing/2014/main" id="{8D80D8D2-64AB-5B45-9E98-3024038CA8F5}"/>
              </a:ext>
            </a:extLst>
          </p:cNvPr>
          <p:cNvCxnSpPr>
            <a:cxnSpLocks/>
          </p:cNvCxnSpPr>
          <p:nvPr/>
        </p:nvCxnSpPr>
        <p:spPr>
          <a:xfrm>
            <a:off x="4050584" y="2242127"/>
            <a:ext cx="720000" cy="0"/>
          </a:xfrm>
          <a:prstGeom prst="line">
            <a:avLst/>
          </a:prstGeom>
          <a:ln w="57150" cap="rnd">
            <a:solidFill>
              <a:srgbClr val="F8C740"/>
            </a:solidFill>
          </a:ln>
        </p:spPr>
        <p:style>
          <a:lnRef idx="1">
            <a:schemeClr val="accent1"/>
          </a:lnRef>
          <a:fillRef idx="0">
            <a:schemeClr val="accent1"/>
          </a:fillRef>
          <a:effectRef idx="0">
            <a:schemeClr val="accent1"/>
          </a:effectRef>
          <a:fontRef idx="minor">
            <a:schemeClr val="tx1"/>
          </a:fontRef>
        </p:style>
      </p:cxnSp>
      <p:sp>
        <p:nvSpPr>
          <p:cNvPr id="45" name="AutoShape 5">
            <a:extLst>
              <a:ext uri="{FF2B5EF4-FFF2-40B4-BE49-F238E27FC236}">
                <a16:creationId xmlns:a16="http://schemas.microsoft.com/office/drawing/2014/main" id="{83EAF45F-0735-074F-B8DE-661963E387B1}"/>
              </a:ext>
            </a:extLst>
          </p:cNvPr>
          <p:cNvSpPr>
            <a:spLocks noChangeArrowheads="1"/>
          </p:cNvSpPr>
          <p:nvPr/>
        </p:nvSpPr>
        <p:spPr bwMode="auto">
          <a:xfrm>
            <a:off x="4878660" y="2318108"/>
            <a:ext cx="697627" cy="184666"/>
          </a:xfrm>
          <a:prstGeom prst="foldedCorner">
            <a:avLst>
              <a:gd name="adj" fmla="val 0"/>
            </a:avLst>
          </a:prstGeom>
          <a:noFill/>
          <a:ln w="6350" cmpd="sng">
            <a:noFill/>
            <a:round/>
            <a:headEnd/>
            <a:tailEnd/>
          </a:ln>
          <a:effectLst/>
        </p:spPr>
        <p:txBody>
          <a:bodyPr wrap="none" tIns="0" bIns="0">
            <a:spAutoFit/>
          </a:bodyPr>
          <a:lstStyle/>
          <a:p>
            <a:pPr algn="ctr">
              <a:defRPr/>
            </a:pPr>
            <a:r>
              <a:rPr lang="en-US" sz="1100" b="1" dirty="0">
                <a:solidFill>
                  <a:srgbClr val="57C968"/>
                </a:solidFill>
                <a:latin typeface="Calibri" panose="020F0502020204030204" pitchFamily="34" charset="0"/>
                <a:cs typeface="Calibri" panose="020F0502020204030204" pitchFamily="34" charset="0"/>
              </a:rPr>
              <a:t>✓</a:t>
            </a:r>
            <a:r>
              <a:rPr lang="en-US" sz="1200" dirty="0">
                <a:solidFill>
                  <a:srgbClr val="57C968"/>
                </a:solidFill>
              </a:rPr>
              <a:t> </a:t>
            </a:r>
            <a:r>
              <a:rPr lang="en-US" sz="1200" spc="-50" noProof="1">
                <a:solidFill>
                  <a:srgbClr val="57C968"/>
                </a:solidFill>
                <a:cs typeface="TheSansMono M5"/>
              </a:rPr>
              <a:t>no risk</a:t>
            </a:r>
          </a:p>
        </p:txBody>
      </p:sp>
      <p:cxnSp>
        <p:nvCxnSpPr>
          <p:cNvPr id="46" name="Straight Connector 45">
            <a:extLst>
              <a:ext uri="{FF2B5EF4-FFF2-40B4-BE49-F238E27FC236}">
                <a16:creationId xmlns:a16="http://schemas.microsoft.com/office/drawing/2014/main" id="{99335F77-CBBF-B24B-8F0A-85FCA257B10A}"/>
              </a:ext>
            </a:extLst>
          </p:cNvPr>
          <p:cNvCxnSpPr>
            <a:cxnSpLocks/>
          </p:cNvCxnSpPr>
          <p:nvPr/>
        </p:nvCxnSpPr>
        <p:spPr>
          <a:xfrm>
            <a:off x="4884540" y="2242127"/>
            <a:ext cx="720000" cy="0"/>
          </a:xfrm>
          <a:prstGeom prst="line">
            <a:avLst/>
          </a:prstGeom>
          <a:ln w="57150" cap="rnd">
            <a:solidFill>
              <a:srgbClr val="57C968"/>
            </a:solidFill>
          </a:ln>
        </p:spPr>
        <p:style>
          <a:lnRef idx="1">
            <a:schemeClr val="accent1"/>
          </a:lnRef>
          <a:fillRef idx="0">
            <a:schemeClr val="accent1"/>
          </a:fillRef>
          <a:effectRef idx="0">
            <a:schemeClr val="accent1"/>
          </a:effectRef>
          <a:fontRef idx="minor">
            <a:schemeClr val="tx1"/>
          </a:fontRef>
        </p:style>
      </p:cxnSp>
      <p:sp>
        <p:nvSpPr>
          <p:cNvPr id="48" name="Freeform 47">
            <a:extLst>
              <a:ext uri="{FF2B5EF4-FFF2-40B4-BE49-F238E27FC236}">
                <a16:creationId xmlns:a16="http://schemas.microsoft.com/office/drawing/2014/main" id="{91356441-694B-B541-8959-E690A83565FC}"/>
              </a:ext>
            </a:extLst>
          </p:cNvPr>
          <p:cNvSpPr/>
          <p:nvPr userDrawn="1"/>
        </p:nvSpPr>
        <p:spPr>
          <a:xfrm>
            <a:off x="373537" y="1870675"/>
            <a:ext cx="1078883" cy="721276"/>
          </a:xfrm>
          <a:custGeom>
            <a:avLst/>
            <a:gdLst>
              <a:gd name="connsiteX0" fmla="*/ 28050 w 1078883"/>
              <a:gd name="connsiteY0" fmla="*/ 0 h 721276"/>
              <a:gd name="connsiteX1" fmla="*/ 915239 w 1078883"/>
              <a:gd name="connsiteY1" fmla="*/ 0 h 721276"/>
              <a:gd name="connsiteX2" fmla="*/ 1078883 w 1078883"/>
              <a:gd name="connsiteY2" fmla="*/ 364710 h 721276"/>
              <a:gd name="connsiteX3" fmla="*/ 918893 w 1078883"/>
              <a:gd name="connsiteY3" fmla="*/ 721276 h 721276"/>
              <a:gd name="connsiteX4" fmla="*/ 28050 w 1078883"/>
              <a:gd name="connsiteY4" fmla="*/ 721276 h 721276"/>
              <a:gd name="connsiteX5" fmla="*/ 0 w 1078883"/>
              <a:gd name="connsiteY5" fmla="*/ 693226 h 721276"/>
              <a:gd name="connsiteX6" fmla="*/ 0 w 1078883"/>
              <a:gd name="connsiteY6" fmla="*/ 28050 h 721276"/>
              <a:gd name="connsiteX7" fmla="*/ 28050 w 1078883"/>
              <a:gd name="connsiteY7" fmla="*/ 0 h 7212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78883" h="721276">
                <a:moveTo>
                  <a:pt x="28050" y="0"/>
                </a:moveTo>
                <a:lnTo>
                  <a:pt x="915239" y="0"/>
                </a:lnTo>
                <a:lnTo>
                  <a:pt x="1078883" y="364710"/>
                </a:lnTo>
                <a:lnTo>
                  <a:pt x="918893" y="721276"/>
                </a:lnTo>
                <a:lnTo>
                  <a:pt x="28050" y="721276"/>
                </a:lnTo>
                <a:cubicBezTo>
                  <a:pt x="12558" y="721276"/>
                  <a:pt x="0" y="708718"/>
                  <a:pt x="0" y="693226"/>
                </a:cubicBezTo>
                <a:lnTo>
                  <a:pt x="0" y="28050"/>
                </a:lnTo>
                <a:cubicBezTo>
                  <a:pt x="0" y="12558"/>
                  <a:pt x="12558" y="0"/>
                  <a:pt x="28050" y="0"/>
                </a:cubicBezTo>
                <a:close/>
              </a:path>
            </a:pathLst>
          </a:custGeom>
          <a:gradFill>
            <a:gsLst>
              <a:gs pos="100000">
                <a:srgbClr val="88ADF5"/>
              </a:gs>
              <a:gs pos="76000">
                <a:schemeClr val="accent3">
                  <a:alpha val="25000"/>
                </a:schemeClr>
              </a:gs>
              <a:gs pos="0">
                <a:schemeClr val="accent3">
                  <a:alpha val="0"/>
                </a:schemeClr>
              </a:gs>
            </a:gsLst>
            <a:lin ang="2700000" scaled="0"/>
          </a:gradFill>
          <a:ln w="9525">
            <a:solidFill>
              <a:schemeClr val="accent3">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373537" y="2159794"/>
            <a:ext cx="946336" cy="338554"/>
          </a:xfrm>
          <a:prstGeom prst="foldedCorner">
            <a:avLst>
              <a:gd name="adj" fmla="val 0"/>
            </a:avLst>
          </a:prstGeom>
          <a:noFill/>
          <a:ln w="6350" cmpd="sng">
            <a:noFill/>
            <a:round/>
            <a:headEnd/>
            <a:tailEnd/>
          </a:ln>
          <a:effectLst/>
        </p:spPr>
        <p:txBody>
          <a:bodyPr wrap="square" lIns="36000" tIns="0" rIns="36000" bIns="0">
            <a:spAutoFit/>
          </a:bodyPr>
          <a:lstStyle/>
          <a:p>
            <a:pPr algn="ctr">
              <a:defRPr/>
            </a:pPr>
            <a:r>
              <a:rPr lang="en-US" sz="1100" dirty="0">
                <a:solidFill>
                  <a:schemeClr val="accent2"/>
                </a:solidFill>
                <a:latin typeface="Calibri" panose="020F0502020204030204" pitchFamily="34" charset="0"/>
                <a:cs typeface="Calibri" panose="020F0502020204030204" pitchFamily="34" charset="0"/>
              </a:rPr>
              <a:t>external</a:t>
            </a:r>
            <a:br>
              <a:rPr lang="en-US" sz="1100" dirty="0">
                <a:solidFill>
                  <a:schemeClr val="accent2"/>
                </a:solidFill>
                <a:latin typeface="Calibri" panose="020F0502020204030204" pitchFamily="34" charset="0"/>
                <a:cs typeface="Calibri" panose="020F0502020204030204" pitchFamily="34" charset="0"/>
              </a:rPr>
            </a:br>
            <a:r>
              <a:rPr lang="en-US" sz="1100" dirty="0">
                <a:solidFill>
                  <a:schemeClr val="accent2"/>
                </a:solidFill>
                <a:latin typeface="Calibri" panose="020F0502020204030204" pitchFamily="34" charset="0"/>
                <a:cs typeface="Calibri" panose="020F0502020204030204" pitchFamily="34" charset="0"/>
              </a:rPr>
              <a:t>dependencies</a:t>
            </a:r>
            <a:endParaRPr lang="en-US" sz="1200" spc="-50" noProof="1">
              <a:solidFill>
                <a:schemeClr val="accent2"/>
              </a:solidFill>
              <a:cs typeface="TheSansMono M5"/>
            </a:endParaRPr>
          </a:p>
        </p:txBody>
      </p:sp>
      <p:sp>
        <p:nvSpPr>
          <p:cNvPr id="52" name="TextBox 51">
            <a:extLst>
              <a:ext uri="{FF2B5EF4-FFF2-40B4-BE49-F238E27FC236}">
                <a16:creationId xmlns:a16="http://schemas.microsoft.com/office/drawing/2014/main" id="{BCF23A31-FB0D-E745-BDFB-363075187412}"/>
              </a:ext>
            </a:extLst>
          </p:cNvPr>
          <p:cNvSpPr txBox="1"/>
          <p:nvPr userDrawn="1"/>
        </p:nvSpPr>
        <p:spPr>
          <a:xfrm>
            <a:off x="373537" y="5569608"/>
            <a:ext cx="2549071" cy="289438"/>
          </a:xfrm>
          <a:prstGeom prst="rect">
            <a:avLst/>
          </a:prstGeom>
          <a:noFill/>
        </p:spPr>
        <p:txBody>
          <a:bodyPr wrap="square" lIns="90000" rtlCol="0" anchor="t">
            <a:spAutoFit/>
          </a:bodyPr>
          <a:lstStyle/>
          <a:p>
            <a:pPr algn="r">
              <a:lnSpc>
                <a:spcPct val="113000"/>
              </a:lnSpc>
            </a:pPr>
            <a:r>
              <a:rPr lang="en-US" sz="1200" dirty="0">
                <a:solidFill>
                  <a:schemeClr val="tx1">
                    <a:alpha val="50000"/>
                  </a:schemeClr>
                </a:solidFill>
              </a:rPr>
              <a:t>Number of dependencies:</a:t>
            </a:r>
          </a:p>
        </p:txBody>
      </p:sp>
      <p:sp>
        <p:nvSpPr>
          <p:cNvPr id="53" name="TextBox 52">
            <a:extLst>
              <a:ext uri="{FF2B5EF4-FFF2-40B4-BE49-F238E27FC236}">
                <a16:creationId xmlns:a16="http://schemas.microsoft.com/office/drawing/2014/main" id="{FC627EA2-AE44-A843-8263-F7C250ED20AD}"/>
              </a:ext>
            </a:extLst>
          </p:cNvPr>
          <p:cNvSpPr txBox="1"/>
          <p:nvPr userDrawn="1"/>
        </p:nvSpPr>
        <p:spPr>
          <a:xfrm>
            <a:off x="131435" y="2846815"/>
            <a:ext cx="2448628" cy="2628220"/>
          </a:xfrm>
          <a:prstGeom prst="rect">
            <a:avLst/>
          </a:prstGeom>
          <a:noFill/>
        </p:spPr>
        <p:txBody>
          <a:bodyPr wrap="square" lIns="90000" rtlCol="0" anchor="t">
            <a:spAutoFit/>
          </a:bodyPr>
          <a:lstStyle/>
          <a:p>
            <a:pPr algn="r">
              <a:lnSpc>
                <a:spcPct val="235000"/>
              </a:lnSpc>
            </a:pPr>
            <a:r>
              <a:rPr lang="en-US" sz="1200" dirty="0">
                <a:solidFill>
                  <a:schemeClr val="tx1"/>
                </a:solidFill>
              </a:rPr>
              <a:t>Libraries with </a:t>
            </a:r>
            <a:r>
              <a:rPr lang="en-US" sz="1200" b="1" dirty="0">
                <a:solidFill>
                  <a:schemeClr val="tx1"/>
                </a:solidFill>
              </a:rPr>
              <a:t>vulnerability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legal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freshness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stability </a:t>
            </a:r>
            <a:r>
              <a:rPr lang="en-US" sz="1200" dirty="0">
                <a:solidFill>
                  <a:schemeClr val="tx1"/>
                </a:solidFill>
              </a:rPr>
              <a:t>risk</a:t>
            </a:r>
          </a:p>
          <a:p>
            <a:pPr algn="r">
              <a:lnSpc>
                <a:spcPct val="235000"/>
              </a:lnSpc>
            </a:pPr>
            <a:r>
              <a:rPr lang="en-US" sz="1200" dirty="0">
                <a:solidFill>
                  <a:schemeClr val="tx1"/>
                </a:solidFill>
              </a:rPr>
              <a:t>Libraries with </a:t>
            </a:r>
            <a:r>
              <a:rPr lang="en-US" sz="1200" b="1" dirty="0">
                <a:solidFill>
                  <a:schemeClr val="tx1"/>
                </a:solidFill>
              </a:rPr>
              <a:t>management </a:t>
            </a:r>
            <a:r>
              <a:rPr lang="en-US" sz="1200" dirty="0">
                <a:solidFill>
                  <a:schemeClr val="tx1"/>
                </a:solidFill>
              </a:rPr>
              <a:t>risk</a:t>
            </a:r>
          </a:p>
          <a:p>
            <a:pPr marL="0" marR="0" lvl="0" indent="0" algn="r" defTabSz="914400" rtl="0" eaLnBrk="1" fontAlgn="auto" latinLnBrk="0" hangingPunct="1">
              <a:lnSpc>
                <a:spcPct val="235000"/>
              </a:lnSpc>
              <a:spcBef>
                <a:spcPts val="0"/>
              </a:spcBef>
              <a:spcAft>
                <a:spcPts val="0"/>
              </a:spcAft>
              <a:buClrTx/>
              <a:buSzTx/>
              <a:buFontTx/>
              <a:buNone/>
              <a:tabLst/>
              <a:defRPr/>
            </a:pPr>
            <a:r>
              <a:rPr lang="en-US" sz="1200" dirty="0">
                <a:solidFill>
                  <a:schemeClr val="tx1"/>
                </a:solidFill>
              </a:rPr>
              <a:t>Libraries with </a:t>
            </a:r>
            <a:r>
              <a:rPr lang="en-US" sz="1200" b="1" dirty="0">
                <a:solidFill>
                  <a:schemeClr val="tx1"/>
                </a:solidFill>
              </a:rPr>
              <a:t>activity </a:t>
            </a:r>
            <a:r>
              <a:rPr lang="en-US" sz="1200" dirty="0">
                <a:solidFill>
                  <a:schemeClr val="tx1"/>
                </a:solidFill>
              </a:rPr>
              <a:t>risk</a:t>
            </a:r>
          </a:p>
        </p:txBody>
      </p:sp>
      <p:sp>
        <p:nvSpPr>
          <p:cNvPr id="55" name="Content Placeholder 2">
            <a:extLst>
              <a:ext uri="{FF2B5EF4-FFF2-40B4-BE49-F238E27FC236}">
                <a16:creationId xmlns:a16="http://schemas.microsoft.com/office/drawing/2014/main" id="{C8989BBF-287E-B847-9CAC-6DA102EFBD4A}"/>
              </a:ext>
            </a:extLst>
          </p:cNvPr>
          <p:cNvSpPr>
            <a:spLocks noGrp="1"/>
          </p:cNvSpPr>
          <p:nvPr>
            <p:ph sz="quarter" idx="13" hasCustomPrompt="1"/>
          </p:nvPr>
        </p:nvSpPr>
        <p:spPr>
          <a:xfrm>
            <a:off x="6420006" y="1421846"/>
            <a:ext cx="5614794" cy="4896154"/>
          </a:xfrm>
        </p:spPr>
        <p:txBody>
          <a:bodyPr>
            <a:noAutofit/>
          </a:bodyPr>
          <a:lstStyle>
            <a:lvl1pPr marL="285750" indent="-279400">
              <a:buFont typeface="Arial" panose="020B0604020202020204" pitchFamily="34" charset="0"/>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440738" y="1894014"/>
            <a:ext cx="835106" cy="265112"/>
          </a:xfrm>
        </p:spPr>
        <p:txBody>
          <a:bodyPr lIns="0" rIns="0" anchor="ctr">
            <a:noAutofit/>
          </a:bodyPr>
          <a:lstStyle>
            <a:lvl1pPr marL="0" indent="0" algn="ctr">
              <a:buFont typeface="Arial" panose="020B0604020202020204" pitchFamily="34" charset="0"/>
              <a:buNone/>
              <a:defRPr sz="1600" b="1">
                <a:solidFill>
                  <a:schemeClr val="accent2"/>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58" name="Text Placeholder 2">
            <a:extLst>
              <a:ext uri="{FF2B5EF4-FFF2-40B4-BE49-F238E27FC236}">
                <a16:creationId xmlns:a16="http://schemas.microsoft.com/office/drawing/2014/main" id="{EDC22544-D9BC-B244-939B-9E83862D4EF4}"/>
              </a:ext>
            </a:extLst>
          </p:cNvPr>
          <p:cNvSpPr>
            <a:spLocks noGrp="1"/>
          </p:cNvSpPr>
          <p:nvPr>
            <p:ph type="body" sz="quarter" idx="15" hasCustomPrompt="1"/>
          </p:nvPr>
        </p:nvSpPr>
        <p:spPr>
          <a:xfrm>
            <a:off x="2366159" y="1894014"/>
            <a:ext cx="734436" cy="265112"/>
          </a:xfrm>
        </p:spPr>
        <p:txBody>
          <a:bodyPr lIns="0" rIns="0" anchor="ctr">
            <a:noAutofit/>
          </a:bodyPr>
          <a:lstStyle>
            <a:lvl1pPr marL="0" indent="0" algn="ctr">
              <a:buFont typeface="Arial" panose="020B0604020202020204" pitchFamily="34" charset="0"/>
              <a:buNone/>
              <a:defRPr sz="1600" b="1">
                <a:solidFill>
                  <a:srgbClr val="DC4A3D"/>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0" name="Text Placeholder 2">
            <a:extLst>
              <a:ext uri="{FF2B5EF4-FFF2-40B4-BE49-F238E27FC236}">
                <a16:creationId xmlns:a16="http://schemas.microsoft.com/office/drawing/2014/main" id="{BB9C82F9-0A2D-9945-BB70-9C7924044338}"/>
              </a:ext>
            </a:extLst>
          </p:cNvPr>
          <p:cNvSpPr>
            <a:spLocks noGrp="1"/>
          </p:cNvSpPr>
          <p:nvPr>
            <p:ph type="body" sz="quarter" idx="16" hasCustomPrompt="1"/>
          </p:nvPr>
        </p:nvSpPr>
        <p:spPr>
          <a:xfrm>
            <a:off x="3188761" y="1894014"/>
            <a:ext cx="760514" cy="265112"/>
          </a:xfrm>
        </p:spPr>
        <p:txBody>
          <a:bodyPr lIns="0" rIns="0" anchor="ctr">
            <a:noAutofit/>
          </a:bodyPr>
          <a:lstStyle>
            <a:lvl1pPr marL="0" indent="0" algn="ctr">
              <a:buFont typeface="Arial" panose="020B0604020202020204" pitchFamily="34" charset="0"/>
              <a:buNone/>
              <a:defRPr sz="1600" b="1">
                <a:solidFill>
                  <a:srgbClr val="F09A19"/>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1" name="Text Placeholder 2">
            <a:extLst>
              <a:ext uri="{FF2B5EF4-FFF2-40B4-BE49-F238E27FC236}">
                <a16:creationId xmlns:a16="http://schemas.microsoft.com/office/drawing/2014/main" id="{4F6EE5E4-7412-804B-AB0B-2612A9AEF197}"/>
              </a:ext>
            </a:extLst>
          </p:cNvPr>
          <p:cNvSpPr>
            <a:spLocks noGrp="1"/>
          </p:cNvSpPr>
          <p:nvPr>
            <p:ph type="body" sz="quarter" idx="17" hasCustomPrompt="1"/>
          </p:nvPr>
        </p:nvSpPr>
        <p:spPr>
          <a:xfrm>
            <a:off x="4023661" y="1894014"/>
            <a:ext cx="760514" cy="265112"/>
          </a:xfrm>
        </p:spPr>
        <p:txBody>
          <a:bodyPr lIns="0" rIns="0" anchor="ctr">
            <a:noAutofit/>
          </a:bodyPr>
          <a:lstStyle>
            <a:lvl1pPr marL="0" indent="0" algn="ctr">
              <a:buFont typeface="Arial" panose="020B0604020202020204" pitchFamily="34" charset="0"/>
              <a:buNone/>
              <a:defRPr sz="1600" b="1">
                <a:solidFill>
                  <a:srgbClr val="F8C81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62" name="Text Placeholder 2">
            <a:extLst>
              <a:ext uri="{FF2B5EF4-FFF2-40B4-BE49-F238E27FC236}">
                <a16:creationId xmlns:a16="http://schemas.microsoft.com/office/drawing/2014/main" id="{20222DCE-C402-BC42-9510-1717F16DF891}"/>
              </a:ext>
            </a:extLst>
          </p:cNvPr>
          <p:cNvSpPr>
            <a:spLocks noGrp="1"/>
          </p:cNvSpPr>
          <p:nvPr>
            <p:ph type="body" sz="quarter" idx="18" hasCustomPrompt="1"/>
          </p:nvPr>
        </p:nvSpPr>
        <p:spPr>
          <a:xfrm>
            <a:off x="4842179" y="1894014"/>
            <a:ext cx="776867" cy="265112"/>
          </a:xfrm>
        </p:spPr>
        <p:txBody>
          <a:bodyPr lIns="0" rIns="0" anchor="ctr">
            <a:noAutofit/>
          </a:bodyPr>
          <a:lstStyle>
            <a:lvl1pPr marL="0" indent="0" algn="ctr">
              <a:buFont typeface="Arial" panose="020B0604020202020204" pitchFamily="34" charset="0"/>
              <a:buNone/>
              <a:defRPr sz="1600" b="1">
                <a:solidFill>
                  <a:srgbClr val="57C968"/>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cxnSp>
        <p:nvCxnSpPr>
          <p:cNvPr id="6" name="Straight Connector 5">
            <a:extLst>
              <a:ext uri="{FF2B5EF4-FFF2-40B4-BE49-F238E27FC236}">
                <a16:creationId xmlns:a16="http://schemas.microsoft.com/office/drawing/2014/main" id="{D3B0C8CF-791F-18E5-4333-1B6A84495D38}"/>
              </a:ext>
            </a:extLst>
          </p:cNvPr>
          <p:cNvCxnSpPr>
            <a:cxnSpLocks/>
          </p:cNvCxnSpPr>
          <p:nvPr userDrawn="1"/>
        </p:nvCxnSpPr>
        <p:spPr>
          <a:xfrm>
            <a:off x="1540363" y="2237012"/>
            <a:ext cx="720000" cy="0"/>
          </a:xfrm>
          <a:prstGeom prst="line">
            <a:avLst/>
          </a:prstGeom>
          <a:ln w="57150" cap="rnd">
            <a:solidFill>
              <a:srgbClr val="910714"/>
            </a:solidFill>
          </a:ln>
        </p:spPr>
        <p:style>
          <a:lnRef idx="1">
            <a:schemeClr val="accent1"/>
          </a:lnRef>
          <a:fillRef idx="0">
            <a:schemeClr val="accent1"/>
          </a:fillRef>
          <a:effectRef idx="0">
            <a:schemeClr val="accent1"/>
          </a:effectRef>
          <a:fontRef idx="minor">
            <a:schemeClr val="tx1"/>
          </a:fontRef>
        </p:style>
      </p:cxnSp>
      <p:sp>
        <p:nvSpPr>
          <p:cNvPr id="7" name="AutoShape 5">
            <a:extLst>
              <a:ext uri="{FF2B5EF4-FFF2-40B4-BE49-F238E27FC236}">
                <a16:creationId xmlns:a16="http://schemas.microsoft.com/office/drawing/2014/main" id="{D8BC2DDE-6625-F621-EC94-783A87A7B4F3}"/>
              </a:ext>
            </a:extLst>
          </p:cNvPr>
          <p:cNvSpPr>
            <a:spLocks noChangeArrowheads="1"/>
          </p:cNvSpPr>
          <p:nvPr userDrawn="1"/>
        </p:nvSpPr>
        <p:spPr bwMode="auto">
          <a:xfrm>
            <a:off x="1507263" y="2315335"/>
            <a:ext cx="770084" cy="184666"/>
          </a:xfrm>
          <a:prstGeom prst="foldedCorner">
            <a:avLst>
              <a:gd name="adj" fmla="val 0"/>
            </a:avLst>
          </a:prstGeom>
          <a:noFill/>
          <a:ln w="6350" cmpd="sng">
            <a:noFill/>
            <a:round/>
            <a:headEnd/>
            <a:tailEnd/>
          </a:ln>
          <a:effectLst/>
        </p:spPr>
        <p:txBody>
          <a:bodyPr wrap="none" tIns="0" bIns="0">
            <a:spAutoFit/>
          </a:bodyPr>
          <a:lstStyle/>
          <a:p>
            <a:pPr algn="ctr" eaLnBrk="1" hangingPunct="1">
              <a:spcAft>
                <a:spcPts val="0"/>
              </a:spcAft>
              <a:defRPr/>
            </a:pPr>
            <a:r>
              <a:rPr lang="en-US" sz="1200" spc="-50" noProof="1">
                <a:solidFill>
                  <a:srgbClr val="910714"/>
                </a:solidFill>
                <a:cs typeface="TheSansMono M5"/>
              </a:rPr>
              <a:t>critical risk</a:t>
            </a:r>
          </a:p>
        </p:txBody>
      </p:sp>
      <p:sp>
        <p:nvSpPr>
          <p:cNvPr id="43" name="Text Placeholder 2">
            <a:extLst>
              <a:ext uri="{FF2B5EF4-FFF2-40B4-BE49-F238E27FC236}">
                <a16:creationId xmlns:a16="http://schemas.microsoft.com/office/drawing/2014/main" id="{CAAE3B6A-A32C-2E31-61A0-D3B86C8941C9}"/>
              </a:ext>
            </a:extLst>
          </p:cNvPr>
          <p:cNvSpPr>
            <a:spLocks noGrp="1"/>
          </p:cNvSpPr>
          <p:nvPr>
            <p:ph type="body" sz="quarter" idx="19" hasCustomPrompt="1"/>
          </p:nvPr>
        </p:nvSpPr>
        <p:spPr>
          <a:xfrm>
            <a:off x="1529065" y="1888899"/>
            <a:ext cx="734436" cy="265112"/>
          </a:xfrm>
        </p:spPr>
        <p:txBody>
          <a:bodyPr lIns="0" rIns="0" anchor="ctr">
            <a:noAutofit/>
          </a:bodyPr>
          <a:lstStyle>
            <a:lvl1pPr marL="0" indent="0" algn="ctr">
              <a:buFont typeface="Arial" panose="020B0604020202020204" pitchFamily="34" charset="0"/>
              <a:buNone/>
              <a:defRPr sz="1600" b="1">
                <a:solidFill>
                  <a:srgbClr val="910614"/>
                </a:solidFill>
                <a:latin typeface="Noir Pro Semi Bold" pitchFamily="2" charset="0"/>
                <a:cs typeface="Azeret Mono" pitchFamily="2" charset="77"/>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dirty="0"/>
              <a:t>&lt;#&gt;</a:t>
            </a:r>
          </a:p>
        </p:txBody>
      </p:sp>
      <p:sp>
        <p:nvSpPr>
          <p:cNvPr id="2" name="Titel 1">
            <a:extLst>
              <a:ext uri="{FF2B5EF4-FFF2-40B4-BE49-F238E27FC236}">
                <a16:creationId xmlns:a16="http://schemas.microsoft.com/office/drawing/2014/main" id="{85F2A81F-5932-87E7-D36E-A48D21EE92CB}"/>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3" name="Tijdelijke aanduiding voor voettekst 2">
            <a:extLst>
              <a:ext uri="{FF2B5EF4-FFF2-40B4-BE49-F238E27FC236}">
                <a16:creationId xmlns:a16="http://schemas.microsoft.com/office/drawing/2014/main" id="{894A2A75-3145-2B40-BD84-D3A76CD6FFAD}"/>
              </a:ext>
            </a:extLst>
          </p:cNvPr>
          <p:cNvSpPr>
            <a:spLocks noGrp="1"/>
          </p:cNvSpPr>
          <p:nvPr>
            <p:ph type="ftr" sz="quarter" idx="20"/>
          </p:nvPr>
        </p:nvSpPr>
        <p:spPr/>
        <p:txBody>
          <a:bodyPr/>
          <a:lstStyle/>
          <a:p>
            <a:r>
              <a:rPr lang="nl-NL"/>
              <a:t>Confidential</a:t>
            </a:r>
          </a:p>
        </p:txBody>
      </p:sp>
      <p:sp>
        <p:nvSpPr>
          <p:cNvPr id="4" name="Tijdelijke aanduiding voor dianummer 3">
            <a:extLst>
              <a:ext uri="{FF2B5EF4-FFF2-40B4-BE49-F238E27FC236}">
                <a16:creationId xmlns:a16="http://schemas.microsoft.com/office/drawing/2014/main" id="{C4399855-F056-C1EA-96E3-8F6B2FE87A89}"/>
              </a:ext>
            </a:extLst>
          </p:cNvPr>
          <p:cNvSpPr>
            <a:spLocks noGrp="1"/>
          </p:cNvSpPr>
          <p:nvPr>
            <p:ph type="sldNum" sz="quarter" idx="21"/>
          </p:nvPr>
        </p:nvSpPr>
        <p:spPr/>
        <p:txBody>
          <a:bodyPr/>
          <a:lstStyle/>
          <a:p>
            <a:fld id="{E242BD21-9B61-2246-BCB1-4BE5E1BEBE1C}" type="slidenum">
              <a:rPr lang="nl-NL" smtClean="0"/>
              <a:pPr/>
              <a:t>‹#›</a:t>
            </a:fld>
            <a:endParaRPr lang="nl-NL"/>
          </a:p>
        </p:txBody>
      </p:sp>
      <p:sp>
        <p:nvSpPr>
          <p:cNvPr id="5" name="Text Placeholder 4">
            <a:extLst>
              <a:ext uri="{FF2B5EF4-FFF2-40B4-BE49-F238E27FC236}">
                <a16:creationId xmlns:a16="http://schemas.microsoft.com/office/drawing/2014/main" id="{B55AD1E1-E49C-07DA-9E88-2A64DC932614}"/>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pic>
        <p:nvPicPr>
          <p:cNvPr id="9" name="Graphic 8">
            <a:extLst>
              <a:ext uri="{FF2B5EF4-FFF2-40B4-BE49-F238E27FC236}">
                <a16:creationId xmlns:a16="http://schemas.microsoft.com/office/drawing/2014/main" id="{13C657A4-EEB4-0690-E4D3-B51FF0CFAE25}"/>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2598967" y="4332165"/>
            <a:ext cx="247597" cy="247597"/>
          </a:xfrm>
          <a:prstGeom prst="rect">
            <a:avLst/>
          </a:prstGeom>
        </p:spPr>
      </p:pic>
      <p:pic>
        <p:nvPicPr>
          <p:cNvPr id="11" name="Graphic 10">
            <a:extLst>
              <a:ext uri="{FF2B5EF4-FFF2-40B4-BE49-F238E27FC236}">
                <a16:creationId xmlns:a16="http://schemas.microsoft.com/office/drawing/2014/main" id="{299DC8D9-DC6F-6B68-C30E-D89F7A9C4313}"/>
              </a:ext>
            </a:extLst>
          </p:cNvPr>
          <p:cNvPicPr>
            <a:picLocks noChangeAspect="1"/>
          </p:cNvPicPr>
          <p:nvPr userDrawn="1"/>
        </p:nvPicPr>
        <p:blipFill>
          <a:blip>
            <a:alphaModFix amt="80000"/>
            <a:lum bright="-100000"/>
            <a:extLst>
              <a:ext uri="{96DAC541-7B7A-43D3-8B79-37D633B846F1}">
                <asvg:svgBlip xmlns:asvg="http://schemas.microsoft.com/office/drawing/2016/SVG/main" r:embed="rId7"/>
              </a:ext>
            </a:extLst>
          </a:blip>
          <a:stretch>
            <a:fillRect/>
          </a:stretch>
        </p:blipFill>
        <p:spPr>
          <a:xfrm>
            <a:off x="2608465" y="5199916"/>
            <a:ext cx="228600" cy="228600"/>
          </a:xfrm>
          <a:prstGeom prst="rect">
            <a:avLst/>
          </a:prstGeom>
        </p:spPr>
      </p:pic>
    </p:spTree>
    <p:extLst>
      <p:ext uri="{BB962C8B-B14F-4D97-AF65-F5344CB8AC3E}">
        <p14:creationId xmlns:p14="http://schemas.microsoft.com/office/powerpoint/2010/main" val="6589750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09259628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emf"/><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theme" Target="../theme/theme2.xml"/><Relationship Id="rId1" Type="http://schemas.openxmlformats.org/officeDocument/2006/relationships/slideLayout" Target="../slideLayouts/slideLayout6.xml"/><Relationship Id="rId4" Type="http://schemas.microsoft.com/office/2007/relationships/hdphoto" Target="../media/hdphoto2.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a:t>Confidential</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7"/>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69" r:id="rId1"/>
    <p:sldLayoutId id="2147483662" r:id="rId2"/>
    <p:sldLayoutId id="2147483792" r:id="rId3"/>
    <p:sldLayoutId id="2147483776" r:id="rId4"/>
    <p:sldLayoutId id="2147483793" r:id="rId5"/>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a:t>Confidential</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v20250902a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2669817532"/>
      </p:ext>
    </p:extLst>
  </p:cSld>
  <p:clrMap bg1="lt1" tx1="dk1" bg2="lt2" tx2="dk2" accent1="accent1" accent2="accent2" accent3="accent3" accent4="accent4" accent5="accent5" accent6="accent6" hlink="hlink" folHlink="folHlink"/>
  <p:sldLayoutIdLst>
    <p:sldLayoutId id="2147483799" r:id="rId1"/>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p15:clr>
            <a:srgbClr val="F26B43"/>
          </p15:clr>
        </p15:guide>
        <p15:guide id="2" pos="98">
          <p15:clr>
            <a:srgbClr val="F26B43"/>
          </p15:clr>
        </p15:guide>
        <p15:guide id="3" pos="234">
          <p15:clr>
            <a:srgbClr val="5ACBF0"/>
          </p15:clr>
        </p15:guide>
        <p15:guide id="4" orient="horz" pos="4024">
          <p15:clr>
            <a:srgbClr val="F26B43"/>
          </p15:clr>
        </p15:guide>
        <p15:guide id="5" pos="7582">
          <p15:clr>
            <a:srgbClr val="F26B43"/>
          </p15:clr>
        </p15:guide>
        <p15:guide id="6" orient="horz" pos="3941">
          <p15:clr>
            <a:srgbClr val="5ACBF0"/>
          </p15:clr>
        </p15:guide>
        <p15:guide id="7" pos="7446">
          <p15:clr>
            <a:srgbClr val="5ACBF0"/>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slideLayout" Target="../slideLayouts/slideLayout6.xml"/><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emf"/><Relationship Id="rId1" Type="http://schemas.openxmlformats.org/officeDocument/2006/relationships/slideLayout" Target="../slideLayouts/slideLayout6.xml"/><Relationship Id="rId4" Type="http://schemas.openxmlformats.org/officeDocument/2006/relationships/image" Target="../media/image16.svg"/></Relationships>
</file>

<file path=ppt/slides/_rels/slide9.xml.rels><?xml version="1.0" encoding="UTF-8" standalone="yes"?>
<Relationships xmlns="http://schemas.openxmlformats.org/package/2006/relationships"><Relationship Id="rId3" Type="http://schemas.openxmlformats.org/officeDocument/2006/relationships/image" Target="../media/image17.tiff"/><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18.emf"/><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11.sv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3.svg"/></Relationships>
</file>

<file path=ppt/slides/_rels/slide15.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24.sv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image" Target="../media/image19.sv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9B1408E6-E399-3AB5-FA0C-216DAFB328EE}"/>
              </a:ext>
            </a:extLst>
          </p:cNvPr>
          <p:cNvSpPr>
            <a:spLocks noGrp="1"/>
          </p:cNvSpPr>
          <p:nvPr>
            <p:ph type="body" sz="quarter" idx="13"/>
          </p:nvPr>
        </p:nvSpPr>
        <p:spPr/>
        <p:txBody>
          <a:bodyPr/>
          <a:lstStyle/>
          <a:p>
            <a:r>
              <a:rPr lang="en-US" noProof="0" dirty="0" err="1"/>
              <a:t>Reportgeneratordemo – Integrationtest-kafka</a:t>
            </a:r>
            <a:endParaRPr lang="en-US" noProof="0" dirty="0"/>
          </a:p>
        </p:txBody>
      </p:sp>
      <p:sp>
        <p:nvSpPr>
          <p:cNvPr id="3" name="Tijdelijke aanduiding voor tekst 2">
            <a:extLst>
              <a:ext uri="{FF2B5EF4-FFF2-40B4-BE49-F238E27FC236}">
                <a16:creationId xmlns:a16="http://schemas.microsoft.com/office/drawing/2014/main" id="{7344417F-5869-1AA1-3CB1-C663D0AA7B91}"/>
              </a:ext>
            </a:extLst>
          </p:cNvPr>
          <p:cNvSpPr>
            <a:spLocks noGrp="1"/>
          </p:cNvSpPr>
          <p:nvPr>
            <p:ph type="body" sz="quarter" idx="14"/>
          </p:nvPr>
        </p:nvSpPr>
        <p:spPr/>
        <p:txBody>
          <a:bodyPr/>
          <a:lstStyle/>
          <a:p>
            <a:r>
              <a:rPr lang="en-US" noProof="0" dirty="0"/>
              <a:t>Sigrid System Report</a:t>
            </a:r>
          </a:p>
        </p:txBody>
      </p:sp>
      <p:sp>
        <p:nvSpPr>
          <p:cNvPr id="7" name="Tijdelijke aanduiding voor voettekst 6">
            <a:extLst>
              <a:ext uri="{FF2B5EF4-FFF2-40B4-BE49-F238E27FC236}">
                <a16:creationId xmlns:a16="http://schemas.microsoft.com/office/drawing/2014/main" id="{F8AE1EA7-9945-5054-6361-8E1EAAA9FC90}"/>
              </a:ext>
            </a:extLst>
          </p:cNvPr>
          <p:cNvSpPr>
            <a:spLocks noGrp="1"/>
          </p:cNvSpPr>
          <p:nvPr>
            <p:ph type="ftr" sz="quarter" idx="44"/>
          </p:nvPr>
        </p:nvSpPr>
        <p:spPr/>
        <p:txBody>
          <a:bodyPr/>
          <a:lstStyle/>
          <a:p>
            <a:r>
              <a:rPr lang="en-US" noProof="0" dirty="0"/>
              <a:t>Confidential</a:t>
            </a:r>
          </a:p>
        </p:txBody>
      </p:sp>
      <p:sp>
        <p:nvSpPr>
          <p:cNvPr id="5" name="Tijdelijke aanduiding voor tekst 4">
            <a:extLst>
              <a:ext uri="{FF2B5EF4-FFF2-40B4-BE49-F238E27FC236}">
                <a16:creationId xmlns:a16="http://schemas.microsoft.com/office/drawing/2014/main" id="{96608443-E271-3AA0-6885-D7332E922BEC}"/>
              </a:ext>
            </a:extLst>
          </p:cNvPr>
          <p:cNvSpPr>
            <a:spLocks noGrp="1"/>
          </p:cNvSpPr>
          <p:nvPr>
            <p:ph type="body" sz="quarter" idx="16"/>
          </p:nvPr>
        </p:nvSpPr>
        <p:spPr/>
        <p:txBody>
          <a:bodyPr/>
          <a:lstStyle/>
          <a:p>
            <a:r>
              <a:rPr lang="en-US" noProof="0" dirty="0" err="1"/>
              <a:t>15 March 2026</a:t>
            </a:r>
            <a:endParaRPr lang="en-US" noProof="0" dirty="0"/>
          </a:p>
        </p:txBody>
      </p:sp>
    </p:spTree>
    <p:extLst>
      <p:ext uri="{BB962C8B-B14F-4D97-AF65-F5344CB8AC3E}">
        <p14:creationId xmlns:p14="http://schemas.microsoft.com/office/powerpoint/2010/main" val="14378722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F1FBE-0EE4-1DE9-784A-DD4670182E35}"/>
            </a:ext>
          </a:extLst>
        </p:cNvPr>
        <p:cNvGrpSpPr/>
        <p:nvPr/>
      </p:nvGrpSpPr>
      <p:grpSpPr>
        <a:xfrm>
          <a:off x="0" y="0"/>
          <a:ext cx="0" cy="0"/>
          <a:chOff x="0" y="0"/>
          <a:chExt cx="0" cy="0"/>
        </a:xfrm>
      </p:grpSpPr>
      <p:sp>
        <p:nvSpPr>
          <p:cNvPr id="2" name="Tijdelijke aanduiding voor voettekst 1">
            <a:extLst>
              <a:ext uri="{FF2B5EF4-FFF2-40B4-BE49-F238E27FC236}">
                <a16:creationId xmlns:a16="http://schemas.microsoft.com/office/drawing/2014/main" id="{EB7C8C91-AAEE-88A6-BA81-7A5C3377C972}"/>
              </a:ext>
            </a:extLst>
          </p:cNvPr>
          <p:cNvSpPr>
            <a:spLocks noGrp="1"/>
          </p:cNvSpPr>
          <p:nvPr>
            <p:ph type="ftr" sz="quarter" idx="14"/>
          </p:nvPr>
        </p:nvSpPr>
        <p:spPr/>
        <p:txBody>
          <a:bodyPr/>
          <a:lstStyle/>
          <a:p>
            <a:r>
              <a:rPr lang="en-US" noProof="0" dirty="0"/>
              <a:t>Confidential</a:t>
            </a:r>
          </a:p>
        </p:txBody>
      </p:sp>
      <p:sp>
        <p:nvSpPr>
          <p:cNvPr id="3" name="Tijdelijke aanduiding voor dianummer 2">
            <a:extLst>
              <a:ext uri="{FF2B5EF4-FFF2-40B4-BE49-F238E27FC236}">
                <a16:creationId xmlns:a16="http://schemas.microsoft.com/office/drawing/2014/main" id="{E8BE9C0E-8A97-0BC2-7291-A030EA223EC0}"/>
              </a:ext>
            </a:extLst>
          </p:cNvPr>
          <p:cNvSpPr>
            <a:spLocks noGrp="1"/>
          </p:cNvSpPr>
          <p:nvPr>
            <p:ph type="sldNum" sz="quarter" idx="15"/>
          </p:nvPr>
        </p:nvSpPr>
        <p:spPr/>
        <p:txBody>
          <a:bodyPr/>
          <a:lstStyle/>
          <a:p>
            <a:fld id="{E242BD21-9B61-2246-BCB1-4BE5E1BEBE1C}" type="slidenum">
              <a:rPr lang="en-US" noProof="0" smtClean="0"/>
              <a:pPr/>
              <a:t>2</a:t>
            </a:fld>
            <a:endParaRPr lang="en-US" noProof="0" dirty="0"/>
          </a:p>
        </p:txBody>
      </p:sp>
      <p:sp>
        <p:nvSpPr>
          <p:cNvPr id="4" name="Titel 3">
            <a:extLst>
              <a:ext uri="{FF2B5EF4-FFF2-40B4-BE49-F238E27FC236}">
                <a16:creationId xmlns:a16="http://schemas.microsoft.com/office/drawing/2014/main" id="{4A08CBCE-48E4-6A13-C16A-38E5FB270E0C}"/>
              </a:ext>
            </a:extLst>
          </p:cNvPr>
          <p:cNvSpPr>
            <a:spLocks noGrp="1"/>
          </p:cNvSpPr>
          <p:nvPr>
            <p:ph type="title"/>
          </p:nvPr>
        </p:nvSpPr>
        <p:spPr/>
        <p:txBody>
          <a:bodyPr/>
          <a:lstStyle/>
          <a:p>
            <a:r>
              <a:rPr lang="en-US" noProof="0" dirty="0"/>
              <a:t>Outline of topics</a:t>
            </a:r>
          </a:p>
        </p:txBody>
      </p:sp>
      <p:sp>
        <p:nvSpPr>
          <p:cNvPr id="5" name="Tijdelijke aanduiding voor inhoud 4">
            <a:extLst>
              <a:ext uri="{FF2B5EF4-FFF2-40B4-BE49-F238E27FC236}">
                <a16:creationId xmlns:a16="http://schemas.microsoft.com/office/drawing/2014/main" id="{49B50A75-CF21-9538-EE61-6C987C979175}"/>
              </a:ext>
            </a:extLst>
          </p:cNvPr>
          <p:cNvSpPr>
            <a:spLocks noGrp="1"/>
          </p:cNvSpPr>
          <p:nvPr>
            <p:ph sz="quarter" idx="16"/>
          </p:nvPr>
        </p:nvSpPr>
        <p:spPr>
          <a:xfrm>
            <a:off x="4467600" y="738000"/>
            <a:ext cx="7092000" cy="3750390"/>
          </a:xfrm>
        </p:spPr>
        <p:txBody>
          <a:bodyPr/>
          <a:lstStyle/>
          <a:p>
            <a:r>
              <a:rPr lang="en-US" noProof="0" dirty="0"/>
              <a:t>Summary</a:t>
            </a:r>
          </a:p>
          <a:p>
            <a:r>
              <a:rPr lang="en-US" noProof="0" dirty="0"/>
              <a:t>Key findings</a:t>
            </a:r>
          </a:p>
          <a:p>
            <a:endParaRPr lang="en-US" noProof="0" dirty="0"/>
          </a:p>
          <a:p>
            <a:pPr marL="0" indent="0">
              <a:buNone/>
            </a:pPr>
            <a:endParaRPr lang="en-US" noProof="0" dirty="0"/>
          </a:p>
          <a:p>
            <a:pPr marL="0" indent="0">
              <a:buNone/>
            </a:pPr>
            <a:endParaRPr lang="en-US" sz="200" noProof="0" dirty="0"/>
          </a:p>
          <a:p>
            <a:pPr marL="0" indent="0">
              <a:buNone/>
            </a:pPr>
            <a:endParaRPr lang="en-US" sz="800" noProof="0" dirty="0"/>
          </a:p>
        </p:txBody>
      </p:sp>
      <p:grpSp>
        <p:nvGrpSpPr>
          <p:cNvPr id="6" name="Group 4">
            <a:extLst>
              <a:ext uri="{FF2B5EF4-FFF2-40B4-BE49-F238E27FC236}">
                <a16:creationId xmlns:a16="http://schemas.microsoft.com/office/drawing/2014/main" id="{79A0E4AB-1835-F9FC-08F8-B7688DC89C2B}"/>
              </a:ext>
            </a:extLst>
          </p:cNvPr>
          <p:cNvGrpSpPr/>
          <p:nvPr/>
        </p:nvGrpSpPr>
        <p:grpSpPr>
          <a:xfrm>
            <a:off x="4467601" y="1994958"/>
            <a:ext cx="8637048" cy="2061327"/>
            <a:chOff x="1187436" y="2607314"/>
            <a:chExt cx="8637048" cy="2061327"/>
          </a:xfrm>
        </p:grpSpPr>
        <p:sp>
          <p:nvSpPr>
            <p:cNvPr id="7" name="Rectangle 2">
              <a:extLst>
                <a:ext uri="{FF2B5EF4-FFF2-40B4-BE49-F238E27FC236}">
                  <a16:creationId xmlns:a16="http://schemas.microsoft.com/office/drawing/2014/main" id="{5939B06D-D176-9339-9185-77C476E3E6E7}"/>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 name="Rectangle 5">
              <a:extLst>
                <a:ext uri="{FF2B5EF4-FFF2-40B4-BE49-F238E27FC236}">
                  <a16:creationId xmlns:a16="http://schemas.microsoft.com/office/drawing/2014/main" id="{FF5BD665-CAB7-E865-0251-67BCDB5AE518}"/>
                </a:ext>
              </a:extLst>
            </p:cNvPr>
            <p:cNvSpPr/>
            <p:nvPr/>
          </p:nvSpPr>
          <p:spPr>
            <a:xfrm>
              <a:off x="2402756" y="278573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1</a:t>
              </a:r>
            </a:p>
          </p:txBody>
        </p:sp>
        <p:sp>
          <p:nvSpPr>
            <p:cNvPr id="9" name="Rectangle 10">
              <a:extLst>
                <a:ext uri="{FF2B5EF4-FFF2-40B4-BE49-F238E27FC236}">
                  <a16:creationId xmlns:a16="http://schemas.microsoft.com/office/drawing/2014/main" id="{17B7A7D5-B584-1F9B-B4CC-9B65AD7A8E8D}"/>
                </a:ext>
              </a:extLst>
            </p:cNvPr>
            <p:cNvSpPr/>
            <p:nvPr/>
          </p:nvSpPr>
          <p:spPr>
            <a:xfrm>
              <a:off x="2402756" y="3306726"/>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2</a:t>
              </a:r>
            </a:p>
          </p:txBody>
        </p:sp>
        <p:sp>
          <p:nvSpPr>
            <p:cNvPr id="10" name="Rectangle 11">
              <a:extLst>
                <a:ext uri="{FF2B5EF4-FFF2-40B4-BE49-F238E27FC236}">
                  <a16:creationId xmlns:a16="http://schemas.microsoft.com/office/drawing/2014/main" id="{6074CCE0-0194-F0EA-B27E-943120422D60}"/>
                </a:ext>
              </a:extLst>
            </p:cNvPr>
            <p:cNvSpPr/>
            <p:nvPr/>
          </p:nvSpPr>
          <p:spPr>
            <a:xfrm>
              <a:off x="2402756" y="382772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3</a:t>
              </a:r>
            </a:p>
          </p:txBody>
        </p:sp>
        <p:sp>
          <p:nvSpPr>
            <p:cNvPr id="15" name="TextBox 6">
              <a:extLst>
                <a:ext uri="{FF2B5EF4-FFF2-40B4-BE49-F238E27FC236}">
                  <a16:creationId xmlns:a16="http://schemas.microsoft.com/office/drawing/2014/main" id="{0EF87031-3EF5-F01F-D64D-85C7CFBA18AE}"/>
                </a:ext>
              </a:extLst>
            </p:cNvPr>
            <p:cNvSpPr txBox="1"/>
            <p:nvPr/>
          </p:nvSpPr>
          <p:spPr>
            <a:xfrm>
              <a:off x="2828599" y="2796359"/>
              <a:ext cx="1970984"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Cost estimation</a:t>
              </a:r>
            </a:p>
          </p:txBody>
        </p:sp>
        <p:sp>
          <p:nvSpPr>
            <p:cNvPr id="16" name="TextBox 16">
              <a:extLst>
                <a:ext uri="{FF2B5EF4-FFF2-40B4-BE49-F238E27FC236}">
                  <a16:creationId xmlns:a16="http://schemas.microsoft.com/office/drawing/2014/main" id="{00B23D67-C548-2B66-EA13-9434D6FD697D}"/>
                </a:ext>
              </a:extLst>
            </p:cNvPr>
            <p:cNvSpPr txBox="1"/>
            <p:nvPr/>
          </p:nvSpPr>
          <p:spPr>
            <a:xfrm>
              <a:off x="2827099" y="3831388"/>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Architecture quality</a:t>
              </a:r>
            </a:p>
          </p:txBody>
        </p:sp>
        <p:sp>
          <p:nvSpPr>
            <p:cNvPr id="17" name="TextBox 17">
              <a:extLst>
                <a:ext uri="{FF2B5EF4-FFF2-40B4-BE49-F238E27FC236}">
                  <a16:creationId xmlns:a16="http://schemas.microsoft.com/office/drawing/2014/main" id="{BBBD1C3A-7C78-085E-9AAC-1418416B2E1B}"/>
                </a:ext>
              </a:extLst>
            </p:cNvPr>
            <p:cNvSpPr txBox="1"/>
            <p:nvPr/>
          </p:nvSpPr>
          <p:spPr>
            <a:xfrm>
              <a:off x="2827097" y="3313873"/>
              <a:ext cx="1972487"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Maintainability</a:t>
              </a:r>
            </a:p>
          </p:txBody>
        </p:sp>
        <p:sp>
          <p:nvSpPr>
            <p:cNvPr id="23" name="TextBox 24">
              <a:extLst>
                <a:ext uri="{FF2B5EF4-FFF2-40B4-BE49-F238E27FC236}">
                  <a16:creationId xmlns:a16="http://schemas.microsoft.com/office/drawing/2014/main" id="{FC69EDAD-457C-318D-A7E6-DA9C35F4FAE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dirty="0">
                <a:solidFill>
                  <a:schemeClr val="tx2"/>
                </a:solidFill>
              </a:endParaRPr>
            </a:p>
          </p:txBody>
        </p:sp>
        <p:sp>
          <p:nvSpPr>
            <p:cNvPr id="24" name="Rectangle 11">
              <a:extLst>
                <a:ext uri="{FF2B5EF4-FFF2-40B4-BE49-F238E27FC236}">
                  <a16:creationId xmlns:a16="http://schemas.microsoft.com/office/drawing/2014/main" id="{F1E7B407-491E-C161-9E2F-BB358CDF7912}"/>
                </a:ext>
              </a:extLst>
            </p:cNvPr>
            <p:cNvSpPr/>
            <p:nvPr/>
          </p:nvSpPr>
          <p:spPr>
            <a:xfrm>
              <a:off x="2402756" y="4339032"/>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4</a:t>
              </a:r>
            </a:p>
          </p:txBody>
        </p:sp>
        <p:sp>
          <p:nvSpPr>
            <p:cNvPr id="25" name="TextBox 16">
              <a:extLst>
                <a:ext uri="{FF2B5EF4-FFF2-40B4-BE49-F238E27FC236}">
                  <a16:creationId xmlns:a16="http://schemas.microsoft.com/office/drawing/2014/main" id="{C89DA33C-62C3-28D0-7E83-E5BCB3EC0D72}"/>
                </a:ext>
              </a:extLst>
            </p:cNvPr>
            <p:cNvSpPr txBox="1"/>
            <p:nvPr/>
          </p:nvSpPr>
          <p:spPr>
            <a:xfrm>
              <a:off x="2827099" y="4342700"/>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Open source health</a:t>
              </a:r>
            </a:p>
          </p:txBody>
        </p:sp>
      </p:grpSp>
      <p:sp>
        <p:nvSpPr>
          <p:cNvPr id="26" name="Afgeronde rechthoek 27">
            <a:extLst>
              <a:ext uri="{FF2B5EF4-FFF2-40B4-BE49-F238E27FC236}">
                <a16:creationId xmlns:a16="http://schemas.microsoft.com/office/drawing/2014/main" id="{11022F4E-7F91-B0CF-1E9A-F01F9CA23077}"/>
              </a:ext>
            </a:extLst>
          </p:cNvPr>
          <p:cNvSpPr/>
          <p:nvPr/>
        </p:nvSpPr>
        <p:spPr>
          <a:xfrm>
            <a:off x="4467599" y="761238"/>
            <a:ext cx="7567201" cy="724260"/>
          </a:xfrm>
          <a:prstGeom prst="roundRect">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dirty="0">
              <a:solidFill>
                <a:schemeClr val="tx2"/>
              </a:solidFill>
              <a:latin typeface="Noir Pro Medium" pitchFamily="2" charset="0"/>
            </a:endParaRPr>
          </a:p>
        </p:txBody>
      </p:sp>
    </p:spTree>
    <p:extLst>
      <p:ext uri="{BB962C8B-B14F-4D97-AF65-F5344CB8AC3E}">
        <p14:creationId xmlns:p14="http://schemas.microsoft.com/office/powerpoint/2010/main" val="1532016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62927-47E6-44AC-6848-2A522D68C79D}"/>
            </a:ext>
          </a:extLst>
        </p:cNvPr>
        <p:cNvGrpSpPr/>
        <p:nvPr/>
      </p:nvGrpSpPr>
      <p:grpSpPr>
        <a:xfrm>
          <a:off x="0" y="0"/>
          <a:ext cx="0" cy="0"/>
          <a:chOff x="0" y="0"/>
          <a:chExt cx="0" cy="0"/>
        </a:xfrm>
      </p:grpSpPr>
      <p:sp>
        <p:nvSpPr>
          <p:cNvPr id="17" name="Text Placeholder 16">
            <a:extLst>
              <a:ext uri="{FF2B5EF4-FFF2-40B4-BE49-F238E27FC236}">
                <a16:creationId xmlns:a16="http://schemas.microsoft.com/office/drawing/2014/main" id="{201DDDD2-DA8F-47F7-F1AB-C656B7F7641C}"/>
              </a:ext>
            </a:extLst>
          </p:cNvPr>
          <p:cNvSpPr>
            <a:spLocks noGrp="1"/>
          </p:cNvSpPr>
          <p:nvPr>
            <p:ph type="body" sz="quarter" idx="12"/>
          </p:nvPr>
        </p:nvSpPr>
        <p:spPr>
          <a:xfrm>
            <a:off x="381600" y="129600"/>
            <a:ext cx="1663129" cy="228145"/>
          </a:xfrm>
        </p:spPr>
        <p:txBody>
          <a:bodyPr/>
          <a:lstStyle/>
          <a:p>
            <a:r>
              <a:rPr lang="en-US" noProof="0" dirty="0"/>
              <a:t>Management summary</a:t>
            </a:r>
          </a:p>
        </p:txBody>
      </p:sp>
      <p:sp>
        <p:nvSpPr>
          <p:cNvPr id="16" name="Title 15">
            <a:extLst>
              <a:ext uri="{FF2B5EF4-FFF2-40B4-BE49-F238E27FC236}">
                <a16:creationId xmlns:a16="http://schemas.microsoft.com/office/drawing/2014/main" id="{A49DECDC-D2A6-44D4-EAD9-E018E7E625AA}"/>
              </a:ext>
            </a:extLst>
          </p:cNvPr>
          <p:cNvSpPr>
            <a:spLocks noGrp="1"/>
          </p:cNvSpPr>
          <p:nvPr>
            <p:ph type="title"/>
          </p:nvPr>
        </p:nvSpPr>
        <p:spPr>
          <a:xfrm>
            <a:off x="154800" y="594000"/>
            <a:ext cx="11880000" cy="402291"/>
          </a:xfrm>
        </p:spPr>
        <p:txBody>
          <a:bodyPr/>
          <a:lstStyle/>
          <a:p>
            <a:r>
              <a:rPr lang="en-US" noProof="0" dirty="0">
                <a:latin typeface="Noir Pro Medium"/>
              </a:rPr>
              <a:t>System "</a:t>
            </a:r>
            <a:r>
              <a:rPr lang="en-US" noProof="0" dirty="0" err="1"/>
              <a:t>Integrationtest-kafka</a:t>
            </a:r>
            <a:r>
              <a:rPr lang="en-US" noProof="0" dirty="0">
                <a:latin typeface="Noir Pro Medium"/>
              </a:rPr>
              <a:t>" technical quality: management summary</a:t>
            </a:r>
          </a:p>
        </p:txBody>
      </p:sp>
      <p:sp>
        <p:nvSpPr>
          <p:cNvPr id="2" name="Slide Number Placeholder 1">
            <a:extLst>
              <a:ext uri="{FF2B5EF4-FFF2-40B4-BE49-F238E27FC236}">
                <a16:creationId xmlns:a16="http://schemas.microsoft.com/office/drawing/2014/main" id="{72B1AA20-5D92-4ACB-8694-AFA2A56D3948}"/>
              </a:ext>
            </a:extLst>
          </p:cNvPr>
          <p:cNvSpPr>
            <a:spLocks noGrp="1"/>
          </p:cNvSpPr>
          <p:nvPr>
            <p:ph type="sldNum" sz="quarter" idx="4294967295"/>
          </p:nvPr>
        </p:nvSpPr>
        <p:spPr>
          <a:xfrm>
            <a:off x="11941175" y="6550025"/>
            <a:ext cx="250825" cy="236538"/>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noProof="0" smtClean="0"/>
              <a:pPr/>
              <a:t>3</a:t>
            </a:fld>
            <a:endParaRPr lang="en-US" noProof="0" dirty="0"/>
          </a:p>
        </p:txBody>
      </p:sp>
      <p:sp>
        <p:nvSpPr>
          <p:cNvPr id="10" name="Rounded Rectangle 9">
            <a:extLst>
              <a:ext uri="{FF2B5EF4-FFF2-40B4-BE49-F238E27FC236}">
                <a16:creationId xmlns:a16="http://schemas.microsoft.com/office/drawing/2014/main" id="{DD9C1E99-12FA-EBBB-8F43-FD9A6A738FB3}"/>
              </a:ext>
            </a:extLst>
          </p:cNvPr>
          <p:cNvSpPr/>
          <p:nvPr/>
        </p:nvSpPr>
        <p:spPr>
          <a:xfrm>
            <a:off x="381600" y="1465144"/>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Maintainability</a:t>
            </a:r>
          </a:p>
        </p:txBody>
      </p:sp>
      <p:sp>
        <p:nvSpPr>
          <p:cNvPr id="21" name="Rounded Rectangle 20">
            <a:extLst>
              <a:ext uri="{FF2B5EF4-FFF2-40B4-BE49-F238E27FC236}">
                <a16:creationId xmlns:a16="http://schemas.microsoft.com/office/drawing/2014/main" id="{B659F6A8-A673-0A9C-A1B3-F382F0434C4C}"/>
              </a:ext>
            </a:extLst>
          </p:cNvPr>
          <p:cNvSpPr/>
          <p:nvPr/>
        </p:nvSpPr>
        <p:spPr>
          <a:xfrm>
            <a:off x="381600" y="2428035"/>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ea typeface="+mn-lt"/>
                <a:cs typeface="+mn-lt"/>
              </a:rPr>
              <a:t>Technology choice</a:t>
            </a:r>
            <a:endParaRPr lang="en-US" sz="1600" noProof="0" dirty="0">
              <a:solidFill>
                <a:schemeClr val="accent2"/>
              </a:solidFill>
            </a:endParaRPr>
          </a:p>
        </p:txBody>
      </p:sp>
      <p:sp>
        <p:nvSpPr>
          <p:cNvPr id="22" name="Rounded Rectangle 21">
            <a:extLst>
              <a:ext uri="{FF2B5EF4-FFF2-40B4-BE49-F238E27FC236}">
                <a16:creationId xmlns:a16="http://schemas.microsoft.com/office/drawing/2014/main" id="{01B6F40A-D941-D662-B986-01AE8191B15D}"/>
              </a:ext>
            </a:extLst>
          </p:cNvPr>
          <p:cNvSpPr/>
          <p:nvPr/>
        </p:nvSpPr>
        <p:spPr>
          <a:xfrm>
            <a:off x="381600" y="3390926"/>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Test code</a:t>
            </a:r>
          </a:p>
        </p:txBody>
      </p:sp>
      <p:sp>
        <p:nvSpPr>
          <p:cNvPr id="23" name="Rounded Rectangle 22">
            <a:extLst>
              <a:ext uri="{FF2B5EF4-FFF2-40B4-BE49-F238E27FC236}">
                <a16:creationId xmlns:a16="http://schemas.microsoft.com/office/drawing/2014/main" id="{C5697C66-3A15-D459-3D27-F256D4839B51}"/>
              </a:ext>
            </a:extLst>
          </p:cNvPr>
          <p:cNvSpPr/>
          <p:nvPr/>
        </p:nvSpPr>
        <p:spPr>
          <a:xfrm>
            <a:off x="381600" y="4353817"/>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rPr>
              <a:t>Architecture Quality</a:t>
            </a:r>
          </a:p>
        </p:txBody>
      </p:sp>
      <p:sp>
        <p:nvSpPr>
          <p:cNvPr id="24" name="Rounded Rectangle 23">
            <a:extLst>
              <a:ext uri="{FF2B5EF4-FFF2-40B4-BE49-F238E27FC236}">
                <a16:creationId xmlns:a16="http://schemas.microsoft.com/office/drawing/2014/main" id="{8B5A0131-A470-60F6-4CE8-D7B7746B9737}"/>
              </a:ext>
            </a:extLst>
          </p:cNvPr>
          <p:cNvSpPr/>
          <p:nvPr/>
        </p:nvSpPr>
        <p:spPr>
          <a:xfrm>
            <a:off x="381600" y="5316709"/>
            <a:ext cx="1779709" cy="900222"/>
          </a:xfrm>
          <a:prstGeom prst="roundRect">
            <a:avLst>
              <a:gd name="adj" fmla="val 19109"/>
            </a:avLst>
          </a:prstGeom>
          <a:gradFill flip="none" rotWithShape="1">
            <a:gsLst>
              <a:gs pos="0">
                <a:schemeClr val="bg1"/>
              </a:gs>
              <a:gs pos="100000">
                <a:srgbClr val="F4F8FF">
                  <a:alpha val="63066"/>
                </a:srgbClr>
              </a:gs>
            </a:gsLst>
            <a:lin ang="0" scaled="1"/>
            <a:tileRect/>
          </a:gradFill>
          <a:ln w="3175">
            <a:gradFill>
              <a:gsLst>
                <a:gs pos="0">
                  <a:schemeClr val="accent1">
                    <a:lumMod val="5000"/>
                    <a:lumOff val="95000"/>
                  </a:schemeClr>
                </a:gs>
                <a:gs pos="100000">
                  <a:schemeClr val="accent1">
                    <a:lumMod val="30000"/>
                    <a:lumOff val="70000"/>
                  </a:schemeClr>
                </a:gs>
              </a:gsLst>
              <a:lin ang="6600000" scaled="0"/>
            </a:gradFill>
          </a:ln>
          <a:effectLst>
            <a:outerShdw blurRad="50800" dist="50800" dir="5400000" algn="ctr" rotWithShape="0">
              <a:srgbClr val="000000">
                <a:alpha val="2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44000" tIns="72000" rIns="108000" bIns="72000" rtlCol="0" anchor="ctr" anchorCtr="0"/>
          <a:lstStyle/>
          <a:p>
            <a:pPr algn="ctr"/>
            <a:r>
              <a:rPr lang="en-US" sz="1600" noProof="0" dirty="0">
                <a:solidFill>
                  <a:schemeClr val="accent2"/>
                </a:solidFill>
                <a:ea typeface="+mn-lt"/>
                <a:cs typeface="+mn-lt"/>
              </a:rPr>
              <a:t>Open source health</a:t>
            </a:r>
            <a:endParaRPr lang="en-US" sz="1600" noProof="0" dirty="0">
              <a:solidFill>
                <a:schemeClr val="accent2"/>
              </a:solidFill>
            </a:endParaRPr>
          </a:p>
        </p:txBody>
      </p:sp>
      <p:sp>
        <p:nvSpPr>
          <p:cNvPr id="25" name="TextBox 24">
            <a:extLst>
              <a:ext uri="{FF2B5EF4-FFF2-40B4-BE49-F238E27FC236}">
                <a16:creationId xmlns:a16="http://schemas.microsoft.com/office/drawing/2014/main" id="{6A214DA1-21AC-CB54-8885-268F55934D9A}"/>
              </a:ext>
            </a:extLst>
          </p:cNvPr>
          <p:cNvSpPr txBox="1"/>
          <p:nvPr/>
        </p:nvSpPr>
        <p:spPr>
          <a:xfrm>
            <a:off x="2549236" y="1556170"/>
            <a:ext cx="9210962" cy="809261"/>
          </a:xfrm>
          <a:prstGeom prst="rect">
            <a:avLst/>
          </a:prstGeom>
          <a:noFill/>
        </p:spPr>
        <p:txBody>
          <a:bodyPr wrap="square" lIns="90000" rtlCol="0" anchor="t">
            <a:spAutoFit/>
          </a:bodyPr>
          <a:lstStyle/>
          <a:p>
            <a:pPr>
              <a:lnSpc>
                <a:spcPct val="113000"/>
              </a:lnSpc>
            </a:pPr>
            <a:r>
              <a:rPr lang="en-US" sz="1400" noProof="0" dirty="0">
                <a:ea typeface="+mn-lt"/>
                <a:cs typeface="+mn-lt"/>
              </a:rPr>
              <a:t>The system scores at the market average with </a:t>
            </a:r>
            <a:r>
              <a:rPr lang="en-US" sz="1400" b="1" noProof="0" dirty="0" err="1">
                <a:solidFill>
                  <a:schemeClr val="accent2"/>
                </a:solidFill>
              </a:rPr>
              <a:t>2.6 stars (</a:t>
            </a:r>
            <a:r>
              <a:rPr lang="en-US" sz="1400" b="1" noProof="0" dirty="0" err="1">
                <a:solidFill>
                  <a:schemeClr val="accent2"/>
                </a:solidFill>
                <a:latin typeface="Calibri" panose="020F0502020204030204" pitchFamily="34" charset="0"/>
                <a:cs typeface="Calibri" panose="020F0502020204030204" pitchFamily="34" charset="0"/>
              </a:rPr>
              <a:t>★★★☆☆</a:t>
            </a:r>
            <a:r>
              <a:rPr lang="en-US" sz="1400" b="1" noProof="0" dirty="0">
                <a:solidFill>
                  <a:schemeClr val="accent2"/>
                </a:solidFill>
              </a:rPr>
              <a:t>) </a:t>
            </a:r>
            <a:r>
              <a:rPr lang="en-US" sz="1400" noProof="0" dirty="0">
                <a:ea typeface="+mn-lt"/>
                <a:cs typeface="+mn-lt"/>
              </a:rPr>
              <a:t>on the SIG maintainability model. This indicates average maintenance costs and time to market for functional changes. The system shows high risk in its tightly coupled modules</a:t>
            </a:r>
          </a:p>
        </p:txBody>
      </p:sp>
      <p:sp>
        <p:nvSpPr>
          <p:cNvPr id="26" name="TextBox 25">
            <a:extLst>
              <a:ext uri="{FF2B5EF4-FFF2-40B4-BE49-F238E27FC236}">
                <a16:creationId xmlns:a16="http://schemas.microsoft.com/office/drawing/2014/main" id="{3C064188-8D2E-E6DB-CEA1-90C74176B0E2}"/>
              </a:ext>
            </a:extLst>
          </p:cNvPr>
          <p:cNvSpPr txBox="1"/>
          <p:nvPr/>
        </p:nvSpPr>
        <p:spPr>
          <a:xfrm>
            <a:off x="2549236" y="2594716"/>
            <a:ext cx="9210962" cy="523220"/>
          </a:xfrm>
          <a:prstGeom prst="rect">
            <a:avLst/>
          </a:prstGeom>
          <a:noFill/>
        </p:spPr>
        <p:txBody>
          <a:bodyPr wrap="square" lIns="90000" rtlCol="0" anchor="t">
            <a:spAutoFit/>
          </a:bodyPr>
          <a:lstStyle/>
          <a:p>
            <a:r>
              <a:rPr lang="en-US" sz="1400" noProof="0" dirty="0"/>
              <a:t>The system is 43.0 PY (386,459 LOC) large. The system is built using common and modern technologies. Its main technology is Java.</a:t>
            </a:r>
          </a:p>
        </p:txBody>
      </p:sp>
      <p:sp>
        <p:nvSpPr>
          <p:cNvPr id="27" name="TextBox 26">
            <a:extLst>
              <a:ext uri="{FF2B5EF4-FFF2-40B4-BE49-F238E27FC236}">
                <a16:creationId xmlns:a16="http://schemas.microsoft.com/office/drawing/2014/main" id="{F79A5C80-18ED-D98C-0E78-B31D0C0E8B8E}"/>
              </a:ext>
            </a:extLst>
          </p:cNvPr>
          <p:cNvSpPr txBox="1"/>
          <p:nvPr/>
        </p:nvSpPr>
        <p:spPr>
          <a:xfrm>
            <a:off x="2549236" y="3579427"/>
            <a:ext cx="9210962" cy="307777"/>
          </a:xfrm>
          <a:prstGeom prst="rect">
            <a:avLst/>
          </a:prstGeom>
          <a:noFill/>
        </p:spPr>
        <p:txBody>
          <a:bodyPr wrap="square" lIns="90000" rtlCol="0" anchor="t">
            <a:spAutoFit/>
          </a:bodyPr>
          <a:lstStyle/>
          <a:p>
            <a:r>
              <a:rPr lang="en-US" sz="1400" noProof="0" dirty="0"/>
              <a:t>The system has a test/code ratio of 157%. This indicates that an extremely mature automated testing suite is in place, that will likely catch breaking changes at an early stage. This increases developer velocity and reduces bugs in production.</a:t>
            </a:r>
            <a:endParaRPr lang="en-US" sz="1400" noProof="0" dirty="0">
              <a:ea typeface="+mn-lt"/>
              <a:cs typeface="+mn-lt"/>
            </a:endParaRPr>
          </a:p>
        </p:txBody>
      </p:sp>
      <p:sp>
        <p:nvSpPr>
          <p:cNvPr id="28" name="TextBox 27">
            <a:extLst>
              <a:ext uri="{FF2B5EF4-FFF2-40B4-BE49-F238E27FC236}">
                <a16:creationId xmlns:a16="http://schemas.microsoft.com/office/drawing/2014/main" id="{F31767D0-0BD3-1B3E-29E4-4BF186AA0949}"/>
              </a:ext>
            </a:extLst>
          </p:cNvPr>
          <p:cNvSpPr txBox="1"/>
          <p:nvPr/>
        </p:nvSpPr>
        <p:spPr>
          <a:xfrm>
            <a:off x="2549236" y="4396144"/>
            <a:ext cx="9210962" cy="738664"/>
          </a:xfrm>
          <a:prstGeom prst="rect">
            <a:avLst/>
          </a:prstGeom>
          <a:noFill/>
        </p:spPr>
        <p:txBody>
          <a:bodyPr wrap="square" lIns="90000" rtlCol="0" anchor="t">
            <a:spAutoFit/>
          </a:bodyPr>
          <a:lstStyle/>
          <a:p>
            <a:r>
              <a:rPr lang="en-US" sz="1400" noProof="0" dirty="0"/>
              <a:t>The system rates </a:t>
            </a:r>
            <a:r>
              <a:rPr lang="en-US" sz="1400" b="1" noProof="0" dirty="0" err="1">
                <a:solidFill>
                  <a:schemeClr val="accent2"/>
                </a:solidFill>
                <a:ea typeface="+mn-lt"/>
                <a:cs typeface="+mn-lt"/>
              </a:rPr>
              <a:t>2.6 stars (★★★☆☆)</a:t>
            </a:r>
            <a:r>
              <a:rPr lang="en-US" sz="1400" b="1" noProof="0" dirty="0"/>
              <a:t> </a:t>
            </a:r>
            <a:r>
              <a:rPr lang="en-US" sz="1400" noProof="0" dirty="0"/>
              <a:t>on the SIG Architecture Quality model, at the market average. The system's low score in Component Coupling constrains architecture, constraining evolution and imposing high-impact changes, impeding system adaptability.</a:t>
            </a:r>
          </a:p>
          <a:p>
            <a:endParaRPr lang="en-US" sz="1400" noProof="0" dirty="0">
              <a:ea typeface="+mn-lt"/>
              <a:cs typeface="+mn-lt"/>
            </a:endParaRPr>
          </a:p>
        </p:txBody>
      </p:sp>
      <p:sp>
        <p:nvSpPr>
          <p:cNvPr id="29" name="TextBox 28">
            <a:extLst>
              <a:ext uri="{FF2B5EF4-FFF2-40B4-BE49-F238E27FC236}">
                <a16:creationId xmlns:a16="http://schemas.microsoft.com/office/drawing/2014/main" id="{7C09E68C-FA1E-7A85-89ED-807D0028D6CD}"/>
              </a:ext>
            </a:extLst>
          </p:cNvPr>
          <p:cNvSpPr txBox="1"/>
          <p:nvPr/>
        </p:nvSpPr>
        <p:spPr>
          <a:xfrm>
            <a:off x="2549236" y="5309422"/>
            <a:ext cx="9210962" cy="307777"/>
          </a:xfrm>
          <a:prstGeom prst="rect">
            <a:avLst/>
          </a:prstGeom>
          <a:noFill/>
        </p:spPr>
        <p:txBody>
          <a:bodyPr wrap="square" lIns="90000" rtlCol="0" anchor="t">
            <a:spAutoFit/>
          </a:bodyPr>
          <a:lstStyle/>
          <a:p>
            <a:r>
              <a:rPr lang="en-US" sz="1400" noProof="0" dirty="0" err="1"/>
              <a:t>This system has 0 medium or higher risk vulnerable libraries and 1 licenses with potential legal risks that should be investigated.</a:t>
            </a:r>
          </a:p>
        </p:txBody>
      </p:sp>
      <p:cxnSp>
        <p:nvCxnSpPr>
          <p:cNvPr id="30" name="Straight Connector 29">
            <a:extLst>
              <a:ext uri="{FF2B5EF4-FFF2-40B4-BE49-F238E27FC236}">
                <a16:creationId xmlns:a16="http://schemas.microsoft.com/office/drawing/2014/main" id="{E14C37A4-1787-88B8-87EC-3BC4E6617034}"/>
              </a:ext>
            </a:extLst>
          </p:cNvPr>
          <p:cNvCxnSpPr>
            <a:cxnSpLocks/>
          </p:cNvCxnSpPr>
          <p:nvPr/>
        </p:nvCxnSpPr>
        <p:spPr>
          <a:xfrm flipH="1">
            <a:off x="2707067" y="2428035"/>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86DF079F-BE0F-B539-6133-ADDCFA9385E8}"/>
              </a:ext>
            </a:extLst>
          </p:cNvPr>
          <p:cNvCxnSpPr>
            <a:cxnSpLocks/>
          </p:cNvCxnSpPr>
          <p:nvPr/>
        </p:nvCxnSpPr>
        <p:spPr>
          <a:xfrm flipH="1">
            <a:off x="2707067" y="3331283"/>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9F180A7-BAC8-2121-6EB8-9B376B75A7AC}"/>
              </a:ext>
            </a:extLst>
          </p:cNvPr>
          <p:cNvCxnSpPr>
            <a:cxnSpLocks/>
          </p:cNvCxnSpPr>
          <p:nvPr/>
        </p:nvCxnSpPr>
        <p:spPr>
          <a:xfrm flipH="1">
            <a:off x="2707067" y="4290288"/>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FE24B4CB-EC74-75E7-077A-96C2F71EE536}"/>
              </a:ext>
            </a:extLst>
          </p:cNvPr>
          <p:cNvCxnSpPr>
            <a:cxnSpLocks/>
          </p:cNvCxnSpPr>
          <p:nvPr/>
        </p:nvCxnSpPr>
        <p:spPr>
          <a:xfrm flipH="1">
            <a:off x="2707067" y="5260444"/>
            <a:ext cx="9053131" cy="0"/>
          </a:xfrm>
          <a:prstGeom prst="line">
            <a:avLst/>
          </a:prstGeom>
          <a:ln w="12700">
            <a:gradFill flip="none" rotWithShape="1">
              <a:gsLst>
                <a:gs pos="0">
                  <a:schemeClr val="accent1">
                    <a:lumMod val="5000"/>
                    <a:lumOff val="95000"/>
                  </a:schemeClr>
                </a:gs>
                <a:gs pos="100000">
                  <a:schemeClr val="accent3"/>
                </a:gs>
              </a:gsLst>
              <a:lin ang="0" scaled="1"/>
              <a:tileRect/>
            </a:gra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4520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CF9DD-0462-016F-8E23-2DB264387100}"/>
            </a:ext>
          </a:extLst>
        </p:cNvPr>
        <p:cNvGrpSpPr/>
        <p:nvPr/>
      </p:nvGrpSpPr>
      <p:grpSpPr>
        <a:xfrm>
          <a:off x="0" y="0"/>
          <a:ext cx="0" cy="0"/>
          <a:chOff x="0" y="0"/>
          <a:chExt cx="0" cy="0"/>
        </a:xfrm>
      </p:grpSpPr>
      <p:sp>
        <p:nvSpPr>
          <p:cNvPr id="2" name="Tijdelijke aanduiding voor voettekst 1">
            <a:extLst>
              <a:ext uri="{FF2B5EF4-FFF2-40B4-BE49-F238E27FC236}">
                <a16:creationId xmlns:a16="http://schemas.microsoft.com/office/drawing/2014/main" id="{CC222B10-C35A-E1BF-3C6F-DEEE02500266}"/>
              </a:ext>
            </a:extLst>
          </p:cNvPr>
          <p:cNvSpPr>
            <a:spLocks noGrp="1"/>
          </p:cNvSpPr>
          <p:nvPr>
            <p:ph type="ftr" sz="quarter" idx="14"/>
          </p:nvPr>
        </p:nvSpPr>
        <p:spPr/>
        <p:txBody>
          <a:bodyPr/>
          <a:lstStyle/>
          <a:p>
            <a:r>
              <a:rPr lang="en-US" noProof="0" dirty="0"/>
              <a:t>Confidential</a:t>
            </a:r>
          </a:p>
        </p:txBody>
      </p:sp>
      <p:sp>
        <p:nvSpPr>
          <p:cNvPr id="3" name="Tijdelijke aanduiding voor dianummer 2">
            <a:extLst>
              <a:ext uri="{FF2B5EF4-FFF2-40B4-BE49-F238E27FC236}">
                <a16:creationId xmlns:a16="http://schemas.microsoft.com/office/drawing/2014/main" id="{FD8EBEE6-089D-3692-A341-C90A7CEA81EB}"/>
              </a:ext>
            </a:extLst>
          </p:cNvPr>
          <p:cNvSpPr>
            <a:spLocks noGrp="1"/>
          </p:cNvSpPr>
          <p:nvPr>
            <p:ph type="sldNum" sz="quarter" idx="15"/>
          </p:nvPr>
        </p:nvSpPr>
        <p:spPr/>
        <p:txBody>
          <a:bodyPr/>
          <a:lstStyle/>
          <a:p>
            <a:fld id="{E242BD21-9B61-2246-BCB1-4BE5E1BEBE1C}" type="slidenum">
              <a:rPr lang="en-US" noProof="0" smtClean="0"/>
              <a:pPr/>
              <a:t>4</a:t>
            </a:fld>
            <a:endParaRPr lang="en-US" noProof="0" dirty="0"/>
          </a:p>
        </p:txBody>
      </p:sp>
      <p:sp>
        <p:nvSpPr>
          <p:cNvPr id="4" name="Titel 3">
            <a:extLst>
              <a:ext uri="{FF2B5EF4-FFF2-40B4-BE49-F238E27FC236}">
                <a16:creationId xmlns:a16="http://schemas.microsoft.com/office/drawing/2014/main" id="{AE936A79-6AD8-007A-80E2-F8397B01ED8F}"/>
              </a:ext>
            </a:extLst>
          </p:cNvPr>
          <p:cNvSpPr>
            <a:spLocks noGrp="1"/>
          </p:cNvSpPr>
          <p:nvPr>
            <p:ph type="title"/>
          </p:nvPr>
        </p:nvSpPr>
        <p:spPr/>
        <p:txBody>
          <a:bodyPr/>
          <a:lstStyle/>
          <a:p>
            <a:r>
              <a:rPr lang="en-US" noProof="0" dirty="0"/>
              <a:t>Outline of topics</a:t>
            </a:r>
          </a:p>
        </p:txBody>
      </p:sp>
      <p:sp>
        <p:nvSpPr>
          <p:cNvPr id="5" name="Tijdelijke aanduiding voor inhoud 4">
            <a:extLst>
              <a:ext uri="{FF2B5EF4-FFF2-40B4-BE49-F238E27FC236}">
                <a16:creationId xmlns:a16="http://schemas.microsoft.com/office/drawing/2014/main" id="{25467FEE-6B64-E34F-E27E-DF526B047085}"/>
              </a:ext>
            </a:extLst>
          </p:cNvPr>
          <p:cNvSpPr>
            <a:spLocks noGrp="1"/>
          </p:cNvSpPr>
          <p:nvPr>
            <p:ph sz="quarter" idx="16"/>
          </p:nvPr>
        </p:nvSpPr>
        <p:spPr>
          <a:xfrm>
            <a:off x="4467600" y="738000"/>
            <a:ext cx="7092000" cy="3658057"/>
          </a:xfrm>
        </p:spPr>
        <p:txBody>
          <a:bodyPr/>
          <a:lstStyle/>
          <a:p>
            <a:r>
              <a:rPr lang="en-US" noProof="0" dirty="0"/>
              <a:t>Summary</a:t>
            </a:r>
          </a:p>
          <a:p>
            <a:r>
              <a:rPr lang="en-US" noProof="0" dirty="0"/>
              <a:t>Key findings</a:t>
            </a:r>
          </a:p>
          <a:p>
            <a:endParaRPr lang="en-US" noProof="0" dirty="0"/>
          </a:p>
          <a:p>
            <a:pPr marL="0" indent="0">
              <a:buNone/>
            </a:pPr>
            <a:endParaRPr lang="en-US" noProof="0" dirty="0"/>
          </a:p>
          <a:p>
            <a:pPr marL="0" indent="0">
              <a:buNone/>
            </a:pPr>
            <a:endParaRPr lang="en-US" sz="200" noProof="0" dirty="0"/>
          </a:p>
          <a:p>
            <a:pPr marL="0" indent="0">
              <a:buNone/>
            </a:pPr>
            <a:endParaRPr lang="en-US" sz="800" noProof="0" dirty="0"/>
          </a:p>
        </p:txBody>
      </p:sp>
      <p:grpSp>
        <p:nvGrpSpPr>
          <p:cNvPr id="6" name="Group 4">
            <a:extLst>
              <a:ext uri="{FF2B5EF4-FFF2-40B4-BE49-F238E27FC236}">
                <a16:creationId xmlns:a16="http://schemas.microsoft.com/office/drawing/2014/main" id="{3A2FF08D-E383-A4D7-D0D5-04C5B7D9BE55}"/>
              </a:ext>
            </a:extLst>
          </p:cNvPr>
          <p:cNvGrpSpPr/>
          <p:nvPr/>
        </p:nvGrpSpPr>
        <p:grpSpPr>
          <a:xfrm>
            <a:off x="4467601" y="1994958"/>
            <a:ext cx="8637048" cy="2061327"/>
            <a:chOff x="1187436" y="2607314"/>
            <a:chExt cx="8637048" cy="2061327"/>
          </a:xfrm>
        </p:grpSpPr>
        <p:sp>
          <p:nvSpPr>
            <p:cNvPr id="7" name="Rectangle 2">
              <a:extLst>
                <a:ext uri="{FF2B5EF4-FFF2-40B4-BE49-F238E27FC236}">
                  <a16:creationId xmlns:a16="http://schemas.microsoft.com/office/drawing/2014/main" id="{88C42531-C38E-90CC-55B2-1CA03B964DCC}"/>
                </a:ext>
              </a:extLst>
            </p:cNvPr>
            <p:cNvSpPr/>
            <p:nvPr/>
          </p:nvSpPr>
          <p:spPr>
            <a:xfrm>
              <a:off x="1187436" y="2607314"/>
              <a:ext cx="7567200" cy="17392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 name="Rectangle 5">
              <a:extLst>
                <a:ext uri="{FF2B5EF4-FFF2-40B4-BE49-F238E27FC236}">
                  <a16:creationId xmlns:a16="http://schemas.microsoft.com/office/drawing/2014/main" id="{21C615A6-2657-F686-ACB4-31C3780AC53F}"/>
                </a:ext>
              </a:extLst>
            </p:cNvPr>
            <p:cNvSpPr/>
            <p:nvPr/>
          </p:nvSpPr>
          <p:spPr>
            <a:xfrm>
              <a:off x="2402756" y="278573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1</a:t>
              </a:r>
            </a:p>
          </p:txBody>
        </p:sp>
        <p:sp>
          <p:nvSpPr>
            <p:cNvPr id="9" name="Rectangle 10">
              <a:extLst>
                <a:ext uri="{FF2B5EF4-FFF2-40B4-BE49-F238E27FC236}">
                  <a16:creationId xmlns:a16="http://schemas.microsoft.com/office/drawing/2014/main" id="{9E8041A3-4CF8-83F0-839C-439C8A2903BA}"/>
                </a:ext>
              </a:extLst>
            </p:cNvPr>
            <p:cNvSpPr/>
            <p:nvPr/>
          </p:nvSpPr>
          <p:spPr>
            <a:xfrm>
              <a:off x="2402756" y="3306726"/>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2</a:t>
              </a:r>
            </a:p>
          </p:txBody>
        </p:sp>
        <p:sp>
          <p:nvSpPr>
            <p:cNvPr id="10" name="Rectangle 11">
              <a:extLst>
                <a:ext uri="{FF2B5EF4-FFF2-40B4-BE49-F238E27FC236}">
                  <a16:creationId xmlns:a16="http://schemas.microsoft.com/office/drawing/2014/main" id="{1E4A6A55-D491-B64E-8117-725CFD0054C7}"/>
                </a:ext>
              </a:extLst>
            </p:cNvPr>
            <p:cNvSpPr/>
            <p:nvPr/>
          </p:nvSpPr>
          <p:spPr>
            <a:xfrm>
              <a:off x="2402756" y="3827720"/>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3</a:t>
              </a:r>
            </a:p>
          </p:txBody>
        </p:sp>
        <p:sp>
          <p:nvSpPr>
            <p:cNvPr id="15" name="TextBox 6">
              <a:extLst>
                <a:ext uri="{FF2B5EF4-FFF2-40B4-BE49-F238E27FC236}">
                  <a16:creationId xmlns:a16="http://schemas.microsoft.com/office/drawing/2014/main" id="{9FBD725A-A3B4-2FE9-5308-553FDD9CC914}"/>
                </a:ext>
              </a:extLst>
            </p:cNvPr>
            <p:cNvSpPr txBox="1"/>
            <p:nvPr/>
          </p:nvSpPr>
          <p:spPr>
            <a:xfrm>
              <a:off x="2828599" y="2796359"/>
              <a:ext cx="1970984"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Cost estimation</a:t>
              </a:r>
            </a:p>
          </p:txBody>
        </p:sp>
        <p:sp>
          <p:nvSpPr>
            <p:cNvPr id="16" name="TextBox 16">
              <a:extLst>
                <a:ext uri="{FF2B5EF4-FFF2-40B4-BE49-F238E27FC236}">
                  <a16:creationId xmlns:a16="http://schemas.microsoft.com/office/drawing/2014/main" id="{24F69592-6EC4-3A3F-03CA-A0EB53B047AF}"/>
                </a:ext>
              </a:extLst>
            </p:cNvPr>
            <p:cNvSpPr txBox="1"/>
            <p:nvPr/>
          </p:nvSpPr>
          <p:spPr>
            <a:xfrm>
              <a:off x="2827099" y="3831388"/>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Architecture quality</a:t>
              </a:r>
            </a:p>
          </p:txBody>
        </p:sp>
        <p:sp>
          <p:nvSpPr>
            <p:cNvPr id="17" name="TextBox 17">
              <a:extLst>
                <a:ext uri="{FF2B5EF4-FFF2-40B4-BE49-F238E27FC236}">
                  <a16:creationId xmlns:a16="http://schemas.microsoft.com/office/drawing/2014/main" id="{37D4889B-9E40-C9DF-1B1F-087D453F8571}"/>
                </a:ext>
              </a:extLst>
            </p:cNvPr>
            <p:cNvSpPr txBox="1"/>
            <p:nvPr/>
          </p:nvSpPr>
          <p:spPr>
            <a:xfrm>
              <a:off x="2827097" y="3313873"/>
              <a:ext cx="1972487" cy="322268"/>
            </a:xfrm>
            <a:prstGeom prst="rect">
              <a:avLst/>
            </a:prstGeom>
            <a:noFill/>
          </p:spPr>
          <p:txBody>
            <a:bodyPr wrap="square" lIns="90000" rtlCol="0" anchor="ctr">
              <a:spAutoFit/>
            </a:bodyPr>
            <a:lstStyle/>
            <a:p>
              <a:pPr>
                <a:lnSpc>
                  <a:spcPct val="113000"/>
                </a:lnSpc>
              </a:pPr>
              <a:r>
                <a:rPr lang="en-US" sz="1400" noProof="0" dirty="0">
                  <a:solidFill>
                    <a:schemeClr val="tx2"/>
                  </a:solidFill>
                </a:rPr>
                <a:t>Maintainability</a:t>
              </a:r>
            </a:p>
          </p:txBody>
        </p:sp>
        <p:sp>
          <p:nvSpPr>
            <p:cNvPr id="23" name="TextBox 24">
              <a:extLst>
                <a:ext uri="{FF2B5EF4-FFF2-40B4-BE49-F238E27FC236}">
                  <a16:creationId xmlns:a16="http://schemas.microsoft.com/office/drawing/2014/main" id="{2104FF65-775F-390F-A413-19E80C39A131}"/>
                </a:ext>
              </a:extLst>
            </p:cNvPr>
            <p:cNvSpPr txBox="1"/>
            <p:nvPr/>
          </p:nvSpPr>
          <p:spPr>
            <a:xfrm>
              <a:off x="7232188" y="3306725"/>
              <a:ext cx="2592296" cy="322268"/>
            </a:xfrm>
            <a:prstGeom prst="rect">
              <a:avLst/>
            </a:prstGeom>
            <a:noFill/>
          </p:spPr>
          <p:txBody>
            <a:bodyPr wrap="square" lIns="90000" rtlCol="0" anchor="ctr">
              <a:spAutoFit/>
            </a:bodyPr>
            <a:lstStyle/>
            <a:p>
              <a:pPr algn="l">
                <a:lnSpc>
                  <a:spcPct val="113000"/>
                </a:lnSpc>
              </a:pPr>
              <a:endParaRPr lang="en-US" sz="1400" noProof="0" dirty="0">
                <a:solidFill>
                  <a:schemeClr val="tx2"/>
                </a:solidFill>
              </a:endParaRPr>
            </a:p>
          </p:txBody>
        </p:sp>
        <p:sp>
          <p:nvSpPr>
            <p:cNvPr id="24" name="Rectangle 11">
              <a:extLst>
                <a:ext uri="{FF2B5EF4-FFF2-40B4-BE49-F238E27FC236}">
                  <a16:creationId xmlns:a16="http://schemas.microsoft.com/office/drawing/2014/main" id="{79D70F5D-0B0B-6234-A662-2C0A1687FCA9}"/>
                </a:ext>
              </a:extLst>
            </p:cNvPr>
            <p:cNvSpPr/>
            <p:nvPr/>
          </p:nvSpPr>
          <p:spPr>
            <a:xfrm>
              <a:off x="2402756" y="4339032"/>
              <a:ext cx="329609" cy="32960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b="1" noProof="0" dirty="0">
                  <a:solidFill>
                    <a:schemeClr val="tx1"/>
                  </a:solidFill>
                </a:rPr>
                <a:t>4</a:t>
              </a:r>
            </a:p>
          </p:txBody>
        </p:sp>
        <p:sp>
          <p:nvSpPr>
            <p:cNvPr id="25" name="TextBox 16">
              <a:extLst>
                <a:ext uri="{FF2B5EF4-FFF2-40B4-BE49-F238E27FC236}">
                  <a16:creationId xmlns:a16="http://schemas.microsoft.com/office/drawing/2014/main" id="{BDEAA53F-F465-CAD1-D039-210FAB636309}"/>
                </a:ext>
              </a:extLst>
            </p:cNvPr>
            <p:cNvSpPr txBox="1"/>
            <p:nvPr/>
          </p:nvSpPr>
          <p:spPr>
            <a:xfrm>
              <a:off x="2827099" y="4342700"/>
              <a:ext cx="1972484" cy="322268"/>
            </a:xfrm>
            <a:prstGeom prst="rect">
              <a:avLst/>
            </a:prstGeom>
            <a:noFill/>
          </p:spPr>
          <p:txBody>
            <a:bodyPr wrap="square" lIns="90000" rtlCol="0" anchor="ctr">
              <a:spAutoFit/>
            </a:bodyPr>
            <a:lstStyle/>
            <a:p>
              <a:pPr algn="l">
                <a:lnSpc>
                  <a:spcPct val="113000"/>
                </a:lnSpc>
              </a:pPr>
              <a:r>
                <a:rPr lang="en-US" sz="1400" noProof="0" dirty="0">
                  <a:solidFill>
                    <a:schemeClr val="tx2"/>
                  </a:solidFill>
                </a:rPr>
                <a:t>Open source health</a:t>
              </a:r>
            </a:p>
          </p:txBody>
        </p:sp>
      </p:grpSp>
      <p:sp>
        <p:nvSpPr>
          <p:cNvPr id="34" name="Afgeronde rechthoek 33">
            <a:extLst>
              <a:ext uri="{FF2B5EF4-FFF2-40B4-BE49-F238E27FC236}">
                <a16:creationId xmlns:a16="http://schemas.microsoft.com/office/drawing/2014/main" id="{1432F4D9-898D-1F7C-1B68-01CBDDFBCED8}"/>
              </a:ext>
            </a:extLst>
          </p:cNvPr>
          <p:cNvSpPr/>
          <p:nvPr/>
        </p:nvSpPr>
        <p:spPr>
          <a:xfrm>
            <a:off x="4454347" y="1472806"/>
            <a:ext cx="7567201" cy="2923251"/>
          </a:xfrm>
          <a:prstGeom prst="roundRect">
            <a:avLst>
              <a:gd name="adj" fmla="val 4868"/>
            </a:avLst>
          </a:prstGeom>
          <a:gradFill>
            <a:gsLst>
              <a:gs pos="1000">
                <a:srgbClr val="F8C818">
                  <a:alpha val="82745"/>
                </a:srgbClr>
              </a:gs>
              <a:gs pos="12000">
                <a:srgbClr val="F8C818">
                  <a:alpha val="0"/>
                </a:srgbClr>
              </a:gs>
              <a:gs pos="7000">
                <a:srgbClr val="F8C818">
                  <a:alpha val="26000"/>
                </a:srgbClr>
              </a:gs>
            </a:gsLst>
            <a:lin ang="3000000" scaled="0"/>
          </a:gradFill>
          <a:ln w="63500">
            <a:gradFill>
              <a:gsLst>
                <a:gs pos="2000">
                  <a:srgbClr val="E88B36"/>
                </a:gs>
                <a:gs pos="12000">
                  <a:srgbClr val="F8C818"/>
                </a:gs>
              </a:gsLst>
              <a:lin ang="270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lIns="378000" tIns="36000" rIns="144000" bIns="108000" rtlCol="0" anchor="ctr">
            <a:noAutofit/>
          </a:bodyPr>
          <a:lstStyle/>
          <a:p>
            <a:pPr algn="l">
              <a:lnSpc>
                <a:spcPct val="114000"/>
              </a:lnSpc>
              <a:spcAft>
                <a:spcPts val="600"/>
              </a:spcAft>
            </a:pPr>
            <a:endParaRPr lang="en-US" noProof="0" dirty="0">
              <a:solidFill>
                <a:schemeClr val="tx2"/>
              </a:solidFill>
              <a:latin typeface="Noir Pro Medium" pitchFamily="2" charset="0"/>
            </a:endParaRPr>
          </a:p>
        </p:txBody>
      </p:sp>
    </p:spTree>
    <p:extLst>
      <p:ext uri="{BB962C8B-B14F-4D97-AF65-F5344CB8AC3E}">
        <p14:creationId xmlns:p14="http://schemas.microsoft.com/office/powerpoint/2010/main" val="3314298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3691-EEF8-B68C-5A5F-30410C866211}"/>
            </a:ext>
          </a:extLst>
        </p:cNvPr>
        <p:cNvGrpSpPr/>
        <p:nvPr/>
      </p:nvGrpSpPr>
      <p:grpSpPr>
        <a:xfrm>
          <a:off x="0" y="0"/>
          <a:ext cx="0" cy="0"/>
          <a:chOff x="0" y="0"/>
          <a:chExt cx="0" cy="0"/>
        </a:xfrm>
      </p:grpSpPr>
      <p:sp>
        <p:nvSpPr>
          <p:cNvPr id="65" name="Oval 64">
            <a:extLst>
              <a:ext uri="{FF2B5EF4-FFF2-40B4-BE49-F238E27FC236}">
                <a16:creationId xmlns:a16="http://schemas.microsoft.com/office/drawing/2014/main" id="{95C27F98-D0CE-D5B9-C55D-97BBC5A5BFF2}"/>
              </a:ext>
            </a:extLst>
          </p:cNvPr>
          <p:cNvSpPr>
            <a:spLocks/>
          </p:cNvSpPr>
          <p:nvPr/>
        </p:nvSpPr>
        <p:spPr>
          <a:xfrm>
            <a:off x="4004388" y="1634792"/>
            <a:ext cx="4180824" cy="4180824"/>
          </a:xfrm>
          <a:prstGeom prst="ellipse">
            <a:avLst/>
          </a:prstGeom>
          <a:gradFill>
            <a:gsLst>
              <a:gs pos="0">
                <a:schemeClr val="accent3">
                  <a:alpha val="30871"/>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2" name="Oval 91">
            <a:extLst>
              <a:ext uri="{FF2B5EF4-FFF2-40B4-BE49-F238E27FC236}">
                <a16:creationId xmlns:a16="http://schemas.microsoft.com/office/drawing/2014/main" id="{B6C70F8F-27F3-4CF3-FECD-439D34C6752D}"/>
              </a:ext>
            </a:extLst>
          </p:cNvPr>
          <p:cNvSpPr>
            <a:spLocks/>
          </p:cNvSpPr>
          <p:nvPr/>
        </p:nvSpPr>
        <p:spPr>
          <a:xfrm>
            <a:off x="3385191" y="1063763"/>
            <a:ext cx="5340638" cy="5340638"/>
          </a:xfrm>
          <a:prstGeom prst="ellipse">
            <a:avLst/>
          </a:prstGeom>
          <a:gradFill>
            <a:gsLst>
              <a:gs pos="0">
                <a:schemeClr val="accent3">
                  <a:alpha val="15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99C9D0E3-9C9E-5F23-111D-96C14386A39D}"/>
              </a:ext>
            </a:extLst>
          </p:cNvPr>
          <p:cNvSpPr txBox="1">
            <a:spLocks/>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0" i="0" u="none" strike="noStrike" kern="1200" cap="none" spc="0" normalizeH="0" baseline="0" noProof="0" dirty="0">
                <a:ln>
                  <a:noFill/>
                </a:ln>
                <a:gradFill>
                  <a:gsLst>
                    <a:gs pos="43000">
                      <a:srgbClr val="FFFFFF"/>
                    </a:gs>
                    <a:gs pos="9000">
                      <a:srgbClr val="88ADF5">
                        <a:lumMod val="60000"/>
                        <a:lumOff val="40000"/>
                      </a:srgbClr>
                    </a:gs>
                  </a:gsLst>
                  <a:lin ang="9600000" scaled="0"/>
                </a:gradFill>
                <a:effectLst>
                  <a:outerShdw blurRad="113571" dist="44478" dir="16200000" rotWithShape="0">
                    <a:prstClr val="black">
                      <a:alpha val="40000"/>
                    </a:prstClr>
                  </a:outerShdw>
                </a:effectLst>
                <a:uLnTx/>
                <a:uFillTx/>
                <a:latin typeface="Noir Pro Semi Bold" pitchFamily="2" charset="0"/>
                <a:ea typeface="+mn-ea"/>
                <a:cs typeface="+mn-cs"/>
              </a:rPr>
              <a:t>Cost Estimation Model</a:t>
            </a:r>
          </a:p>
        </p:txBody>
      </p:sp>
      <p:sp>
        <p:nvSpPr>
          <p:cNvPr id="63" name="Text Placeholder 62">
            <a:extLst>
              <a:ext uri="{FF2B5EF4-FFF2-40B4-BE49-F238E27FC236}">
                <a16:creationId xmlns:a16="http://schemas.microsoft.com/office/drawing/2014/main" id="{4470666D-AB22-177C-6C7A-D16FF6FB971C}"/>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F5EE4F-BA36-EEBF-BA2F-29E8865194E5}"/>
              </a:ext>
            </a:extLst>
          </p:cNvPr>
          <p:cNvSpPr>
            <a:spLocks noGrp="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Confidential</a:t>
            </a:r>
          </a:p>
        </p:txBody>
      </p:sp>
      <p:sp>
        <p:nvSpPr>
          <p:cNvPr id="5" name="Tijdelijke aanduiding voor dianummer 4">
            <a:extLst>
              <a:ext uri="{FF2B5EF4-FFF2-40B4-BE49-F238E27FC236}">
                <a16:creationId xmlns:a16="http://schemas.microsoft.com/office/drawing/2014/main" id="{35FAE676-1E79-98D7-3514-335462A7999D}"/>
              </a:ext>
            </a:extLst>
          </p:cNvPr>
          <p:cNvSpPr>
            <a:spLocks noGrp="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242BD21-9B61-2246-BCB1-4BE5E1BEBE1C}" type="slidenum">
              <a:rPr kumimoji="0" lang="en-US" sz="900" b="0" i="0" u="none" strike="noStrike" kern="1200" cap="none" spc="10" normalizeH="0" baseline="0" noProof="0" smtClean="0">
                <a:ln>
                  <a:noFill/>
                </a:ln>
                <a:solidFill>
                  <a:srgbClr val="FFFFFF"/>
                </a:solidFill>
                <a:effectLst/>
                <a:uLnTx/>
                <a:uFillTx/>
                <a:latin typeface="Azeret Mono" pitchFamily="2" charset="77"/>
                <a:ea typeface="+mn-ea"/>
                <a:cs typeface="Azeret Mono"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10" normalizeH="0" baseline="0" noProof="0" dirty="0">
              <a:ln>
                <a:noFill/>
              </a:ln>
              <a:solidFill>
                <a:srgbClr val="FFFFFF"/>
              </a:solidFill>
              <a:effectLst/>
              <a:uLnTx/>
              <a:uFillTx/>
              <a:latin typeface="Azeret Mono" pitchFamily="2" charset="77"/>
              <a:ea typeface="+mn-ea"/>
              <a:cs typeface="Azeret Mono" pitchFamily="2" charset="77"/>
            </a:endParaRPr>
          </a:p>
        </p:txBody>
      </p:sp>
      <p:sp>
        <p:nvSpPr>
          <p:cNvPr id="70" name="Title 69">
            <a:extLst>
              <a:ext uri="{FF2B5EF4-FFF2-40B4-BE49-F238E27FC236}">
                <a16:creationId xmlns:a16="http://schemas.microsoft.com/office/drawing/2014/main" id="{3EF7774A-211E-088E-C9B6-6A86C440503F}"/>
              </a:ext>
            </a:extLst>
          </p:cNvPr>
          <p:cNvSpPr>
            <a:spLocks noGrp="1"/>
          </p:cNvSpPr>
          <p:nvPr>
            <p:ph type="title"/>
          </p:nvPr>
        </p:nvSpPr>
        <p:spPr/>
        <p:txBody>
          <a:bodyPr/>
          <a:lstStyle/>
          <a:p>
            <a:r>
              <a:rPr lang="en-US" noProof="0" dirty="0"/>
              <a:t>Explanation: The Cost Estimation model combines Sigrid analysis results with SIG benchmarks</a:t>
            </a:r>
          </a:p>
        </p:txBody>
      </p:sp>
      <p:sp>
        <p:nvSpPr>
          <p:cNvPr id="8" name="Oval 7">
            <a:extLst>
              <a:ext uri="{FF2B5EF4-FFF2-40B4-BE49-F238E27FC236}">
                <a16:creationId xmlns:a16="http://schemas.microsoft.com/office/drawing/2014/main" id="{29F3FDDD-3858-C838-0AD0-612548D292DE}"/>
              </a:ext>
            </a:extLst>
          </p:cNvPr>
          <p:cNvSpPr>
            <a:spLocks/>
          </p:cNvSpPr>
          <p:nvPr/>
        </p:nvSpPr>
        <p:spPr>
          <a:xfrm>
            <a:off x="4673297" y="2304400"/>
            <a:ext cx="2849490" cy="2849490"/>
          </a:xfrm>
          <a:prstGeom prst="ellipse">
            <a:avLst/>
          </a:prstGeom>
          <a:solidFill>
            <a:schemeClr val="accent3">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533F8D7-DBCC-1E52-6611-0BE5FFCA74B9}"/>
              </a:ext>
            </a:extLst>
          </p:cNvPr>
          <p:cNvSpPr>
            <a:spLocks/>
          </p:cNvSpPr>
          <p:nvPr/>
        </p:nvSpPr>
        <p:spPr>
          <a:xfrm>
            <a:off x="5029556" y="2660659"/>
            <a:ext cx="2136972" cy="2136972"/>
          </a:xfrm>
          <a:prstGeom prst="ellipse">
            <a:avLst/>
          </a:prstGeom>
          <a:gradFill>
            <a:gsLst>
              <a:gs pos="23000">
                <a:schemeClr val="accent3">
                  <a:lumMod val="60000"/>
                  <a:lumOff val="40000"/>
                  <a:alpha val="33841"/>
                </a:schemeClr>
              </a:gs>
              <a:gs pos="61000">
                <a:schemeClr val="accent3">
                  <a:lumMod val="60000"/>
                  <a:lumOff val="40000"/>
                  <a:alpha val="16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C63A583D-6BE0-A8F1-39D1-114B3FDEE8C6}"/>
              </a:ext>
            </a:extLst>
          </p:cNvPr>
          <p:cNvSpPr>
            <a:spLocks/>
          </p:cNvSpPr>
          <p:nvPr/>
        </p:nvSpPr>
        <p:spPr>
          <a:xfrm>
            <a:off x="5326438" y="2957541"/>
            <a:ext cx="1543208" cy="1543208"/>
          </a:xfrm>
          <a:prstGeom prst="ellipse">
            <a:avLst/>
          </a:prstGeom>
          <a:gradFill>
            <a:gsLst>
              <a:gs pos="23000">
                <a:schemeClr val="bg1"/>
              </a:gs>
              <a:gs pos="61000">
                <a:schemeClr val="accent3">
                  <a:lumMod val="40000"/>
                  <a:lumOff val="60000"/>
                  <a:alpha val="29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18" name="Oval 17">
            <a:extLst>
              <a:ext uri="{FF2B5EF4-FFF2-40B4-BE49-F238E27FC236}">
                <a16:creationId xmlns:a16="http://schemas.microsoft.com/office/drawing/2014/main" id="{28E6CC9E-A042-4D41-4D82-5012869DD8F0}"/>
              </a:ext>
            </a:extLst>
          </p:cNvPr>
          <p:cNvSpPr>
            <a:spLocks/>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6E013D36-4866-963A-B984-D0771F1F8F91}"/>
              </a:ext>
            </a:extLst>
          </p:cNvPr>
          <p:cNvSpPr>
            <a:spLocks/>
          </p:cNvSpPr>
          <p:nvPr/>
        </p:nvSpPr>
        <p:spPr>
          <a:xfrm>
            <a:off x="5366019" y="4285002"/>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761F8860-D3BD-ADF7-947C-66743FAA2346}"/>
              </a:ext>
            </a:extLst>
          </p:cNvPr>
          <p:cNvSpPr>
            <a:spLocks/>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cxnSp>
        <p:nvCxnSpPr>
          <p:cNvPr id="48" name="Straight Connector 47">
            <a:extLst>
              <a:ext uri="{FF2B5EF4-FFF2-40B4-BE49-F238E27FC236}">
                <a16:creationId xmlns:a16="http://schemas.microsoft.com/office/drawing/2014/main" id="{4EEE0137-8821-1C78-1860-272D52AD6A69}"/>
              </a:ext>
            </a:extLst>
          </p:cNvPr>
          <p:cNvCxnSpPr>
            <a:cxnSpLocks/>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035F2BD-9708-0AD0-BD3B-D333B7293EE0}"/>
              </a:ext>
            </a:extLst>
          </p:cNvPr>
          <p:cNvSpPr>
            <a:spLocks/>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2A041D92-70F1-8E69-18DA-1A12061BCB4D}"/>
              </a:ext>
            </a:extLst>
          </p:cNvPr>
          <p:cNvSpPr>
            <a:spLocks/>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2" name="Content Placeholder 70">
            <a:extLst>
              <a:ext uri="{FF2B5EF4-FFF2-40B4-BE49-F238E27FC236}">
                <a16:creationId xmlns:a16="http://schemas.microsoft.com/office/drawing/2014/main" id="{D5037DEE-D3A7-543A-B3E5-6F22ECB1E9B3}"/>
              </a:ext>
            </a:extLst>
          </p:cNvPr>
          <p:cNvSpPr txBox="1">
            <a:spLocks/>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lang="en-US" sz="1400" noProof="0" dirty="0">
                <a:solidFill>
                  <a:srgbClr val="FFFFFF"/>
                </a:solidFill>
                <a:latin typeface="Azeret Mono" pitchFamily="2" charset="77"/>
                <a:cs typeface="Azeret Mono" pitchFamily="2" charset="77"/>
              </a:rPr>
              <a:t>The Cost Estimation Model (CEM) enables translating technical analysis results to cost estimations. </a:t>
            </a:r>
            <a:endParaRPr kumimoji="0" lang="en-US" sz="3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most important input for the CEM are the maintainability analysis results. This is mandatory. CEM then combines this with </a:t>
            </a:r>
            <a:r>
              <a:rPr lang="en-US" sz="1400" noProof="0" dirty="0">
                <a:solidFill>
                  <a:srgbClr val="FFFFFF"/>
                </a:solidFill>
                <a:latin typeface="Azeret Mono" pitchFamily="2" charset="77"/>
                <a:cs typeface="Azeret Mono" pitchFamily="2" charset="77"/>
              </a:rPr>
              <a:t>SIG’s benchmarks</a:t>
            </a: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 on productivity and maintainability.</a:t>
            </a:r>
            <a:endParaRPr kumimoji="0" lang="en-US" sz="1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4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Cost estimations form key input for scenario comparison.</a:t>
            </a:r>
          </a:p>
        </p:txBody>
      </p:sp>
      <p:sp>
        <p:nvSpPr>
          <p:cNvPr id="78" name="Arc 77">
            <a:extLst>
              <a:ext uri="{FF2B5EF4-FFF2-40B4-BE49-F238E27FC236}">
                <a16:creationId xmlns:a16="http://schemas.microsoft.com/office/drawing/2014/main" id="{AE202C74-D8C9-84F4-7CCF-66BFEFFF7D22}"/>
              </a:ext>
            </a:extLst>
          </p:cNvPr>
          <p:cNvSpPr>
            <a:spLocks/>
          </p:cNvSpPr>
          <p:nvPr/>
        </p:nvSpPr>
        <p:spPr>
          <a:xfrm>
            <a:off x="4403883" y="2031167"/>
            <a:ext cx="3381834" cy="3405830"/>
          </a:xfrm>
          <a:prstGeom prst="arc">
            <a:avLst>
              <a:gd name="adj1" fmla="val 19163152"/>
              <a:gd name="adj2" fmla="val 13132678"/>
            </a:avLst>
          </a:prstGeom>
          <a:ln w="12700">
            <a:gradFill>
              <a:gsLst>
                <a:gs pos="98000">
                  <a:schemeClr val="bg1">
                    <a:alpha val="0"/>
                  </a:schemeClr>
                </a:gs>
                <a:gs pos="68000">
                  <a:schemeClr val="bg1">
                    <a:alpha val="29485"/>
                  </a:schemeClr>
                </a:gs>
                <a:gs pos="8000">
                  <a:schemeClr val="accent3"/>
                </a:gs>
                <a:gs pos="18000">
                  <a:schemeClr val="accent3">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99" name="Arc 98">
            <a:extLst>
              <a:ext uri="{FF2B5EF4-FFF2-40B4-BE49-F238E27FC236}">
                <a16:creationId xmlns:a16="http://schemas.microsoft.com/office/drawing/2014/main" id="{86B057A7-8157-80A0-0AA7-9BDCD7BBB467}"/>
              </a:ext>
            </a:extLst>
          </p:cNvPr>
          <p:cNvSpPr>
            <a:spLocks/>
          </p:cNvSpPr>
          <p:nvPr/>
        </p:nvSpPr>
        <p:spPr>
          <a:xfrm>
            <a:off x="5176684" y="2825556"/>
            <a:ext cx="1850921" cy="1820186"/>
          </a:xfrm>
          <a:prstGeom prst="arc">
            <a:avLst>
              <a:gd name="adj1" fmla="val 5508426"/>
              <a:gd name="adj2" fmla="val 14121050"/>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25FF9DAC-CBE3-1B3F-9290-7F5D371A5401}"/>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5900476" y="1505595"/>
            <a:ext cx="403047" cy="343715"/>
          </a:xfrm>
          <a:prstGeom prst="rect">
            <a:avLst/>
          </a:prstGeom>
        </p:spPr>
      </p:pic>
      <p:pic>
        <p:nvPicPr>
          <p:cNvPr id="79" name="Graphic 78">
            <a:extLst>
              <a:ext uri="{FF2B5EF4-FFF2-40B4-BE49-F238E27FC236}">
                <a16:creationId xmlns:a16="http://schemas.microsoft.com/office/drawing/2014/main" id="{488B6BB2-C968-8F30-797C-D8BF8F77ADF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11" name="Oval 43">
            <a:extLst>
              <a:ext uri="{FF2B5EF4-FFF2-40B4-BE49-F238E27FC236}">
                <a16:creationId xmlns:a16="http://schemas.microsoft.com/office/drawing/2014/main" id="{72B4FB6F-6763-191D-367B-6D9493FDE909}"/>
              </a:ext>
            </a:extLst>
          </p:cNvPr>
          <p:cNvSpPr>
            <a:spLocks/>
          </p:cNvSpPr>
          <p:nvPr/>
        </p:nvSpPr>
        <p:spPr>
          <a:xfrm>
            <a:off x="5569297" y="3200400"/>
            <a:ext cx="1057490" cy="1057490"/>
          </a:xfrm>
          <a:prstGeom prst="ellipse">
            <a:avLst/>
          </a:prstGeom>
          <a:gradFill>
            <a:gsLst>
              <a:gs pos="21000">
                <a:schemeClr val="tx2">
                  <a:alpha val="0"/>
                </a:schemeClr>
              </a:gs>
              <a:gs pos="55000">
                <a:schemeClr val="accent1">
                  <a:alpha val="14976"/>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31" name="Boog 30">
            <a:extLst>
              <a:ext uri="{FF2B5EF4-FFF2-40B4-BE49-F238E27FC236}">
                <a16:creationId xmlns:a16="http://schemas.microsoft.com/office/drawing/2014/main" id="{2E76718F-E362-2675-C4E3-B79D88D026C1}"/>
              </a:ext>
            </a:extLst>
          </p:cNvPr>
          <p:cNvSpPr>
            <a:spLocks noChangeAspect="1"/>
          </p:cNvSpPr>
          <p:nvPr/>
        </p:nvSpPr>
        <p:spPr>
          <a:xfrm>
            <a:off x="3385191" y="1063763"/>
            <a:ext cx="5342400" cy="5342400"/>
          </a:xfrm>
          <a:prstGeom prst="arc">
            <a:avLst>
              <a:gd name="adj1" fmla="val 8266711"/>
              <a:gd name="adj2" fmla="val 12416581"/>
            </a:avLst>
          </a:prstGeom>
          <a:ln w="12700">
            <a:gradFill>
              <a:gsLst>
                <a:gs pos="83000">
                  <a:schemeClr val="accent3"/>
                </a:gs>
                <a:gs pos="16000">
                  <a:schemeClr val="accent3"/>
                </a:gs>
                <a:gs pos="0">
                  <a:schemeClr val="accent3">
                    <a:alpha val="0"/>
                  </a:schemeClr>
                </a:gs>
                <a:gs pos="100000">
                  <a:schemeClr val="accent3">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2" name="Tekstvak 1">
            <a:extLst>
              <a:ext uri="{FF2B5EF4-FFF2-40B4-BE49-F238E27FC236}">
                <a16:creationId xmlns:a16="http://schemas.microsoft.com/office/drawing/2014/main" id="{DE8DECA9-24CF-753A-9E3D-ED81D7412706}"/>
              </a:ext>
            </a:extLst>
          </p:cNvPr>
          <p:cNvSpPr txBox="1">
            <a:spLocks/>
          </p:cNvSpPr>
          <p:nvPr/>
        </p:nvSpPr>
        <p:spPr>
          <a:xfrm>
            <a:off x="773951" y="2467036"/>
            <a:ext cx="2725576" cy="357277"/>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8ADF5"/>
                </a:solidFill>
                <a:effectLst>
                  <a:outerShdw blurRad="229337" sx="102000" sy="102000" algn="ctr" rotWithShape="0">
                    <a:srgbClr val="1763FF">
                      <a:alpha val="20000"/>
                    </a:srgbClr>
                  </a:outerShdw>
                </a:effectLst>
                <a:uLnTx/>
                <a:uFillTx/>
                <a:latin typeface="☞NOIR PRO MEDIUM" pitchFamily="2" charset="0"/>
                <a:ea typeface="+mn-ea"/>
                <a:cs typeface="+mn-cs"/>
              </a:rPr>
              <a:t>Model sub-characteristics</a:t>
            </a:r>
          </a:p>
        </p:txBody>
      </p:sp>
      <p:sp>
        <p:nvSpPr>
          <p:cNvPr id="29" name="Ovaal 28">
            <a:extLst>
              <a:ext uri="{FF2B5EF4-FFF2-40B4-BE49-F238E27FC236}">
                <a16:creationId xmlns:a16="http://schemas.microsoft.com/office/drawing/2014/main" id="{FB20B4AB-9225-343C-3039-7D6D4668EBFC}"/>
              </a:ext>
            </a:extLst>
          </p:cNvPr>
          <p:cNvSpPr>
            <a:spLocks/>
          </p:cNvSpPr>
          <p:nvPr/>
        </p:nvSpPr>
        <p:spPr>
          <a:xfrm>
            <a:off x="3385191" y="3111240"/>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0" name="Ovaal 29">
            <a:extLst>
              <a:ext uri="{FF2B5EF4-FFF2-40B4-BE49-F238E27FC236}">
                <a16:creationId xmlns:a16="http://schemas.microsoft.com/office/drawing/2014/main" id="{2E5481D9-8C0E-A2F0-820F-EC973CFB7F55}"/>
              </a:ext>
            </a:extLst>
          </p:cNvPr>
          <p:cNvSpPr>
            <a:spLocks/>
          </p:cNvSpPr>
          <p:nvPr/>
        </p:nvSpPr>
        <p:spPr>
          <a:xfrm>
            <a:off x="3324388" y="3825339"/>
            <a:ext cx="126489"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2" name="Ovaal 31">
            <a:extLst>
              <a:ext uri="{FF2B5EF4-FFF2-40B4-BE49-F238E27FC236}">
                <a16:creationId xmlns:a16="http://schemas.microsoft.com/office/drawing/2014/main" id="{F992DA66-29D9-1466-1F41-2D8827291212}"/>
              </a:ext>
            </a:extLst>
          </p:cNvPr>
          <p:cNvSpPr>
            <a:spLocks/>
          </p:cNvSpPr>
          <p:nvPr/>
        </p:nvSpPr>
        <p:spPr>
          <a:xfrm>
            <a:off x="3467971" y="4563771"/>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6" name="Ovaal 35">
            <a:extLst>
              <a:ext uri="{FF2B5EF4-FFF2-40B4-BE49-F238E27FC236}">
                <a16:creationId xmlns:a16="http://schemas.microsoft.com/office/drawing/2014/main" id="{B435B4C7-661B-FDF9-E7D5-7747088120FF}"/>
              </a:ext>
            </a:extLst>
          </p:cNvPr>
          <p:cNvSpPr>
            <a:spLocks/>
          </p:cNvSpPr>
          <p:nvPr/>
        </p:nvSpPr>
        <p:spPr>
          <a:xfrm>
            <a:off x="3645999" y="4985107"/>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8" name="Tekstvak 37">
            <a:extLst>
              <a:ext uri="{FF2B5EF4-FFF2-40B4-BE49-F238E27FC236}">
                <a16:creationId xmlns:a16="http://schemas.microsoft.com/office/drawing/2014/main" id="{10D3DB77-BAAE-D993-38A8-5175851EB1D3}"/>
              </a:ext>
            </a:extLst>
          </p:cNvPr>
          <p:cNvSpPr txBox="1">
            <a:spLocks/>
          </p:cNvSpPr>
          <p:nvPr/>
        </p:nvSpPr>
        <p:spPr>
          <a:xfrm>
            <a:off x="393577" y="2957541"/>
            <a:ext cx="2933901" cy="635430"/>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SIG Language productivity benchmark</a:t>
            </a:r>
          </a:p>
        </p:txBody>
      </p:sp>
      <p:sp>
        <p:nvSpPr>
          <p:cNvPr id="39" name="Tekstvak 38">
            <a:extLst>
              <a:ext uri="{FF2B5EF4-FFF2-40B4-BE49-F238E27FC236}">
                <a16:creationId xmlns:a16="http://schemas.microsoft.com/office/drawing/2014/main" id="{7E259356-0193-A86A-4CEE-5A1813E29242}"/>
              </a:ext>
            </a:extLst>
          </p:cNvPr>
          <p:cNvSpPr txBox="1">
            <a:spLocks/>
          </p:cNvSpPr>
          <p:nvPr/>
        </p:nvSpPr>
        <p:spPr>
          <a:xfrm>
            <a:off x="225737" y="3691833"/>
            <a:ext cx="3058740" cy="635430"/>
          </a:xfrm>
          <a:prstGeom prst="rect">
            <a:avLst/>
          </a:prstGeom>
          <a:noFill/>
        </p:spPr>
        <p:txBody>
          <a:bodyPr wrap="squar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SIG Maintainability benchmark</a:t>
            </a:r>
          </a:p>
        </p:txBody>
      </p:sp>
      <p:sp>
        <p:nvSpPr>
          <p:cNvPr id="40" name="Tekstvak 39">
            <a:extLst>
              <a:ext uri="{FF2B5EF4-FFF2-40B4-BE49-F238E27FC236}">
                <a16:creationId xmlns:a16="http://schemas.microsoft.com/office/drawing/2014/main" id="{5F0DC96E-F7E0-F74E-E1F1-46E5AC30F48C}"/>
              </a:ext>
            </a:extLst>
          </p:cNvPr>
          <p:cNvSpPr txBox="1">
            <a:spLocks/>
          </p:cNvSpPr>
          <p:nvPr/>
        </p:nvSpPr>
        <p:spPr>
          <a:xfrm>
            <a:off x="942233" y="4426125"/>
            <a:ext cx="2472300"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Software metric results</a:t>
            </a:r>
          </a:p>
        </p:txBody>
      </p:sp>
      <p:sp>
        <p:nvSpPr>
          <p:cNvPr id="41" name="Tekstvak 40">
            <a:extLst>
              <a:ext uri="{FF2B5EF4-FFF2-40B4-BE49-F238E27FC236}">
                <a16:creationId xmlns:a16="http://schemas.microsoft.com/office/drawing/2014/main" id="{F793CE3A-19AA-C87F-F0EE-2C1B9143E48E}"/>
              </a:ext>
            </a:extLst>
          </p:cNvPr>
          <p:cNvSpPr txBox="1">
            <a:spLocks/>
          </p:cNvSpPr>
          <p:nvPr/>
        </p:nvSpPr>
        <p:spPr>
          <a:xfrm>
            <a:off x="2044729" y="4851797"/>
            <a:ext cx="1518514"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Configuration</a:t>
            </a:r>
          </a:p>
        </p:txBody>
      </p:sp>
    </p:spTree>
    <p:extLst>
      <p:ext uri="{BB962C8B-B14F-4D97-AF65-F5344CB8AC3E}">
        <p14:creationId xmlns:p14="http://schemas.microsoft.com/office/powerpoint/2010/main" val="837537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D655E-F97C-8287-6A0E-D45434C8F92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C04ABE8-C279-D9E6-AC8C-52F1BD5E75F8}"/>
              </a:ext>
            </a:extLst>
          </p:cNvPr>
          <p:cNvSpPr>
            <a:spLocks noGrp="1"/>
          </p:cNvSpPr>
          <p:nvPr>
            <p:ph type="body" sz="quarter" idx="12"/>
          </p:nvPr>
        </p:nvSpPr>
        <p:spPr>
          <a:xfrm>
            <a:off x="381000" y="129609"/>
            <a:ext cx="2674945" cy="228145"/>
          </a:xfrm>
        </p:spPr>
        <p:txBody>
          <a:bodyPr/>
          <a:lstStyle/>
          <a:p>
            <a:r>
              <a:rPr lang="en-US" noProof="0" dirty="0"/>
              <a:t>Key findings – Cost estimation</a:t>
            </a:r>
          </a:p>
        </p:txBody>
      </p:sp>
      <p:sp>
        <p:nvSpPr>
          <p:cNvPr id="8" name="Content Placeholder 9">
            <a:extLst>
              <a:ext uri="{FF2B5EF4-FFF2-40B4-BE49-F238E27FC236}">
                <a16:creationId xmlns:a16="http://schemas.microsoft.com/office/drawing/2014/main" id="{14C925DB-E118-F4E3-AF41-5BD45439B8AD}"/>
              </a:ext>
            </a:extLst>
          </p:cNvPr>
          <p:cNvSpPr>
            <a:spLocks noGrp="1"/>
          </p:cNvSpPr>
          <p:nvPr>
            <p:ph sz="quarter" idx="13"/>
          </p:nvPr>
        </p:nvSpPr>
        <p:spPr>
          <a:xfrm>
            <a:off x="155575" y="1411288"/>
            <a:ext cx="8245902" cy="4841875"/>
          </a:xfrm>
        </p:spPr>
        <p:txBody>
          <a:bodyPr/>
          <a:lstStyle/>
          <a:p>
            <a:pPr marL="285750" indent="-285750">
              <a:buFont typeface="Arial" panose="020B0604020202020204" pitchFamily="34" charset="0"/>
              <a:buChar char="•"/>
            </a:pPr>
            <a:r>
              <a:rPr lang="en-US" noProof="0" dirty="0"/>
              <a:t>The code volume totals 43.0 person years of theoretical rebuild volume.</a:t>
            </a:r>
          </a:p>
          <a:p>
            <a:pPr marL="285750" indent="-285750">
              <a:buFont typeface="Arial" panose="020B0604020202020204" pitchFamily="34" charset="0"/>
              <a:buChar char="•"/>
            </a:pPr>
            <a:r>
              <a:rPr lang="en-US" noProof="0" dirty="0"/>
              <a:t>The average maintainability level is at. For modern systems built in common technologies, at minimum a 4-star rating is recommended to avoid unnecessary maintenance cost.</a:t>
            </a:r>
          </a:p>
          <a:p>
            <a:pPr marL="285750" indent="-285750">
              <a:buFont typeface="Arial" panose="020B0604020202020204" pitchFamily="34" charset="0"/>
              <a:buChar char="•"/>
            </a:pPr>
            <a:r>
              <a:rPr lang="en-US" noProof="0" dirty="0" err="1"/>
              <a:t>6.5 FTE of development effort is recommended for maintenance alone.</a:t>
            </a:r>
          </a:p>
          <a:p>
            <a:pPr marL="285750" indent="-285750">
              <a:buFont typeface="Arial" panose="020B0604020202020204" pitchFamily="34" charset="0"/>
              <a:buChar char="•"/>
            </a:pPr>
            <a:r>
              <a:rPr lang="en-US" noProof="0" dirty="0"/>
              <a:t>Approximately 18.2 person years is required to renovate the system towards the recommended 4-star level</a:t>
            </a:r>
          </a:p>
        </p:txBody>
      </p:sp>
      <p:sp>
        <p:nvSpPr>
          <p:cNvPr id="2" name="Footer Placeholder 3">
            <a:extLst>
              <a:ext uri="{FF2B5EF4-FFF2-40B4-BE49-F238E27FC236}">
                <a16:creationId xmlns:a16="http://schemas.microsoft.com/office/drawing/2014/main" id="{6403D236-46DC-F53D-82C2-4D20A0AF68AC}"/>
              </a:ext>
            </a:extLst>
          </p:cNvPr>
          <p:cNvSpPr>
            <a:spLocks noGrp="1"/>
          </p:cNvSpPr>
          <p:nvPr>
            <p:ph type="ftr" sz="quarter" idx="14"/>
          </p:nvPr>
        </p:nvSpPr>
        <p:spPr/>
        <p:txBody>
          <a:bodyPr/>
          <a:lstStyle/>
          <a:p>
            <a:r>
              <a:rPr lang="en-US" noProof="0" dirty="0"/>
              <a:t>Confidential</a:t>
            </a:r>
          </a:p>
        </p:txBody>
      </p:sp>
      <p:sp>
        <p:nvSpPr>
          <p:cNvPr id="5" name="Slide Number Placeholder 4">
            <a:extLst>
              <a:ext uri="{FF2B5EF4-FFF2-40B4-BE49-F238E27FC236}">
                <a16:creationId xmlns:a16="http://schemas.microsoft.com/office/drawing/2014/main" id="{B1B92D6C-0D69-FCB1-5EE4-95B2A83103D0}"/>
              </a:ext>
            </a:extLst>
          </p:cNvPr>
          <p:cNvSpPr>
            <a:spLocks noGrp="1"/>
          </p:cNvSpPr>
          <p:nvPr>
            <p:ph type="sldNum" sz="quarter" idx="15"/>
          </p:nvPr>
        </p:nvSpPr>
        <p:spPr/>
        <p:txBody>
          <a:bodyPr/>
          <a:lstStyle/>
          <a:p>
            <a:fld id="{E242BD21-9B61-2246-BCB1-4BE5E1BEBE1C}" type="slidenum">
              <a:rPr lang="en-US" noProof="0" smtClean="0"/>
              <a:pPr/>
              <a:t>6</a:t>
            </a:fld>
            <a:endParaRPr lang="en-US" noProof="0" dirty="0"/>
          </a:p>
        </p:txBody>
      </p:sp>
      <p:sp>
        <p:nvSpPr>
          <p:cNvPr id="4" name="Title 3">
            <a:extLst>
              <a:ext uri="{FF2B5EF4-FFF2-40B4-BE49-F238E27FC236}">
                <a16:creationId xmlns:a16="http://schemas.microsoft.com/office/drawing/2014/main" id="{29657FF3-6619-08B7-D7FA-29D9470046D2}"/>
              </a:ext>
            </a:extLst>
          </p:cNvPr>
          <p:cNvSpPr>
            <a:spLocks noGrp="1"/>
          </p:cNvSpPr>
          <p:nvPr>
            <p:ph type="title"/>
          </p:nvPr>
        </p:nvSpPr>
        <p:spPr>
          <a:xfrm>
            <a:off x="154800" y="440112"/>
            <a:ext cx="11880000" cy="710067"/>
          </a:xfrm>
        </p:spPr>
        <p:txBody>
          <a:bodyPr/>
          <a:lstStyle/>
          <a:p>
            <a:r>
              <a:rPr lang="en-US" noProof="0" dirty="0"/>
              <a:t>Integrationtest-kafka technical debt is 18.2 person years (42% of its volume)</a:t>
            </a:r>
          </a:p>
        </p:txBody>
      </p:sp>
      <p:sp>
        <p:nvSpPr>
          <p:cNvPr id="9" name="Rectangle 8">
            <a:extLst>
              <a:ext uri="{FF2B5EF4-FFF2-40B4-BE49-F238E27FC236}">
                <a16:creationId xmlns:a16="http://schemas.microsoft.com/office/drawing/2014/main" id="{0C899634-9D42-069D-8642-EC64A877D766}"/>
              </a:ext>
            </a:extLst>
          </p:cNvPr>
          <p:cNvSpPr/>
          <p:nvPr/>
        </p:nvSpPr>
        <p:spPr>
          <a:xfrm>
            <a:off x="8202139" y="1711842"/>
            <a:ext cx="3600840" cy="4338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chemeClr val="tx1">
                  <a:lumMod val="40000"/>
                  <a:lumOff val="60000"/>
                </a:schemeClr>
              </a:buClr>
              <a:buFont typeface="Wingdings" pitchFamily="2" charset="2"/>
              <a:buChar char="§"/>
            </a:pPr>
            <a:endParaRPr lang="en-US" noProof="0" dirty="0">
              <a:solidFill>
                <a:schemeClr val="tx1"/>
              </a:solidFill>
            </a:endParaRPr>
          </a:p>
        </p:txBody>
      </p:sp>
      <p:sp>
        <p:nvSpPr>
          <p:cNvPr id="10" name="TextBox 20">
            <a:extLst>
              <a:ext uri="{FF2B5EF4-FFF2-40B4-BE49-F238E27FC236}">
                <a16:creationId xmlns:a16="http://schemas.microsoft.com/office/drawing/2014/main" id="{C4DC25EC-B24A-5D12-8A8F-843FC11DA1F0}"/>
              </a:ext>
            </a:extLst>
          </p:cNvPr>
          <p:cNvSpPr txBox="1"/>
          <p:nvPr/>
        </p:nvSpPr>
        <p:spPr>
          <a:xfrm>
            <a:off x="2096093" y="6441308"/>
            <a:ext cx="9428642" cy="256609"/>
          </a:xfrm>
          <a:prstGeom prst="rect">
            <a:avLst/>
          </a:prstGeom>
          <a:noFill/>
        </p:spPr>
        <p:txBody>
          <a:bodyPr wrap="square" lIns="0" tIns="45720" rIns="0" bIns="45720" rtlCol="0" anchor="t">
            <a:spAutoFit/>
          </a:bodyPr>
          <a:lstStyle/>
          <a:p>
            <a:pPr>
              <a:lnSpc>
                <a:spcPct val="113000"/>
              </a:lnSpc>
            </a:pPr>
            <a:r>
              <a:rPr lang="en-US" sz="1000" noProof="0" dirty="0">
                <a:solidFill>
                  <a:schemeClr val="bg2">
                    <a:lumMod val="50000"/>
                  </a:schemeClr>
                </a:solidFill>
              </a:rPr>
              <a:t>* At an assumed cost of </a:t>
            </a:r>
            <a:r>
              <a:rPr lang="en-US" sz="1000" b="1" i="0" noProof="0" dirty="0">
                <a:solidFill>
                  <a:schemeClr val="bg2">
                    <a:lumMod val="50000"/>
                  </a:schemeClr>
                </a:solidFill>
                <a:effectLst/>
                <a:latin typeface="Google Sans"/>
              </a:rPr>
              <a:t>€</a:t>
            </a:r>
            <a:r>
              <a:rPr lang="en-US" sz="1000" b="1" noProof="0" dirty="0">
                <a:solidFill>
                  <a:schemeClr val="bg2">
                    <a:lumMod val="50000"/>
                  </a:schemeClr>
                </a:solidFill>
              </a:rPr>
              <a:t>150K/FTE per year</a:t>
            </a:r>
            <a:r>
              <a:rPr lang="en-US" sz="1000" noProof="0" dirty="0">
                <a:solidFill>
                  <a:schemeClr val="bg2">
                    <a:lumMod val="50000"/>
                  </a:schemeClr>
                </a:solidFill>
              </a:rPr>
              <a:t>; Costs address software development effort, no additional project (management) costs.</a:t>
            </a:r>
          </a:p>
        </p:txBody>
      </p:sp>
      <p:cxnSp>
        <p:nvCxnSpPr>
          <p:cNvPr id="28" name="Straight Connector 6">
            <a:extLst>
              <a:ext uri="{FF2B5EF4-FFF2-40B4-BE49-F238E27FC236}">
                <a16:creationId xmlns:a16="http://schemas.microsoft.com/office/drawing/2014/main" id="{BC9E30B0-576B-88A2-00C1-921F32E0F2D8}"/>
              </a:ext>
            </a:extLst>
          </p:cNvPr>
          <p:cNvCxnSpPr>
            <a:cxnSpLocks/>
          </p:cNvCxnSpPr>
          <p:nvPr/>
        </p:nvCxnSpPr>
        <p:spPr>
          <a:xfrm>
            <a:off x="8460712" y="1525524"/>
            <a:ext cx="0" cy="4505033"/>
          </a:xfrm>
          <a:prstGeom prst="line">
            <a:avLst/>
          </a:prstGeom>
          <a:ln w="12700">
            <a:solidFill>
              <a:srgbClr val="B3BECD"/>
            </a:solidFill>
            <a:prstDash val="sysDot"/>
          </a:ln>
        </p:spPr>
        <p:style>
          <a:lnRef idx="1">
            <a:schemeClr val="accent1"/>
          </a:lnRef>
          <a:fillRef idx="0">
            <a:schemeClr val="accent1"/>
          </a:fillRef>
          <a:effectRef idx="0">
            <a:schemeClr val="accent1"/>
          </a:effectRef>
          <a:fontRef idx="minor">
            <a:schemeClr val="tx1"/>
          </a:fontRef>
        </p:style>
      </p:cxnSp>
      <p:sp>
        <p:nvSpPr>
          <p:cNvPr id="30" name="TextBox 14">
            <a:extLst>
              <a:ext uri="{FF2B5EF4-FFF2-40B4-BE49-F238E27FC236}">
                <a16:creationId xmlns:a16="http://schemas.microsoft.com/office/drawing/2014/main" id="{D9EF6390-5FE2-830E-BA6B-5297C426F1C3}"/>
              </a:ext>
            </a:extLst>
          </p:cNvPr>
          <p:cNvSpPr txBox="1">
            <a:spLocks noGrp="1" noRot="1" noMove="1" noResize="1" noEditPoints="1" noAdjustHandles="1" noChangeArrowheads="1" noChangeShapeType="1"/>
          </p:cNvSpPr>
          <p:nvPr/>
        </p:nvSpPr>
        <p:spPr>
          <a:xfrm>
            <a:off x="8581292" y="1420924"/>
            <a:ext cx="1379052" cy="357277"/>
          </a:xfrm>
          <a:prstGeom prst="rect">
            <a:avLst/>
          </a:prstGeom>
          <a:noFill/>
        </p:spPr>
        <p:txBody>
          <a:bodyPr wrap="none" lIns="90000" rtlCol="0" anchor="t">
            <a:spAutoFit/>
          </a:bodyPr>
          <a:lstStyle/>
          <a:p>
            <a:pPr algn="l">
              <a:lnSpc>
                <a:spcPct val="113000"/>
              </a:lnSpc>
            </a:pPr>
            <a:r>
              <a:rPr lang="en-US" sz="1600" noProof="0" dirty="0">
                <a:latin typeface="☞NOIR PRO MEDIUM" pitchFamily="2" charset="0"/>
              </a:rPr>
              <a:t>Terminology</a:t>
            </a:r>
          </a:p>
        </p:txBody>
      </p:sp>
      <p:graphicFrame>
        <p:nvGraphicFramePr>
          <p:cNvPr id="6" name="Table 10">
            <a:extLst>
              <a:ext uri="{FF2B5EF4-FFF2-40B4-BE49-F238E27FC236}">
                <a16:creationId xmlns:a16="http://schemas.microsoft.com/office/drawing/2014/main" id="{5EC81CC7-8162-6B1C-495A-A6286EDF4C96}"/>
              </a:ext>
            </a:extLst>
          </p:cNvPr>
          <p:cNvGraphicFramePr>
            <a:graphicFrameLocks noGrp="1"/>
          </p:cNvGraphicFramePr>
          <p:nvPr>
            <p:extLst>
              <p:ext uri="{D42A27DB-BD31-4B8C-83A1-F6EECF244321}">
                <p14:modId xmlns:p14="http://schemas.microsoft.com/office/powerpoint/2010/main" val="1460280873"/>
              </p:ext>
            </p:extLst>
          </p:nvPr>
        </p:nvGraphicFramePr>
        <p:xfrm>
          <a:off x="154800" y="3881008"/>
          <a:ext cx="8104657" cy="1141440"/>
        </p:xfrm>
        <a:graphic>
          <a:graphicData uri="http://schemas.openxmlformats.org/drawingml/2006/table">
            <a:tbl>
              <a:tblPr firstRow="1" bandRow="1">
                <a:effectLst/>
                <a:tableStyleId>{F2DE63D5-997A-4646-A377-4702673A728D}</a:tableStyleId>
              </a:tblPr>
              <a:tblGrid>
                <a:gridCol w="2065886">
                  <a:extLst>
                    <a:ext uri="{9D8B030D-6E8A-4147-A177-3AD203B41FA5}">
                      <a16:colId xmlns:a16="http://schemas.microsoft.com/office/drawing/2014/main" val="20000"/>
                    </a:ext>
                  </a:extLst>
                </a:gridCol>
                <a:gridCol w="1175657">
                  <a:extLst>
                    <a:ext uri="{9D8B030D-6E8A-4147-A177-3AD203B41FA5}">
                      <a16:colId xmlns:a16="http://schemas.microsoft.com/office/drawing/2014/main" val="14339150"/>
                    </a:ext>
                  </a:extLst>
                </a:gridCol>
                <a:gridCol w="1197428">
                  <a:extLst>
                    <a:ext uri="{9D8B030D-6E8A-4147-A177-3AD203B41FA5}">
                      <a16:colId xmlns:a16="http://schemas.microsoft.com/office/drawing/2014/main" val="2067085742"/>
                    </a:ext>
                  </a:extLst>
                </a:gridCol>
                <a:gridCol w="1230086">
                  <a:extLst>
                    <a:ext uri="{9D8B030D-6E8A-4147-A177-3AD203B41FA5}">
                      <a16:colId xmlns:a16="http://schemas.microsoft.com/office/drawing/2014/main" val="3304719765"/>
                    </a:ext>
                  </a:extLst>
                </a:gridCol>
                <a:gridCol w="1184218">
                  <a:extLst>
                    <a:ext uri="{9D8B030D-6E8A-4147-A177-3AD203B41FA5}">
                      <a16:colId xmlns:a16="http://schemas.microsoft.com/office/drawing/2014/main" val="377289107"/>
                    </a:ext>
                  </a:extLst>
                </a:gridCol>
                <a:gridCol w="1251382">
                  <a:extLst>
                    <a:ext uri="{9D8B030D-6E8A-4147-A177-3AD203B41FA5}">
                      <a16:colId xmlns:a16="http://schemas.microsoft.com/office/drawing/2014/main" val="1699343221"/>
                    </a:ext>
                  </a:extLst>
                </a:gridCol>
              </a:tblGrid>
              <a:tr h="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rPr>
                        <a:t>System</a:t>
                      </a:r>
                      <a:endParaRPr lang="en-US" sz="1400" b="0" i="0" noProof="0" dirty="0">
                        <a:solidFill>
                          <a:schemeClr val="tx1"/>
                        </a:solidFill>
                        <a:latin typeface="Noir Pro Medium" pitchFamily="2" charset="0"/>
                        <a:cs typeface="TheSans B4 SemiLight"/>
                      </a:endParaRPr>
                    </a:p>
                  </a:txBody>
                  <a:tcPr marL="216000" marR="108000" marT="72000" marB="72000" anchor="ctr">
                    <a:lnL w="9525" cap="flat" cmpd="sng" algn="ctr">
                      <a:noFill/>
                      <a:prstDash val="soli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bg1"/>
                          </a:solidFill>
                          <a:latin typeface="Noir Pro Medium" pitchFamily="2" charset="0"/>
                          <a:cs typeface="TheSans B4 SemiLight"/>
                        </a:rPr>
                        <a:t>Code </a:t>
                      </a:r>
                      <a:br>
                        <a:rPr lang="en-US" sz="1400" b="0" i="0" noProof="0" dirty="0">
                          <a:solidFill>
                            <a:schemeClr val="bg1"/>
                          </a:solidFill>
                          <a:latin typeface="Noir Pro Medium" pitchFamily="2" charset="0"/>
                          <a:cs typeface="TheSans B4 SemiLight"/>
                        </a:rPr>
                      </a:br>
                      <a:r>
                        <a:rPr lang="en-US" sz="1400" b="0" i="0" noProof="0" dirty="0">
                          <a:solidFill>
                            <a:schemeClr val="bg1"/>
                          </a:solidFill>
                          <a:latin typeface="Noir Pro Medium" pitchFamily="2" charset="0"/>
                          <a:cs typeface="TheSans B4 SemiLight"/>
                        </a:rPr>
                        <a:t>volume</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bg1"/>
                          </a:solidFill>
                          <a:latin typeface="Noir Pro Medium" pitchFamily="2" charset="0"/>
                          <a:cs typeface="TheSans B4 SemiLight"/>
                        </a:rPr>
                        <a:t>Technical debt</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Projected maintenance</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4"/>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Available capacity</a:t>
                      </a:r>
                    </a:p>
                  </a:txBody>
                  <a:tcPr marL="0" marR="0" marT="72000" marB="7200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chemeClr val="accent3"/>
                    </a:solidFill>
                  </a:tcP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400" b="0" i="0" noProof="0" dirty="0">
                          <a:solidFill>
                            <a:schemeClr val="tx1"/>
                          </a:solidFill>
                          <a:latin typeface="Noir Pro Medium" pitchFamily="2" charset="0"/>
                          <a:cs typeface="TheSans B4 SemiLight"/>
                        </a:rPr>
                        <a:t>Innovation capacity</a:t>
                      </a:r>
                    </a:p>
                  </a:txBody>
                  <a:tcPr marL="0" marR="0" marT="72000" marB="72000" anchor="ctr">
                    <a:lnL w="12700" cap="flat" cmpd="sng" algn="ctr">
                      <a:solidFill>
                        <a:schemeClr val="bg1"/>
                      </a:solidFill>
                      <a:prstDash val="solid"/>
                      <a:round/>
                      <a:headEnd type="none" w="med" len="med"/>
                      <a:tailEnd type="none" w="med" len="med"/>
                    </a:lnL>
                    <a:lnR>
                      <a:noFill/>
                    </a:lnR>
                    <a:lnT w="38100" cap="flat" cmpd="sng" algn="ctr">
                      <a:noFill/>
                      <a:prstDash val="solid"/>
                      <a:round/>
                      <a:headEnd type="none" w="med" len="med"/>
                      <a:tailEnd type="none" w="med" len="med"/>
                    </a:lnT>
                    <a:lnB w="381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solidFill>
                      <a:srgbClr val="57C968"/>
                    </a:solidFill>
                  </a:tcPr>
                </a:tc>
                <a:extLst>
                  <a:ext uri="{0D108BD9-81ED-4DB2-BD59-A6C34878D82A}">
                    <a16:rowId xmlns:a16="http://schemas.microsoft.com/office/drawing/2014/main" val="10000"/>
                  </a:ext>
                </a:extLst>
              </a:tr>
              <a:tr h="0">
                <a:tc>
                  <a:txBody>
                    <a:bodyPr/>
                    <a:lstStyle/>
                    <a:p>
                      <a:pPr algn="l"/>
                      <a:r>
                        <a:rPr lang="en-US" sz="1400" b="0" noProof="0" dirty="0" err="1">
                          <a:solidFill>
                            <a:schemeClr val="tx1"/>
                          </a:solidFill>
                        </a:rPr>
                        <a:t>Integrationtest-kafka</a:t>
                      </a:r>
                      <a:endParaRPr lang="en-US" sz="1400" b="0" noProof="0" dirty="0">
                        <a:solidFill>
                          <a:schemeClr val="tx1"/>
                        </a:solidFill>
                      </a:endParaRPr>
                    </a:p>
                  </a:txBody>
                  <a:tcPr marL="216000"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noProof="0" dirty="0" err="1">
                          <a:solidFill>
                            <a:schemeClr val="tx1"/>
                          </a:solidFill>
                        </a:rPr>
                        <a:t>43.0 PY</a:t>
                      </a:r>
                    </a:p>
                  </a:txBody>
                  <a:tcPr marT="72000" marB="72000" anchor="ctr">
                    <a:lnL w="9525" cap="flat" cmpd="sng" algn="ctr">
                      <a:noFill/>
                      <a:prstDash val="solid"/>
                    </a:lnL>
                    <a:lnR w="12700" cap="flat" cmpd="sng" algn="ctr">
                      <a:noFill/>
                      <a:prstDash val="solid"/>
                      <a:round/>
                      <a:headEnd type="none" w="med" len="med"/>
                      <a:tailEnd type="none" w="med" len="med"/>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i="0" kern="1200" noProof="0" dirty="0">
                          <a:solidFill>
                            <a:schemeClr val="tx1"/>
                          </a:solidFill>
                          <a:latin typeface="+mn-lt"/>
                          <a:ea typeface="+mn-ea"/>
                          <a:cs typeface="+mn-cs"/>
                        </a:rPr>
                        <a:t>18.2 PY</a:t>
                      </a:r>
                    </a:p>
                  </a:txBody>
                  <a:tcPr marT="72000" marB="72000" anchor="ctr">
                    <a:lnL w="12700" cap="flat" cmpd="sng" algn="ctr">
                      <a:noFill/>
                      <a:prstDash val="solid"/>
                      <a:round/>
                      <a:headEnd type="none" w="med" len="med"/>
                      <a:tailEnd type="none" w="med" len="me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err="1">
                          <a:ln>
                            <a:noFill/>
                          </a:ln>
                          <a:solidFill>
                            <a:schemeClr val="tx1"/>
                          </a:solidFill>
                          <a:effectLst/>
                          <a:uLnTx/>
                          <a:uFillTx/>
                          <a:latin typeface="+mn-lt"/>
                          <a:ea typeface="+mn-ea"/>
                          <a:cs typeface="+mn-cs"/>
                        </a:rPr>
                        <a:t>6.5 FTE</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tx1"/>
                          </a:solidFill>
                          <a:effectLst/>
                          <a:uLnTx/>
                          <a:uFillTx/>
                          <a:latin typeface="Calibri" panose="020F0502020204030204"/>
                          <a:ea typeface="+mn-ea"/>
                          <a:cs typeface="+mn-cs"/>
                        </a:rPr>
                        <a:t>@@ FTE</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400" b="0" i="0" noProof="0" dirty="0">
                          <a:solidFill>
                            <a:schemeClr val="tx1"/>
                          </a:solidFill>
                        </a:rPr>
                        <a:t>@@ FTE (@@%)</a:t>
                      </a:r>
                    </a:p>
                  </a:txBody>
                  <a:tcPr marT="72000" marB="72000" anchor="ctr">
                    <a:lnL w="9525" cap="flat" cmpd="sng" algn="ctr">
                      <a:noFill/>
                      <a:prstDash val="solid"/>
                    </a:lnL>
                    <a:lnR>
                      <a:noFill/>
                    </a:lnR>
                    <a:lnT w="38100" cap="flat" cmpd="sng" algn="ctr">
                      <a:solidFill>
                        <a:schemeClr val="tx2"/>
                      </a:solidFill>
                      <a:prstDash val="solid"/>
                      <a:round/>
                      <a:headEnd type="none" w="med" len="med"/>
                      <a:tailEnd type="none" w="med" len="med"/>
                    </a:lnT>
                    <a:lnB w="9525" cap="flat" cmpd="sng" algn="ctr">
                      <a:solidFill>
                        <a:schemeClr val="bg2">
                          <a:lumMod val="9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bl>
          </a:graphicData>
        </a:graphic>
      </p:graphicFrame>
      <p:sp>
        <p:nvSpPr>
          <p:cNvPr id="7" name="Rectangle 6">
            <a:extLst>
              <a:ext uri="{FF2B5EF4-FFF2-40B4-BE49-F238E27FC236}">
                <a16:creationId xmlns:a16="http://schemas.microsoft.com/office/drawing/2014/main" id="{98F1D6A9-6AA2-B77F-75EA-F5693038D876}"/>
              </a:ext>
            </a:extLst>
          </p:cNvPr>
          <p:cNvSpPr/>
          <p:nvPr/>
        </p:nvSpPr>
        <p:spPr>
          <a:xfrm>
            <a:off x="8202139" y="1711842"/>
            <a:ext cx="3600840" cy="43380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Clr>
                <a:schemeClr val="tx1">
                  <a:lumMod val="40000"/>
                  <a:lumOff val="60000"/>
                </a:schemeClr>
              </a:buClr>
              <a:buFont typeface="Wingdings" pitchFamily="2" charset="2"/>
              <a:buChar char="§"/>
            </a:pPr>
            <a:endParaRPr lang="en-US" noProof="0" dirty="0">
              <a:solidFill>
                <a:schemeClr val="tx1"/>
              </a:solidFill>
            </a:endParaRPr>
          </a:p>
        </p:txBody>
      </p:sp>
      <p:sp>
        <p:nvSpPr>
          <p:cNvPr id="12" name="Rectangle 51">
            <a:extLst>
              <a:ext uri="{FF2B5EF4-FFF2-40B4-BE49-F238E27FC236}">
                <a16:creationId xmlns:a16="http://schemas.microsoft.com/office/drawing/2014/main" id="{6B7B3571-B154-08F5-EAB8-EDBD315AC933}"/>
              </a:ext>
            </a:extLst>
          </p:cNvPr>
          <p:cNvSpPr>
            <a:spLocks noGrp="1" noRot="1" noMove="1" noResize="1" noEditPoints="1" noAdjustHandles="1" noChangeArrowheads="1" noChangeShapeType="1"/>
          </p:cNvSpPr>
          <p:nvPr/>
        </p:nvSpPr>
        <p:spPr>
          <a:xfrm>
            <a:off x="8581291" y="1762133"/>
            <a:ext cx="3453503" cy="4513424"/>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80975"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2"/>
                </a:solidFill>
              </a:rPr>
              <a:t>Code volume </a:t>
            </a:r>
            <a:r>
              <a:rPr lang="en-US" sz="1200" noProof="0" dirty="0">
                <a:solidFill>
                  <a:schemeClr val="tx1"/>
                </a:solidFill>
              </a:rPr>
              <a:t>is the estimated amount of development effort to produce the current amount of lines of code.</a:t>
            </a: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5"/>
                </a:solidFill>
              </a:rPr>
              <a:t>Technical debt</a:t>
            </a:r>
            <a:r>
              <a:rPr lang="en-US" sz="1200" noProof="0" dirty="0">
                <a:solidFill>
                  <a:schemeClr val="accent5"/>
                </a:solidFill>
              </a:rPr>
              <a:t> </a:t>
            </a:r>
            <a:r>
              <a:rPr lang="en-US" sz="1200" noProof="0" dirty="0">
                <a:solidFill>
                  <a:schemeClr val="tx1"/>
                </a:solidFill>
              </a:rPr>
              <a:t>is the estimated amount of development effort to improve the Maintainability of the system to a given target rating (typically 3.5). The recommended target level can be adjusted, depending on the context of the system.</a:t>
            </a:r>
          </a:p>
          <a:p>
            <a:pPr marL="171450" indent="-171450">
              <a:spcAft>
                <a:spcPts val="1200"/>
              </a:spcAft>
              <a:buClr>
                <a:schemeClr val="tx1">
                  <a:lumMod val="40000"/>
                  <a:lumOff val="60000"/>
                </a:schemeClr>
              </a:buClr>
              <a:buFont typeface="Arial" panose="020B0604020202020204" pitchFamily="34" charset="0"/>
              <a:buChar char="•"/>
            </a:pPr>
            <a:r>
              <a:rPr lang="en-US" sz="1200" noProof="0" dirty="0">
                <a:solidFill>
                  <a:schemeClr val="tx1"/>
                </a:solidFill>
              </a:rPr>
              <a:t>The yearly </a:t>
            </a:r>
            <a:r>
              <a:rPr lang="en-US" sz="1200" b="1" noProof="0" dirty="0">
                <a:solidFill>
                  <a:schemeClr val="accent4">
                    <a:lumMod val="75000"/>
                  </a:schemeClr>
                </a:solidFill>
              </a:rPr>
              <a:t>Projected maintenance </a:t>
            </a:r>
            <a:r>
              <a:rPr lang="en-US" sz="1200" noProof="0" dirty="0">
                <a:solidFill>
                  <a:schemeClr val="tx1"/>
                </a:solidFill>
              </a:rPr>
              <a:t>is calculated using the code volume and quality. It assumes an annual 15% required change rate in the code base (where 5% is considered the minimum in an EOL lifecycle phase). </a:t>
            </a:r>
            <a:r>
              <a:rPr lang="en-US" sz="1200" b="1" noProof="0" dirty="0">
                <a:solidFill>
                  <a:schemeClr val="tx1"/>
                </a:solidFill>
              </a:rPr>
              <a:t>Spending less effort is likely to deteriorate the maintainability.</a:t>
            </a:r>
            <a:endParaRPr lang="en-US" sz="1200" b="1" noProof="0" dirty="0">
              <a:solidFill>
                <a:schemeClr val="tx1"/>
              </a:solidFill>
              <a:ea typeface="Calibri"/>
              <a:cs typeface="Calibri"/>
            </a:endParaRP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chemeClr val="accent3"/>
                </a:solidFill>
              </a:rPr>
              <a:t>Available capacity </a:t>
            </a:r>
            <a:r>
              <a:rPr lang="en-US" sz="1200" noProof="0" dirty="0">
                <a:solidFill>
                  <a:schemeClr val="tx1"/>
                </a:solidFill>
              </a:rPr>
              <a:t>is checked based on the number of developers working on the codebase in the past 12 months.</a:t>
            </a:r>
          </a:p>
          <a:p>
            <a:pPr marL="171450" indent="-171450">
              <a:spcAft>
                <a:spcPts val="1200"/>
              </a:spcAft>
              <a:buClr>
                <a:schemeClr val="tx1">
                  <a:lumMod val="40000"/>
                  <a:lumOff val="60000"/>
                </a:schemeClr>
              </a:buClr>
              <a:buFont typeface="Arial" panose="020B0604020202020204" pitchFamily="34" charset="0"/>
              <a:buChar char="•"/>
            </a:pPr>
            <a:r>
              <a:rPr lang="en-US" sz="1200" b="1" noProof="0" dirty="0">
                <a:solidFill>
                  <a:srgbClr val="57C968"/>
                </a:solidFill>
              </a:rPr>
              <a:t>Innovation capacity </a:t>
            </a:r>
            <a:r>
              <a:rPr lang="en-US" sz="1200" noProof="0" dirty="0">
                <a:solidFill>
                  <a:schemeClr val="tx1"/>
                </a:solidFill>
              </a:rPr>
              <a:t>is the number of FTE available for innovation, calculated by subtracting projected FTE from the available FTE</a:t>
            </a:r>
          </a:p>
          <a:p>
            <a:pPr marL="285750" indent="-285750">
              <a:buClr>
                <a:schemeClr val="tx1">
                  <a:lumMod val="50000"/>
                  <a:lumOff val="50000"/>
                </a:schemeClr>
              </a:buClr>
              <a:buFont typeface=".AppleSystemUIFont"/>
              <a:buChar char="&gt;"/>
            </a:pPr>
            <a:endParaRPr lang="en-US" sz="1400" noProof="0" dirty="0">
              <a:solidFill>
                <a:schemeClr val="bg1">
                  <a:lumMod val="50000"/>
                </a:schemeClr>
              </a:solidFill>
            </a:endParaRPr>
          </a:p>
        </p:txBody>
      </p:sp>
      <p:cxnSp>
        <p:nvCxnSpPr>
          <p:cNvPr id="13" name="Straight Connector 16">
            <a:extLst>
              <a:ext uri="{FF2B5EF4-FFF2-40B4-BE49-F238E27FC236}">
                <a16:creationId xmlns:a16="http://schemas.microsoft.com/office/drawing/2014/main" id="{513C36C2-BD39-7400-5EF7-2B2BE3F51652}"/>
              </a:ext>
            </a:extLst>
          </p:cNvPr>
          <p:cNvCxnSpPr>
            <a:cxnSpLocks noGrp="1" noRot="1" noMove="1" noResize="1" noEditPoints="1" noAdjustHandles="1" noChangeArrowheads="1" noChangeShapeType="1"/>
          </p:cNvCxnSpPr>
          <p:nvPr/>
        </p:nvCxnSpPr>
        <p:spPr>
          <a:xfrm>
            <a:off x="8703278" y="1873108"/>
            <a:ext cx="0" cy="414914"/>
          </a:xfrm>
          <a:prstGeom prst="line">
            <a:avLst/>
          </a:prstGeom>
          <a:ln w="63500" cap="rnd">
            <a:solidFill>
              <a:schemeClr val="accent2"/>
            </a:solidFill>
            <a:prstDash val="solid"/>
          </a:ln>
        </p:spPr>
        <p:style>
          <a:lnRef idx="1">
            <a:schemeClr val="accent1"/>
          </a:lnRef>
          <a:fillRef idx="0">
            <a:schemeClr val="accent1"/>
          </a:fillRef>
          <a:effectRef idx="0">
            <a:schemeClr val="accent1"/>
          </a:effectRef>
          <a:fontRef idx="minor">
            <a:schemeClr val="tx1"/>
          </a:fontRef>
        </p:style>
      </p:cxnSp>
      <p:cxnSp>
        <p:nvCxnSpPr>
          <p:cNvPr id="14" name="Straight Connector 17">
            <a:extLst>
              <a:ext uri="{FF2B5EF4-FFF2-40B4-BE49-F238E27FC236}">
                <a16:creationId xmlns:a16="http://schemas.microsoft.com/office/drawing/2014/main" id="{33E8D316-CE81-857A-9A37-7374096B09B4}"/>
              </a:ext>
            </a:extLst>
          </p:cNvPr>
          <p:cNvCxnSpPr>
            <a:cxnSpLocks noGrp="1" noRot="1" noMove="1" noResize="1" noEditPoints="1" noAdjustHandles="1" noChangeArrowheads="1" noChangeShapeType="1"/>
          </p:cNvCxnSpPr>
          <p:nvPr/>
        </p:nvCxnSpPr>
        <p:spPr>
          <a:xfrm>
            <a:off x="8703278" y="2564969"/>
            <a:ext cx="0" cy="996937"/>
          </a:xfrm>
          <a:prstGeom prst="line">
            <a:avLst/>
          </a:prstGeom>
          <a:ln w="63500" cap="rnd">
            <a:solidFill>
              <a:schemeClr val="accent5"/>
            </a:solidFill>
            <a:prstDash val="solid"/>
          </a:ln>
        </p:spPr>
        <p:style>
          <a:lnRef idx="1">
            <a:schemeClr val="accent1"/>
          </a:lnRef>
          <a:fillRef idx="0">
            <a:schemeClr val="accent1"/>
          </a:fillRef>
          <a:effectRef idx="0">
            <a:schemeClr val="accent1"/>
          </a:effectRef>
          <a:fontRef idx="minor">
            <a:schemeClr val="tx1"/>
          </a:fontRef>
        </p:style>
      </p:cxnSp>
      <p:cxnSp>
        <p:nvCxnSpPr>
          <p:cNvPr id="15" name="Straight Connector 18">
            <a:extLst>
              <a:ext uri="{FF2B5EF4-FFF2-40B4-BE49-F238E27FC236}">
                <a16:creationId xmlns:a16="http://schemas.microsoft.com/office/drawing/2014/main" id="{031E0116-E325-3696-9898-7AEA82AA33E7}"/>
              </a:ext>
            </a:extLst>
          </p:cNvPr>
          <p:cNvCxnSpPr>
            <a:cxnSpLocks noGrp="1" noRot="1" noMove="1" noResize="1" noEditPoints="1" noAdjustHandles="1" noChangeArrowheads="1" noChangeShapeType="1"/>
          </p:cNvCxnSpPr>
          <p:nvPr/>
        </p:nvCxnSpPr>
        <p:spPr>
          <a:xfrm>
            <a:off x="8703278" y="3814079"/>
            <a:ext cx="0" cy="972937"/>
          </a:xfrm>
          <a:prstGeom prst="line">
            <a:avLst/>
          </a:prstGeom>
          <a:ln w="63500" cap="rnd">
            <a:solidFill>
              <a:schemeClr val="accent4"/>
            </a:solidFill>
            <a:prstDash val="solid"/>
          </a:ln>
        </p:spPr>
        <p:style>
          <a:lnRef idx="1">
            <a:schemeClr val="accent1"/>
          </a:lnRef>
          <a:fillRef idx="0">
            <a:schemeClr val="accent1"/>
          </a:fillRef>
          <a:effectRef idx="0">
            <a:schemeClr val="accent1"/>
          </a:effectRef>
          <a:fontRef idx="minor">
            <a:schemeClr val="tx1"/>
          </a:fontRef>
        </p:style>
      </p:cxnSp>
      <p:cxnSp>
        <p:nvCxnSpPr>
          <p:cNvPr id="16" name="Straight Connector 16">
            <a:extLst>
              <a:ext uri="{FF2B5EF4-FFF2-40B4-BE49-F238E27FC236}">
                <a16:creationId xmlns:a16="http://schemas.microsoft.com/office/drawing/2014/main" id="{F2890E64-F917-1103-3B56-C727E285854F}"/>
              </a:ext>
            </a:extLst>
          </p:cNvPr>
          <p:cNvCxnSpPr>
            <a:cxnSpLocks noGrp="1" noRot="1" noMove="1" noResize="1" noEditPoints="1" noAdjustHandles="1" noChangeArrowheads="1" noChangeShapeType="1"/>
          </p:cNvCxnSpPr>
          <p:nvPr/>
        </p:nvCxnSpPr>
        <p:spPr>
          <a:xfrm>
            <a:off x="8703278" y="5082702"/>
            <a:ext cx="0" cy="414914"/>
          </a:xfrm>
          <a:prstGeom prst="line">
            <a:avLst/>
          </a:prstGeom>
          <a:ln w="63500" cap="rnd">
            <a:solidFill>
              <a:schemeClr val="accent3"/>
            </a:solidFill>
            <a:prstDash val="solid"/>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80578821-521C-DF0B-77D9-5727D80D2434}"/>
              </a:ext>
            </a:extLst>
          </p:cNvPr>
          <p:cNvCxnSpPr>
            <a:cxnSpLocks noGrp="1" noRot="1" noMove="1" noResize="1" noEditPoints="1" noAdjustHandles="1" noChangeArrowheads="1" noChangeShapeType="1"/>
          </p:cNvCxnSpPr>
          <p:nvPr/>
        </p:nvCxnSpPr>
        <p:spPr>
          <a:xfrm>
            <a:off x="8703278" y="5788878"/>
            <a:ext cx="0" cy="414914"/>
          </a:xfrm>
          <a:prstGeom prst="line">
            <a:avLst/>
          </a:prstGeom>
          <a:ln w="63500" cap="rnd">
            <a:solidFill>
              <a:srgbClr val="57C968"/>
            </a:solidFill>
            <a:prstDash val="soli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56569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9029-494E-D668-93B1-7F49FC34F0BB}"/>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378968FB-3711-3026-1330-401242361C5B}"/>
              </a:ext>
            </a:extLst>
          </p:cNvPr>
          <p:cNvSpPr/>
          <p:nvPr/>
        </p:nvSpPr>
        <p:spPr>
          <a:xfrm>
            <a:off x="3385191" y="1063763"/>
            <a:ext cx="5340638" cy="5340638"/>
          </a:xfrm>
          <a:prstGeom prst="ellipse">
            <a:avLst/>
          </a:prstGeom>
          <a:gradFill>
            <a:gsLst>
              <a:gs pos="0">
                <a:schemeClr val="accent2">
                  <a:alpha val="15073"/>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5" name="Oval 64">
            <a:extLst>
              <a:ext uri="{FF2B5EF4-FFF2-40B4-BE49-F238E27FC236}">
                <a16:creationId xmlns:a16="http://schemas.microsoft.com/office/drawing/2014/main" id="{D589D5F7-9445-B968-24E7-C852C6FE25B8}"/>
              </a:ext>
            </a:extLst>
          </p:cNvPr>
          <p:cNvSpPr/>
          <p:nvPr/>
        </p:nvSpPr>
        <p:spPr>
          <a:xfrm>
            <a:off x="4004388" y="1634792"/>
            <a:ext cx="4180824" cy="4180824"/>
          </a:xfrm>
          <a:prstGeom prst="ellipse">
            <a:avLst/>
          </a:prstGeom>
          <a:gradFill>
            <a:gsLst>
              <a:gs pos="0">
                <a:schemeClr val="accent2">
                  <a:alpha val="20000"/>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3" name="Text Placeholder 62">
            <a:extLst>
              <a:ext uri="{FF2B5EF4-FFF2-40B4-BE49-F238E27FC236}">
                <a16:creationId xmlns:a16="http://schemas.microsoft.com/office/drawing/2014/main" id="{8492BCF5-82F4-DA5D-4789-A5B31042FCD0}"/>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71F068-8C71-3D21-62FF-DAD35585195B}"/>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F0CE3D29-F258-C742-2A14-BCF03986DEC9}"/>
              </a:ext>
            </a:extLst>
          </p:cNvPr>
          <p:cNvSpPr>
            <a:spLocks noGrp="1"/>
          </p:cNvSpPr>
          <p:nvPr>
            <p:ph type="sldNum" sz="quarter" idx="15"/>
          </p:nvPr>
        </p:nvSpPr>
        <p:spPr/>
        <p:txBody>
          <a:bodyPr/>
          <a:lstStyle/>
          <a:p>
            <a:fld id="{E242BD21-9B61-2246-BCB1-4BE5E1BEBE1C}" type="slidenum">
              <a:rPr lang="en-US" noProof="0" smtClean="0"/>
              <a:pPr/>
              <a:t>7</a:t>
            </a:fld>
            <a:endParaRPr lang="en-US" noProof="0" dirty="0"/>
          </a:p>
        </p:txBody>
      </p:sp>
      <p:sp>
        <p:nvSpPr>
          <p:cNvPr id="70" name="Title 69">
            <a:extLst>
              <a:ext uri="{FF2B5EF4-FFF2-40B4-BE49-F238E27FC236}">
                <a16:creationId xmlns:a16="http://schemas.microsoft.com/office/drawing/2014/main" id="{FEE2E2EB-95CB-3211-6E1B-4E3530EAF847}"/>
              </a:ext>
            </a:extLst>
          </p:cNvPr>
          <p:cNvSpPr>
            <a:spLocks noGrp="1"/>
          </p:cNvSpPr>
          <p:nvPr>
            <p:ph type="title"/>
          </p:nvPr>
        </p:nvSpPr>
        <p:spPr/>
        <p:txBody>
          <a:bodyPr/>
          <a:lstStyle/>
          <a:p>
            <a:r>
              <a:rPr lang="en-US" noProof="0" dirty="0"/>
              <a:t>Explanation: The ISO 25010 standard for Maintainability has 5 sub-characteristics</a:t>
            </a:r>
          </a:p>
        </p:txBody>
      </p:sp>
      <p:sp>
        <p:nvSpPr>
          <p:cNvPr id="8" name="Oval 7">
            <a:extLst>
              <a:ext uri="{FF2B5EF4-FFF2-40B4-BE49-F238E27FC236}">
                <a16:creationId xmlns:a16="http://schemas.microsoft.com/office/drawing/2014/main" id="{2BBBE6C2-E269-6739-DCEE-23464110F405}"/>
              </a:ext>
            </a:extLst>
          </p:cNvPr>
          <p:cNvSpPr/>
          <p:nvPr/>
        </p:nvSpPr>
        <p:spPr>
          <a:xfrm>
            <a:off x="4673297" y="2304400"/>
            <a:ext cx="2849490" cy="2849490"/>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9" name="Oval 8">
            <a:extLst>
              <a:ext uri="{FF2B5EF4-FFF2-40B4-BE49-F238E27FC236}">
                <a16:creationId xmlns:a16="http://schemas.microsoft.com/office/drawing/2014/main" id="{6FA26AD2-CD18-09AA-6259-47A153EFE58B}"/>
              </a:ext>
            </a:extLst>
          </p:cNvPr>
          <p:cNvSpPr/>
          <p:nvPr/>
        </p:nvSpPr>
        <p:spPr>
          <a:xfrm>
            <a:off x="5029556" y="2660659"/>
            <a:ext cx="2136972" cy="2136972"/>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0" name="Oval 9">
            <a:extLst>
              <a:ext uri="{FF2B5EF4-FFF2-40B4-BE49-F238E27FC236}">
                <a16:creationId xmlns:a16="http://schemas.microsoft.com/office/drawing/2014/main" id="{DFAF19FF-BA37-4380-8088-C15619A977BB}"/>
              </a:ext>
            </a:extLst>
          </p:cNvPr>
          <p:cNvSpPr/>
          <p:nvPr/>
        </p:nvSpPr>
        <p:spPr>
          <a:xfrm>
            <a:off x="5326438" y="2957541"/>
            <a:ext cx="1543208" cy="1543208"/>
          </a:xfrm>
          <a:prstGeom prst="ellipse">
            <a:avLst/>
          </a:prstGeom>
          <a:gradFill>
            <a:gsLst>
              <a:gs pos="9000">
                <a:schemeClr val="accent2"/>
              </a:gs>
              <a:gs pos="50000">
                <a:schemeClr val="accent2">
                  <a:alpha val="15753"/>
                </a:schemeClr>
              </a:gs>
            </a:gsLst>
            <a:lin ang="2700000" scaled="0"/>
          </a:gradFill>
          <a:ln w="12700">
            <a:solidFill>
              <a:schemeClr val="accent2">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18" name="Oval 17">
            <a:extLst>
              <a:ext uri="{FF2B5EF4-FFF2-40B4-BE49-F238E27FC236}">
                <a16:creationId xmlns:a16="http://schemas.microsoft.com/office/drawing/2014/main" id="{D307C4FC-5D3C-8B82-ABE5-E660625B78E4}"/>
              </a:ext>
            </a:extLst>
          </p:cNvPr>
          <p:cNvSpPr/>
          <p:nvPr/>
        </p:nvSpPr>
        <p:spPr>
          <a:xfrm>
            <a:off x="5568436" y="2929751"/>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0" name="Oval 19">
            <a:extLst>
              <a:ext uri="{FF2B5EF4-FFF2-40B4-BE49-F238E27FC236}">
                <a16:creationId xmlns:a16="http://schemas.microsoft.com/office/drawing/2014/main" id="{73E6D6D2-88F4-7BC7-6A46-956C025FCA17}"/>
              </a:ext>
            </a:extLst>
          </p:cNvPr>
          <p:cNvSpPr/>
          <p:nvPr/>
        </p:nvSpPr>
        <p:spPr>
          <a:xfrm>
            <a:off x="6273956" y="2796588"/>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3" name="Oval 22">
            <a:extLst>
              <a:ext uri="{FF2B5EF4-FFF2-40B4-BE49-F238E27FC236}">
                <a16:creationId xmlns:a16="http://schemas.microsoft.com/office/drawing/2014/main" id="{CB747E2F-C70D-5244-BE82-8BC4127DBA7A}"/>
              </a:ext>
            </a:extLst>
          </p:cNvPr>
          <p:cNvSpPr/>
          <p:nvPr/>
        </p:nvSpPr>
        <p:spPr>
          <a:xfrm>
            <a:off x="5366019" y="4285002"/>
            <a:ext cx="53706" cy="537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4" name="Oval 23">
            <a:extLst>
              <a:ext uri="{FF2B5EF4-FFF2-40B4-BE49-F238E27FC236}">
                <a16:creationId xmlns:a16="http://schemas.microsoft.com/office/drawing/2014/main" id="{2E0BE4FB-999C-BF27-B8A7-24066A3BA8E6}"/>
              </a:ext>
            </a:extLst>
          </p:cNvPr>
          <p:cNvSpPr/>
          <p:nvPr/>
        </p:nvSpPr>
        <p:spPr>
          <a:xfrm>
            <a:off x="6782160" y="4192256"/>
            <a:ext cx="125744" cy="1257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6" name="Oval 25">
            <a:extLst>
              <a:ext uri="{FF2B5EF4-FFF2-40B4-BE49-F238E27FC236}">
                <a16:creationId xmlns:a16="http://schemas.microsoft.com/office/drawing/2014/main" id="{28056860-5CC6-F621-9AF7-D77ECA38E4A9}"/>
              </a:ext>
            </a:extLst>
          </p:cNvPr>
          <p:cNvSpPr/>
          <p:nvPr/>
        </p:nvSpPr>
        <p:spPr>
          <a:xfrm>
            <a:off x="5869449" y="4879641"/>
            <a:ext cx="64650" cy="646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7" name="Oval 26">
            <a:extLst>
              <a:ext uri="{FF2B5EF4-FFF2-40B4-BE49-F238E27FC236}">
                <a16:creationId xmlns:a16="http://schemas.microsoft.com/office/drawing/2014/main" id="{B1D96119-A37F-9FA6-9D63-881C9E5767A1}"/>
              </a:ext>
            </a:extLst>
          </p:cNvPr>
          <p:cNvSpPr/>
          <p:nvPr/>
        </p:nvSpPr>
        <p:spPr>
          <a:xfrm>
            <a:off x="6914740" y="4575176"/>
            <a:ext cx="114710" cy="1147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0" name="Arc 29">
            <a:extLst>
              <a:ext uri="{FF2B5EF4-FFF2-40B4-BE49-F238E27FC236}">
                <a16:creationId xmlns:a16="http://schemas.microsoft.com/office/drawing/2014/main" id="{14CEDFBA-98DB-3774-1CF7-DBB1D4C2DAFF}"/>
              </a:ext>
            </a:extLst>
          </p:cNvPr>
          <p:cNvSpPr/>
          <p:nvPr/>
        </p:nvSpPr>
        <p:spPr>
          <a:xfrm>
            <a:off x="4854843" y="2491915"/>
            <a:ext cx="2499248" cy="2476634"/>
          </a:xfrm>
          <a:prstGeom prst="arc">
            <a:avLst>
              <a:gd name="adj1" fmla="val 17025432"/>
              <a:gd name="adj2" fmla="val 2774786"/>
            </a:avLst>
          </a:prstGeom>
          <a:ln w="9525">
            <a:gradFill>
              <a:gsLst>
                <a:gs pos="0">
                  <a:schemeClr val="accent4">
                    <a:alpha val="50179"/>
                  </a:schemeClr>
                </a:gs>
                <a:gs pos="99000">
                  <a:schemeClr val="accent4">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32" name="Straight Connector 31">
            <a:extLst>
              <a:ext uri="{FF2B5EF4-FFF2-40B4-BE49-F238E27FC236}">
                <a16:creationId xmlns:a16="http://schemas.microsoft.com/office/drawing/2014/main" id="{D50F3A37-B10B-6BF3-08EA-55E6FC5DEEC4}"/>
              </a:ext>
            </a:extLst>
          </p:cNvPr>
          <p:cNvCxnSpPr>
            <a:cxnSpLocks/>
          </p:cNvCxnSpPr>
          <p:nvPr/>
        </p:nvCxnSpPr>
        <p:spPr>
          <a:xfrm flipH="1">
            <a:off x="6308248" y="2534585"/>
            <a:ext cx="87026" cy="323621"/>
          </a:xfrm>
          <a:prstGeom prst="line">
            <a:avLst/>
          </a:prstGeom>
          <a:ln w="9525">
            <a:solidFill>
              <a:schemeClr val="accent4">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E941E86-D981-FF71-D949-E2216C1311D3}"/>
              </a:ext>
            </a:extLst>
          </p:cNvPr>
          <p:cNvSpPr/>
          <p:nvPr/>
        </p:nvSpPr>
        <p:spPr>
          <a:xfrm>
            <a:off x="6357959" y="2486875"/>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8" name="Oval 27">
            <a:extLst>
              <a:ext uri="{FF2B5EF4-FFF2-40B4-BE49-F238E27FC236}">
                <a16:creationId xmlns:a16="http://schemas.microsoft.com/office/drawing/2014/main" id="{A0731FB3-842F-CE4C-6A7D-C66BFBA979CB}"/>
              </a:ext>
            </a:extLst>
          </p:cNvPr>
          <p:cNvSpPr/>
          <p:nvPr/>
        </p:nvSpPr>
        <p:spPr>
          <a:xfrm>
            <a:off x="7254794" y="3280294"/>
            <a:ext cx="45720" cy="45720"/>
          </a:xfrm>
          <a:prstGeom prst="ellipse">
            <a:avLst/>
          </a:prstGeom>
          <a:solidFill>
            <a:srgbClr val="E98C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4" name="Oval 43">
            <a:extLst>
              <a:ext uri="{FF2B5EF4-FFF2-40B4-BE49-F238E27FC236}">
                <a16:creationId xmlns:a16="http://schemas.microsoft.com/office/drawing/2014/main" id="{E0BBCB73-C7CC-EF8D-3A7C-FC0B4B1C56A1}"/>
              </a:ext>
            </a:extLst>
          </p:cNvPr>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21" name="Oval 20">
            <a:extLst>
              <a:ext uri="{FF2B5EF4-FFF2-40B4-BE49-F238E27FC236}">
                <a16:creationId xmlns:a16="http://schemas.microsoft.com/office/drawing/2014/main" id="{5E15D319-A4BF-BADF-EA8F-108D5DB2E930}"/>
              </a:ext>
            </a:extLst>
          </p:cNvPr>
          <p:cNvSpPr/>
          <p:nvPr/>
        </p:nvSpPr>
        <p:spPr>
          <a:xfrm>
            <a:off x="4827909" y="3511470"/>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48" name="Straight Connector 47">
            <a:extLst>
              <a:ext uri="{FF2B5EF4-FFF2-40B4-BE49-F238E27FC236}">
                <a16:creationId xmlns:a16="http://schemas.microsoft.com/office/drawing/2014/main" id="{63B8DC8C-B95F-EDCF-F8D6-2F12C41BCD78}"/>
              </a:ext>
            </a:extLst>
          </p:cNvPr>
          <p:cNvCxnSpPr>
            <a:cxnSpLocks/>
          </p:cNvCxnSpPr>
          <p:nvPr/>
        </p:nvCxnSpPr>
        <p:spPr>
          <a:xfrm>
            <a:off x="6096000" y="4363444"/>
            <a:ext cx="0" cy="263379"/>
          </a:xfrm>
          <a:prstGeom prst="line">
            <a:avLst/>
          </a:prstGeom>
          <a:ln w="9525">
            <a:solidFill>
              <a:schemeClr val="accent2">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4FB75F26-044E-8FDB-8FC7-48A801F00A33}"/>
              </a:ext>
            </a:extLst>
          </p:cNvPr>
          <p:cNvSpPr/>
          <p:nvPr/>
        </p:nvSpPr>
        <p:spPr>
          <a:xfrm>
            <a:off x="6060913" y="4603426"/>
            <a:ext cx="70174" cy="70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51" name="Oval 50">
            <a:extLst>
              <a:ext uri="{FF2B5EF4-FFF2-40B4-BE49-F238E27FC236}">
                <a16:creationId xmlns:a16="http://schemas.microsoft.com/office/drawing/2014/main" id="{9BC0DD81-BAF5-A5D9-3061-E49E7A4ED10C}"/>
              </a:ext>
            </a:extLst>
          </p:cNvPr>
          <p:cNvSpPr/>
          <p:nvPr/>
        </p:nvSpPr>
        <p:spPr>
          <a:xfrm>
            <a:off x="6040908" y="4313883"/>
            <a:ext cx="112242" cy="1122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Content Placeholder 70">
            <a:extLst>
              <a:ext uri="{FF2B5EF4-FFF2-40B4-BE49-F238E27FC236}">
                <a16:creationId xmlns:a16="http://schemas.microsoft.com/office/drawing/2014/main" id="{E6055D41-C03E-E248-ACEE-166CE141D420}"/>
              </a:ext>
            </a:extLst>
          </p:cNvPr>
          <p:cNvSpPr txBox="1">
            <a:spLocks/>
          </p:cNvSpPr>
          <p:nvPr/>
        </p:nvSpPr>
        <p:spPr>
          <a:xfrm>
            <a:off x="8399369" y="1411200"/>
            <a:ext cx="3399054" cy="4842000"/>
          </a:xfrm>
          <a:prstGeom prst="rect">
            <a:avLst/>
          </a:prstGeom>
        </p:spPr>
        <p:txBody>
          <a:bodyPr vert="horz" lIns="216000" tIns="0" rIns="91440" bIns="27432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nSpc>
                <a:spcPct val="150000"/>
              </a:lnSpc>
            </a:pPr>
            <a:r>
              <a:rPr lang="en-US" sz="1400" noProof="0" dirty="0">
                <a:solidFill>
                  <a:schemeClr val="accent3"/>
                </a:solidFill>
                <a:latin typeface="Azeret Mono" pitchFamily="2" charset="77"/>
                <a:cs typeface="Azeret Mono" pitchFamily="2" charset="77"/>
              </a:rPr>
              <a:t>Maintainability is the </a:t>
            </a:r>
            <a:r>
              <a:rPr lang="en-US" sz="1400" noProof="0" dirty="0">
                <a:latin typeface="Azeret Mono" pitchFamily="2" charset="77"/>
                <a:cs typeface="Azeret Mono" pitchFamily="2" charset="77"/>
              </a:rPr>
              <a:t>degree of effectiveness and efficiency</a:t>
            </a:r>
            <a:r>
              <a:rPr lang="en-US" sz="1400" noProof="0" dirty="0">
                <a:solidFill>
                  <a:schemeClr val="accent3"/>
                </a:solidFill>
                <a:latin typeface="Azeret Mono" pitchFamily="2" charset="77"/>
                <a:cs typeface="Azeret Mono" pitchFamily="2" charset="77"/>
              </a:rPr>
              <a:t> with which a product or system </a:t>
            </a:r>
            <a:r>
              <a:rPr lang="en-US" sz="1400" noProof="0" dirty="0">
                <a:latin typeface="Azeret Mono" pitchFamily="2" charset="77"/>
                <a:cs typeface="Azeret Mono" pitchFamily="2" charset="77"/>
              </a:rPr>
              <a:t>can be modified</a:t>
            </a:r>
            <a:r>
              <a:rPr lang="en-US" sz="1400" noProof="0" dirty="0">
                <a:solidFill>
                  <a:schemeClr val="accent3"/>
                </a:solidFill>
                <a:latin typeface="Azeret Mono" pitchFamily="2" charset="77"/>
                <a:cs typeface="Azeret Mono" pitchFamily="2" charset="77"/>
              </a:rPr>
              <a:t> to improve it, correct it or adapt it to changes in environment, and in requirements.</a:t>
            </a:r>
          </a:p>
        </p:txBody>
      </p:sp>
      <p:sp>
        <p:nvSpPr>
          <p:cNvPr id="78" name="Arc 77">
            <a:extLst>
              <a:ext uri="{FF2B5EF4-FFF2-40B4-BE49-F238E27FC236}">
                <a16:creationId xmlns:a16="http://schemas.microsoft.com/office/drawing/2014/main" id="{7CA71824-DE20-DA21-5CC7-3D536499FC0C}"/>
              </a:ext>
            </a:extLst>
          </p:cNvPr>
          <p:cNvSpPr/>
          <p:nvPr/>
        </p:nvSpPr>
        <p:spPr>
          <a:xfrm>
            <a:off x="4403883" y="2031167"/>
            <a:ext cx="3381834" cy="3405830"/>
          </a:xfrm>
          <a:prstGeom prst="arc">
            <a:avLst>
              <a:gd name="adj1" fmla="val 20386561"/>
              <a:gd name="adj2" fmla="val 13132678"/>
            </a:avLst>
          </a:prstGeom>
          <a:ln w="12700">
            <a:gradFill>
              <a:gsLst>
                <a:gs pos="98000">
                  <a:schemeClr val="bg1">
                    <a:alpha val="0"/>
                  </a:schemeClr>
                </a:gs>
                <a:gs pos="68000">
                  <a:schemeClr val="bg1">
                    <a:alpha val="29485"/>
                  </a:schemeClr>
                </a:gs>
                <a:gs pos="8000">
                  <a:schemeClr val="accent4"/>
                </a:gs>
                <a:gs pos="18000">
                  <a:schemeClr val="accent4">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79" name="Graphic 78">
            <a:extLst>
              <a:ext uri="{FF2B5EF4-FFF2-40B4-BE49-F238E27FC236}">
                <a16:creationId xmlns:a16="http://schemas.microsoft.com/office/drawing/2014/main" id="{DB38BDF3-5B3D-61AB-2CFF-AC99F2B0DD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8177" y="5298575"/>
            <a:ext cx="433246" cy="288828"/>
          </a:xfrm>
          <a:prstGeom prst="rect">
            <a:avLst/>
          </a:prstGeom>
          <a:effectLst/>
        </p:spPr>
      </p:pic>
      <p:grpSp>
        <p:nvGrpSpPr>
          <p:cNvPr id="2" name="Groep 1">
            <a:extLst>
              <a:ext uri="{FF2B5EF4-FFF2-40B4-BE49-F238E27FC236}">
                <a16:creationId xmlns:a16="http://schemas.microsoft.com/office/drawing/2014/main" id="{7CC85480-4E9F-88F0-82A3-297861B80249}"/>
              </a:ext>
            </a:extLst>
          </p:cNvPr>
          <p:cNvGrpSpPr/>
          <p:nvPr/>
        </p:nvGrpSpPr>
        <p:grpSpPr>
          <a:xfrm>
            <a:off x="5727023" y="3352101"/>
            <a:ext cx="750242" cy="750242"/>
            <a:chOff x="5933559" y="1864863"/>
            <a:chExt cx="328966" cy="328966"/>
          </a:xfrm>
        </p:grpSpPr>
        <p:sp>
          <p:nvSpPr>
            <p:cNvPr id="97" name="Oval 96">
              <a:extLst>
                <a:ext uri="{FF2B5EF4-FFF2-40B4-BE49-F238E27FC236}">
                  <a16:creationId xmlns:a16="http://schemas.microsoft.com/office/drawing/2014/main" id="{5EBEB883-B167-9258-9B3C-2408558E83C0}"/>
                </a:ext>
              </a:extLst>
            </p:cNvPr>
            <p:cNvSpPr/>
            <p:nvPr/>
          </p:nvSpPr>
          <p:spPr>
            <a:xfrm>
              <a:off x="5933559" y="1864863"/>
              <a:ext cx="328966" cy="328966"/>
            </a:xfrm>
            <a:prstGeom prst="ellips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98" name="Graphic 97">
              <a:extLst>
                <a:ext uri="{FF2B5EF4-FFF2-40B4-BE49-F238E27FC236}">
                  <a16:creationId xmlns:a16="http://schemas.microsoft.com/office/drawing/2014/main" id="{A1F63EEE-282A-49B8-7F1F-6C06CA26428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605" y="1902449"/>
              <a:ext cx="247724" cy="245928"/>
            </a:xfrm>
            <a:prstGeom prst="rect">
              <a:avLst/>
            </a:prstGeom>
          </p:spPr>
        </p:pic>
      </p:grpSp>
      <p:sp>
        <p:nvSpPr>
          <p:cNvPr id="99" name="Arc 98">
            <a:extLst>
              <a:ext uri="{FF2B5EF4-FFF2-40B4-BE49-F238E27FC236}">
                <a16:creationId xmlns:a16="http://schemas.microsoft.com/office/drawing/2014/main" id="{BC3F6D0B-39A8-7839-4108-79110D4A7C29}"/>
              </a:ext>
            </a:extLst>
          </p:cNvPr>
          <p:cNvSpPr/>
          <p:nvPr/>
        </p:nvSpPr>
        <p:spPr>
          <a:xfrm>
            <a:off x="5176684" y="2825556"/>
            <a:ext cx="1850921" cy="1820186"/>
          </a:xfrm>
          <a:prstGeom prst="arc">
            <a:avLst>
              <a:gd name="adj1" fmla="val 5508426"/>
              <a:gd name="adj2" fmla="val 14121050"/>
            </a:avLst>
          </a:prstGeom>
          <a:ln w="9525">
            <a:gradFill>
              <a:gsLst>
                <a:gs pos="0">
                  <a:schemeClr val="accent2">
                    <a:alpha val="90000"/>
                  </a:schemeClr>
                </a:gs>
                <a:gs pos="99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1" name="Oval 43">
            <a:extLst>
              <a:ext uri="{FF2B5EF4-FFF2-40B4-BE49-F238E27FC236}">
                <a16:creationId xmlns:a16="http://schemas.microsoft.com/office/drawing/2014/main" id="{FC31513E-AADB-57EA-8918-A3D07FEEF498}"/>
              </a:ext>
            </a:extLst>
          </p:cNvPr>
          <p:cNvSpPr/>
          <p:nvPr/>
        </p:nvSpPr>
        <p:spPr>
          <a:xfrm>
            <a:off x="5569297" y="3200400"/>
            <a:ext cx="1057490" cy="1057490"/>
          </a:xfrm>
          <a:prstGeom prst="ellipse">
            <a:avLst/>
          </a:prstGeom>
          <a:gradFill>
            <a:gsLst>
              <a:gs pos="21000">
                <a:schemeClr val="tx2">
                  <a:alpha val="0"/>
                </a:schemeClr>
              </a:gs>
              <a:gs pos="55000">
                <a:schemeClr val="accent1">
                  <a:alpha val="47523"/>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7" name="Tekstvak 6">
            <a:extLst>
              <a:ext uri="{FF2B5EF4-FFF2-40B4-BE49-F238E27FC236}">
                <a16:creationId xmlns:a16="http://schemas.microsoft.com/office/drawing/2014/main" id="{DDA7093A-1B01-B016-708F-AB00927B2C3C}"/>
              </a:ext>
            </a:extLst>
          </p:cNvPr>
          <p:cNvSpPr txBox="1"/>
          <p:nvPr/>
        </p:nvSpPr>
        <p:spPr>
          <a:xfrm>
            <a:off x="381216" y="2467036"/>
            <a:ext cx="3118311" cy="357277"/>
          </a:xfrm>
          <a:prstGeom prst="rect">
            <a:avLst/>
          </a:prstGeom>
          <a:noFill/>
        </p:spPr>
        <p:txBody>
          <a:bodyPr wrap="none" lIns="90000" rtlCol="0" anchor="t">
            <a:spAutoFit/>
          </a:bodyPr>
          <a:lstStyle/>
          <a:p>
            <a:pPr algn="r">
              <a:lnSpc>
                <a:spcPct val="113000"/>
              </a:lnSpc>
            </a:pPr>
            <a:r>
              <a:rPr lang="en-US" sz="1600" noProof="0" dirty="0">
                <a:solidFill>
                  <a:schemeClr val="accent2"/>
                </a:solidFill>
                <a:effectLst>
                  <a:outerShdw blurRad="229337" sx="102000" sy="102000" algn="ctr" rotWithShape="0">
                    <a:schemeClr val="accent2">
                      <a:alpha val="20000"/>
                    </a:schemeClr>
                  </a:outerShdw>
                </a:effectLst>
                <a:latin typeface="☞NOIR PRO MEDIUM" pitchFamily="2" charset="0"/>
              </a:rPr>
              <a:t>ISO 25010 sub-characteristics</a:t>
            </a:r>
          </a:p>
        </p:txBody>
      </p:sp>
      <p:sp>
        <p:nvSpPr>
          <p:cNvPr id="12" name="Boog 11">
            <a:extLst>
              <a:ext uri="{FF2B5EF4-FFF2-40B4-BE49-F238E27FC236}">
                <a16:creationId xmlns:a16="http://schemas.microsoft.com/office/drawing/2014/main" id="{9C79D787-D6AD-4F8F-4E1E-93558DDEBC19}"/>
              </a:ext>
            </a:extLst>
          </p:cNvPr>
          <p:cNvSpPr>
            <a:spLocks noChangeAspect="1"/>
          </p:cNvSpPr>
          <p:nvPr/>
        </p:nvSpPr>
        <p:spPr>
          <a:xfrm>
            <a:off x="3385191" y="1063763"/>
            <a:ext cx="5342400" cy="5342400"/>
          </a:xfrm>
          <a:prstGeom prst="arc">
            <a:avLst>
              <a:gd name="adj1" fmla="val 8378942"/>
              <a:gd name="adj2" fmla="val 12416581"/>
            </a:avLst>
          </a:prstGeom>
          <a:ln w="12700">
            <a:gradFill>
              <a:gsLst>
                <a:gs pos="83000">
                  <a:schemeClr val="accent2"/>
                </a:gs>
                <a:gs pos="16000">
                  <a:srgbClr val="1763FF"/>
                </a:gs>
                <a:gs pos="0">
                  <a:srgbClr val="1763FF">
                    <a:alpha val="0"/>
                  </a:srgbClr>
                </a:gs>
                <a:gs pos="100000">
                  <a:schemeClr val="accent2">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 name="Ovaal 12">
            <a:extLst>
              <a:ext uri="{FF2B5EF4-FFF2-40B4-BE49-F238E27FC236}">
                <a16:creationId xmlns:a16="http://schemas.microsoft.com/office/drawing/2014/main" id="{7370D5DE-BDC4-C35E-9C2E-91716BD02B09}"/>
              </a:ext>
            </a:extLst>
          </p:cNvPr>
          <p:cNvSpPr/>
          <p:nvPr/>
        </p:nvSpPr>
        <p:spPr>
          <a:xfrm>
            <a:off x="3385191" y="3111240"/>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 name="Ovaal 13">
            <a:extLst>
              <a:ext uri="{FF2B5EF4-FFF2-40B4-BE49-F238E27FC236}">
                <a16:creationId xmlns:a16="http://schemas.microsoft.com/office/drawing/2014/main" id="{05F72ED1-5264-5B67-3E36-3014750C4C2F}"/>
              </a:ext>
            </a:extLst>
          </p:cNvPr>
          <p:cNvSpPr/>
          <p:nvPr/>
        </p:nvSpPr>
        <p:spPr>
          <a:xfrm>
            <a:off x="3323073" y="359028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 name="Ovaal 14">
            <a:extLst>
              <a:ext uri="{FF2B5EF4-FFF2-40B4-BE49-F238E27FC236}">
                <a16:creationId xmlns:a16="http://schemas.microsoft.com/office/drawing/2014/main" id="{D527CEC1-161B-AAA5-0623-23D5400DE1FD}"/>
              </a:ext>
            </a:extLst>
          </p:cNvPr>
          <p:cNvSpPr/>
          <p:nvPr/>
        </p:nvSpPr>
        <p:spPr>
          <a:xfrm>
            <a:off x="3364103" y="4093669"/>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Ovaal 16">
            <a:extLst>
              <a:ext uri="{FF2B5EF4-FFF2-40B4-BE49-F238E27FC236}">
                <a16:creationId xmlns:a16="http://schemas.microsoft.com/office/drawing/2014/main" id="{76D1A933-8CFE-0DCE-2D90-AA32A2AEAE8A}"/>
              </a:ext>
            </a:extLst>
          </p:cNvPr>
          <p:cNvSpPr/>
          <p:nvPr/>
        </p:nvSpPr>
        <p:spPr>
          <a:xfrm>
            <a:off x="3496656" y="4588574"/>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Ovaal 18">
            <a:extLst>
              <a:ext uri="{FF2B5EF4-FFF2-40B4-BE49-F238E27FC236}">
                <a16:creationId xmlns:a16="http://schemas.microsoft.com/office/drawing/2014/main" id="{018CDC19-0EC4-9F41-5100-944A5A79A3FA}"/>
              </a:ext>
            </a:extLst>
          </p:cNvPr>
          <p:cNvSpPr/>
          <p:nvPr/>
        </p:nvSpPr>
        <p:spPr>
          <a:xfrm>
            <a:off x="3728666" y="508934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5" name="Tekstvak 24">
            <a:extLst>
              <a:ext uri="{FF2B5EF4-FFF2-40B4-BE49-F238E27FC236}">
                <a16:creationId xmlns:a16="http://schemas.microsoft.com/office/drawing/2014/main" id="{411E51BD-8E0A-61AA-F8D8-E2C22B791EE6}"/>
              </a:ext>
            </a:extLst>
          </p:cNvPr>
          <p:cNvSpPr txBox="1"/>
          <p:nvPr/>
        </p:nvSpPr>
        <p:spPr>
          <a:xfrm>
            <a:off x="1897130" y="2957541"/>
            <a:ext cx="1430348"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Analyzability</a:t>
            </a:r>
          </a:p>
        </p:txBody>
      </p:sp>
      <p:sp>
        <p:nvSpPr>
          <p:cNvPr id="29" name="Tekstvak 28">
            <a:extLst>
              <a:ext uri="{FF2B5EF4-FFF2-40B4-BE49-F238E27FC236}">
                <a16:creationId xmlns:a16="http://schemas.microsoft.com/office/drawing/2014/main" id="{6A376295-9E29-C7D4-23E5-9B1234CB0463}"/>
              </a:ext>
            </a:extLst>
          </p:cNvPr>
          <p:cNvSpPr txBox="1"/>
          <p:nvPr/>
        </p:nvSpPr>
        <p:spPr>
          <a:xfrm>
            <a:off x="1875926" y="3456782"/>
            <a:ext cx="1395083"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Modifiability</a:t>
            </a:r>
          </a:p>
        </p:txBody>
      </p:sp>
      <p:sp>
        <p:nvSpPr>
          <p:cNvPr id="31" name="Tekstvak 30">
            <a:extLst>
              <a:ext uri="{FF2B5EF4-FFF2-40B4-BE49-F238E27FC236}">
                <a16:creationId xmlns:a16="http://schemas.microsoft.com/office/drawing/2014/main" id="{1D693990-F9F5-6A3F-373A-F98CAD402E8F}"/>
              </a:ext>
            </a:extLst>
          </p:cNvPr>
          <p:cNvSpPr txBox="1"/>
          <p:nvPr/>
        </p:nvSpPr>
        <p:spPr>
          <a:xfrm>
            <a:off x="2119163" y="3956023"/>
            <a:ext cx="1191501"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Testability</a:t>
            </a:r>
          </a:p>
        </p:txBody>
      </p:sp>
      <p:sp>
        <p:nvSpPr>
          <p:cNvPr id="33" name="Tekstvak 32">
            <a:extLst>
              <a:ext uri="{FF2B5EF4-FFF2-40B4-BE49-F238E27FC236}">
                <a16:creationId xmlns:a16="http://schemas.microsoft.com/office/drawing/2014/main" id="{2093B8B8-8C79-64C9-64E5-517C5AA9AA30}"/>
              </a:ext>
            </a:extLst>
          </p:cNvPr>
          <p:cNvSpPr txBox="1"/>
          <p:nvPr/>
        </p:nvSpPr>
        <p:spPr>
          <a:xfrm>
            <a:off x="2177515" y="4455264"/>
            <a:ext cx="1236385"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Modularity</a:t>
            </a:r>
          </a:p>
        </p:txBody>
      </p:sp>
      <p:sp>
        <p:nvSpPr>
          <p:cNvPr id="34" name="Tekstvak 33">
            <a:extLst>
              <a:ext uri="{FF2B5EF4-FFF2-40B4-BE49-F238E27FC236}">
                <a16:creationId xmlns:a16="http://schemas.microsoft.com/office/drawing/2014/main" id="{1C9C562C-B3AC-5C48-5694-72B1C7FF5D8F}"/>
              </a:ext>
            </a:extLst>
          </p:cNvPr>
          <p:cNvSpPr txBox="1"/>
          <p:nvPr/>
        </p:nvSpPr>
        <p:spPr>
          <a:xfrm>
            <a:off x="2387522" y="4954505"/>
            <a:ext cx="1247606" cy="357277"/>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Reusability</a:t>
            </a:r>
          </a:p>
        </p:txBody>
      </p:sp>
      <p:sp>
        <p:nvSpPr>
          <p:cNvPr id="35" name="TextBox 41">
            <a:extLst>
              <a:ext uri="{FF2B5EF4-FFF2-40B4-BE49-F238E27FC236}">
                <a16:creationId xmlns:a16="http://schemas.microsoft.com/office/drawing/2014/main" id="{206057EE-BF64-9DF8-554C-8935F9D2B966}"/>
              </a:ext>
            </a:extLst>
          </p:cNvPr>
          <p:cNvSpPr txBox="1"/>
          <p:nvPr/>
        </p:nvSpPr>
        <p:spPr>
          <a:xfrm rot="4314380">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noProof="0" dirty="0">
                <a:gradFill>
                  <a:gsLst>
                    <a:gs pos="26000">
                      <a:srgbClr val="E98C36"/>
                    </a:gs>
                    <a:gs pos="67000">
                      <a:schemeClr val="accent4"/>
                    </a:gs>
                  </a:gsLst>
                  <a:lin ang="9600000" scaled="0"/>
                </a:gradFill>
                <a:latin typeface="Noir Pro Semi Bold" pitchFamily="2" charset="0"/>
              </a:rPr>
              <a:t>ISO 25010       Maintainability</a:t>
            </a:r>
          </a:p>
        </p:txBody>
      </p:sp>
      <p:pic>
        <p:nvPicPr>
          <p:cNvPr id="36" name="Graphic 35">
            <a:extLst>
              <a:ext uri="{FF2B5EF4-FFF2-40B4-BE49-F238E27FC236}">
                <a16:creationId xmlns:a16="http://schemas.microsoft.com/office/drawing/2014/main" id="{C6AEC9BC-2562-04CA-C1D9-0C7137DF20D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06764" y="1826081"/>
            <a:ext cx="393006" cy="333158"/>
          </a:xfrm>
          <a:prstGeom prst="rect">
            <a:avLst/>
          </a:prstGeom>
        </p:spPr>
      </p:pic>
    </p:spTree>
    <p:extLst>
      <p:ext uri="{BB962C8B-B14F-4D97-AF65-F5344CB8AC3E}">
        <p14:creationId xmlns:p14="http://schemas.microsoft.com/office/powerpoint/2010/main" val="418998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1D5E-A2B9-C328-B774-190AA227CD4A}"/>
            </a:ext>
          </a:extLst>
        </p:cNvPr>
        <p:cNvGrpSpPr/>
        <p:nvPr/>
      </p:nvGrpSpPr>
      <p:grpSpPr>
        <a:xfrm>
          <a:off x="0" y="0"/>
          <a:ext cx="0" cy="0"/>
          <a:chOff x="0" y="0"/>
          <a:chExt cx="0" cy="0"/>
        </a:xfrm>
      </p:grpSpPr>
      <p:graphicFrame>
        <p:nvGraphicFramePr>
          <p:cNvPr id="20" name="Tabel 19">
            <a:extLst>
              <a:ext uri="{FF2B5EF4-FFF2-40B4-BE49-F238E27FC236}">
                <a16:creationId xmlns:a16="http://schemas.microsoft.com/office/drawing/2014/main" id="{4348BD50-B7D4-1657-172B-FF11CBC247D8}"/>
              </a:ext>
            </a:extLst>
          </p:cNvPr>
          <p:cNvGraphicFramePr>
            <a:graphicFrameLocks noGrp="1"/>
          </p:cNvGraphicFramePr>
          <p:nvPr/>
        </p:nvGraphicFramePr>
        <p:xfrm>
          <a:off x="154798" y="2717216"/>
          <a:ext cx="11880000" cy="2340000"/>
        </p:xfrm>
        <a:graphic>
          <a:graphicData uri="http://schemas.openxmlformats.org/drawingml/2006/table">
            <a:tbl>
              <a:tblPr>
                <a:tableStyleId>{5C22544A-7EE6-4342-B048-85BDC9FD1C3A}</a:tableStyleId>
              </a:tblPr>
              <a:tblGrid>
                <a:gridCol w="11880000">
                  <a:extLst>
                    <a:ext uri="{9D8B030D-6E8A-4147-A177-3AD203B41FA5}">
                      <a16:colId xmlns:a16="http://schemas.microsoft.com/office/drawing/2014/main" val="946129596"/>
                    </a:ext>
                  </a:extLst>
                </a:gridCol>
              </a:tblGrid>
              <a:tr h="468000">
                <a:tc>
                  <a:txBody>
                    <a:bodyPr/>
                    <a:lstStyle/>
                    <a:p>
                      <a:pPr>
                        <a:lnSpc>
                          <a:spcPct val="90000"/>
                        </a:lnSpc>
                      </a:pPr>
                      <a:r>
                        <a:rPr lang="en-US" sz="1200" b="0" i="0" noProof="0" dirty="0">
                          <a:solidFill>
                            <a:schemeClr val="bg1"/>
                          </a:solidFill>
                          <a:latin typeface="☞NOIR PRO MEDIUM" pitchFamily="2" charset="0"/>
                        </a:rPr>
                        <a:t>Analyzability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691436511"/>
                  </a:ext>
                </a:extLst>
              </a:tr>
              <a:tr h="468000">
                <a:tc>
                  <a:txBody>
                    <a:bodyPr/>
                    <a:lstStyle/>
                    <a:p>
                      <a:pPr>
                        <a:lnSpc>
                          <a:spcPct val="90000"/>
                        </a:lnSpc>
                      </a:pPr>
                      <a:r>
                        <a:rPr lang="en-US" sz="1200" b="0" i="0" noProof="0" dirty="0">
                          <a:solidFill>
                            <a:schemeClr val="bg1"/>
                          </a:solidFill>
                          <a:latin typeface="☞NOIR PRO MEDIUM" pitchFamily="2" charset="0"/>
                        </a:rPr>
                        <a:t>Modifiability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026125709"/>
                  </a:ext>
                </a:extLst>
              </a:tr>
              <a:tr h="468000">
                <a:tc>
                  <a:txBody>
                    <a:bodyPr/>
                    <a:lstStyle/>
                    <a:p>
                      <a:pPr>
                        <a:lnSpc>
                          <a:spcPct val="90000"/>
                        </a:lnSpc>
                      </a:pPr>
                      <a:r>
                        <a:rPr lang="en-US" sz="1200" b="0" i="0" noProof="0" dirty="0">
                          <a:solidFill>
                            <a:schemeClr val="bg1"/>
                          </a:solidFill>
                          <a:latin typeface="☞NOIR PRO MEDIUM" pitchFamily="2" charset="0"/>
                        </a:rPr>
                        <a:t>Testability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328417789"/>
                  </a:ext>
                </a:extLst>
              </a:tr>
              <a:tr h="468000">
                <a:tc>
                  <a:txBody>
                    <a:bodyPr/>
                    <a:lstStyle/>
                    <a:p>
                      <a:pPr>
                        <a:lnSpc>
                          <a:spcPct val="90000"/>
                        </a:lnSpc>
                      </a:pPr>
                      <a:r>
                        <a:rPr lang="en-US" sz="1200" b="0" i="0" noProof="0" dirty="0">
                          <a:solidFill>
                            <a:schemeClr val="bg1"/>
                          </a:solidFill>
                          <a:latin typeface="☞NOIR PRO MEDIUM" pitchFamily="2" charset="0"/>
                        </a:rPr>
                        <a:t>Modularity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1500965361"/>
                  </a:ext>
                </a:extLst>
              </a:tr>
              <a:tr h="468000">
                <a:tc>
                  <a:txBody>
                    <a:bodyPr/>
                    <a:lstStyle/>
                    <a:p>
                      <a:pPr>
                        <a:lnSpc>
                          <a:spcPct val="90000"/>
                        </a:lnSpc>
                      </a:pPr>
                      <a:r>
                        <a:rPr lang="en-US" sz="1200" b="0" i="0" noProof="0" dirty="0">
                          <a:solidFill>
                            <a:schemeClr val="bg1"/>
                          </a:solidFill>
                          <a:latin typeface="☞NOIR PRO MEDIUM" pitchFamily="2" charset="0"/>
                        </a:rPr>
                        <a:t>Reusability</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2866552359"/>
                  </a:ext>
                </a:extLst>
              </a:tr>
            </a:tbl>
          </a:graphicData>
        </a:graphic>
      </p:graphicFrame>
      <p:sp>
        <p:nvSpPr>
          <p:cNvPr id="2" name="Afgeronde rechthoek 1">
            <a:extLst>
              <a:ext uri="{FF2B5EF4-FFF2-40B4-BE49-F238E27FC236}">
                <a16:creationId xmlns:a16="http://schemas.microsoft.com/office/drawing/2014/main" id="{B727BF5E-99B6-49EF-E4BA-CF8DCB737B80}"/>
              </a:ext>
            </a:extLst>
          </p:cNvPr>
          <p:cNvSpPr>
            <a:spLocks/>
          </p:cNvSpPr>
          <p:nvPr/>
        </p:nvSpPr>
        <p:spPr>
          <a:xfrm>
            <a:off x="2404922" y="2119302"/>
            <a:ext cx="9173128" cy="3422188"/>
          </a:xfrm>
          <a:prstGeom prst="roundRect">
            <a:avLst>
              <a:gd name="adj" fmla="val 4344"/>
            </a:avLst>
          </a:prstGeom>
          <a:gradFill>
            <a:gsLst>
              <a:gs pos="0">
                <a:srgbClr val="1763FF">
                  <a:alpha val="26798"/>
                </a:srgbClr>
              </a:gs>
              <a:gs pos="7000">
                <a:schemeClr val="accent2">
                  <a:alpha val="9069"/>
                </a:schemeClr>
              </a:gs>
              <a:gs pos="42000">
                <a:schemeClr val="accent2">
                  <a:alpha val="0"/>
                </a:schemeClr>
              </a:gs>
            </a:gsLst>
            <a:lin ang="4200000" scaled="0"/>
          </a:gradFill>
          <a:ln w="9525">
            <a:gradFill>
              <a:gsLst>
                <a:gs pos="0">
                  <a:schemeClr val="accent3">
                    <a:alpha val="34000"/>
                  </a:schemeClr>
                </a:gs>
                <a:gs pos="23000">
                  <a:schemeClr val="accent3">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0" name="Text Placeholder 169">
            <a:extLst>
              <a:ext uri="{FF2B5EF4-FFF2-40B4-BE49-F238E27FC236}">
                <a16:creationId xmlns:a16="http://schemas.microsoft.com/office/drawing/2014/main" id="{8A7018F4-6ACE-298D-AE34-CBEDCC026F34}"/>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3" name="Footer Placeholder 2">
            <a:extLst>
              <a:ext uri="{FF2B5EF4-FFF2-40B4-BE49-F238E27FC236}">
                <a16:creationId xmlns:a16="http://schemas.microsoft.com/office/drawing/2014/main" id="{5B6251E5-A1AC-6CFF-9472-C53DC41655B8}"/>
              </a:ext>
            </a:extLst>
          </p:cNvPr>
          <p:cNvSpPr>
            <a:spLocks noGrp="1"/>
          </p:cNvSpPr>
          <p:nvPr>
            <p:ph type="ftr" sz="quarter" idx="14"/>
          </p:nvPr>
        </p:nvSpPr>
        <p:spPr/>
        <p:txBody>
          <a:bodyPr/>
          <a:lstStyle/>
          <a:p>
            <a:r>
              <a:rPr lang="en-US" noProof="0" dirty="0"/>
              <a:t>Confidential</a:t>
            </a:r>
          </a:p>
        </p:txBody>
      </p:sp>
      <p:sp>
        <p:nvSpPr>
          <p:cNvPr id="4" name="Slide Number Placeholder 3">
            <a:extLst>
              <a:ext uri="{FF2B5EF4-FFF2-40B4-BE49-F238E27FC236}">
                <a16:creationId xmlns:a16="http://schemas.microsoft.com/office/drawing/2014/main" id="{F62980CA-BB04-6BB3-C0C8-A9D4C2BCC14F}"/>
              </a:ext>
            </a:extLst>
          </p:cNvPr>
          <p:cNvSpPr>
            <a:spLocks noGrp="1"/>
          </p:cNvSpPr>
          <p:nvPr>
            <p:ph type="sldNum" sz="quarter" idx="15"/>
          </p:nvPr>
        </p:nvSpPr>
        <p:spPr/>
        <p:txBody>
          <a:bodyPr/>
          <a:lstStyle/>
          <a:p>
            <a:fld id="{E242BD21-9B61-2246-BCB1-4BE5E1BEBE1C}" type="slidenum">
              <a:rPr lang="en-US" noProof="0" smtClean="0"/>
              <a:pPr/>
              <a:t>8</a:t>
            </a:fld>
            <a:endParaRPr lang="en-US" noProof="0" dirty="0"/>
          </a:p>
        </p:txBody>
      </p:sp>
      <p:sp>
        <p:nvSpPr>
          <p:cNvPr id="169" name="Title 168">
            <a:extLst>
              <a:ext uri="{FF2B5EF4-FFF2-40B4-BE49-F238E27FC236}">
                <a16:creationId xmlns:a16="http://schemas.microsoft.com/office/drawing/2014/main" id="{BC78F56D-3B9B-285C-51D5-D64BCFD4ED90}"/>
              </a:ext>
            </a:extLst>
          </p:cNvPr>
          <p:cNvSpPr>
            <a:spLocks noGrp="1"/>
          </p:cNvSpPr>
          <p:nvPr>
            <p:ph type="title"/>
          </p:nvPr>
        </p:nvSpPr>
        <p:spPr/>
        <p:txBody>
          <a:bodyPr/>
          <a:lstStyle/>
          <a:p>
            <a:r>
              <a:rPr lang="en-US" noProof="0" dirty="0"/>
              <a:t>The SIG/</a:t>
            </a:r>
            <a:r>
              <a:rPr lang="en-US" noProof="0" dirty="0" err="1"/>
              <a:t>TÜViT</a:t>
            </a:r>
            <a:r>
              <a:rPr lang="en-US" noProof="0" dirty="0"/>
              <a:t> model maps the sub-characteristics to the system properties</a:t>
            </a:r>
          </a:p>
        </p:txBody>
      </p:sp>
      <p:grpSp>
        <p:nvGrpSpPr>
          <p:cNvPr id="16" name="Groep 15">
            <a:extLst>
              <a:ext uri="{FF2B5EF4-FFF2-40B4-BE49-F238E27FC236}">
                <a16:creationId xmlns:a16="http://schemas.microsoft.com/office/drawing/2014/main" id="{2EB7272D-F604-D956-AAE5-B2981212C033}"/>
              </a:ext>
            </a:extLst>
          </p:cNvPr>
          <p:cNvGrpSpPr/>
          <p:nvPr/>
        </p:nvGrpSpPr>
        <p:grpSpPr>
          <a:xfrm>
            <a:off x="2807936" y="2780488"/>
            <a:ext cx="2635602" cy="339865"/>
            <a:chOff x="2807936" y="2830273"/>
            <a:chExt cx="2635602" cy="339865"/>
          </a:xfrm>
        </p:grpSpPr>
        <p:grpSp>
          <p:nvGrpSpPr>
            <p:cNvPr id="23" name="Groep 22">
              <a:extLst>
                <a:ext uri="{FF2B5EF4-FFF2-40B4-BE49-F238E27FC236}">
                  <a16:creationId xmlns:a16="http://schemas.microsoft.com/office/drawing/2014/main" id="{10F67CCC-4965-E170-13FB-4DE08A2FB12B}"/>
                </a:ext>
              </a:extLst>
            </p:cNvPr>
            <p:cNvGrpSpPr/>
            <p:nvPr/>
          </p:nvGrpSpPr>
          <p:grpSpPr>
            <a:xfrm>
              <a:off x="2906989" y="2918313"/>
              <a:ext cx="2445855" cy="157941"/>
              <a:chOff x="3149473" y="2702807"/>
              <a:chExt cx="2445855" cy="157941"/>
            </a:xfrm>
          </p:grpSpPr>
          <p:sp>
            <p:nvSpPr>
              <p:cNvPr id="10" name="Ovaal 9">
                <a:extLst>
                  <a:ext uri="{FF2B5EF4-FFF2-40B4-BE49-F238E27FC236}">
                    <a16:creationId xmlns:a16="http://schemas.microsoft.com/office/drawing/2014/main" id="{EEC047B5-4675-87BB-C77D-525A9C15C89C}"/>
                  </a:ext>
                </a:extLst>
              </p:cNvPr>
              <p:cNvSpPr/>
              <p:nvPr/>
            </p:nvSpPr>
            <p:spPr>
              <a:xfrm>
                <a:off x="3149473"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1" name="Ovaal 10">
                <a:extLst>
                  <a:ext uri="{FF2B5EF4-FFF2-40B4-BE49-F238E27FC236}">
                    <a16:creationId xmlns:a16="http://schemas.microsoft.com/office/drawing/2014/main" id="{B27E223E-7F96-98A3-1BCE-3C7E3476061A}"/>
                  </a:ext>
                </a:extLst>
              </p:cNvPr>
              <p:cNvSpPr/>
              <p:nvPr/>
            </p:nvSpPr>
            <p:spPr>
              <a:xfrm>
                <a:off x="4307640"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2" name="Ovaal 11">
                <a:extLst>
                  <a:ext uri="{FF2B5EF4-FFF2-40B4-BE49-F238E27FC236}">
                    <a16:creationId xmlns:a16="http://schemas.microsoft.com/office/drawing/2014/main" id="{0490248B-B552-3119-224F-718F14ACB6C5}"/>
                  </a:ext>
                </a:extLst>
              </p:cNvPr>
              <p:cNvSpPr/>
              <p:nvPr/>
            </p:nvSpPr>
            <p:spPr>
              <a:xfrm>
                <a:off x="5437387" y="270280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5" name="Afgeronde rechthoek 4">
              <a:extLst>
                <a:ext uri="{FF2B5EF4-FFF2-40B4-BE49-F238E27FC236}">
                  <a16:creationId xmlns:a16="http://schemas.microsoft.com/office/drawing/2014/main" id="{C0978B86-C287-03A1-FB46-4DAE9843BB13}"/>
                </a:ext>
              </a:extLst>
            </p:cNvPr>
            <p:cNvSpPr/>
            <p:nvPr/>
          </p:nvSpPr>
          <p:spPr>
            <a:xfrm>
              <a:off x="2807936" y="2830273"/>
              <a:ext cx="2635602"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15" name="Groep 14">
            <a:extLst>
              <a:ext uri="{FF2B5EF4-FFF2-40B4-BE49-F238E27FC236}">
                <a16:creationId xmlns:a16="http://schemas.microsoft.com/office/drawing/2014/main" id="{6D345AE2-E02E-D32F-9CBD-7FC86770FA07}"/>
              </a:ext>
            </a:extLst>
          </p:cNvPr>
          <p:cNvGrpSpPr/>
          <p:nvPr/>
        </p:nvGrpSpPr>
        <p:grpSpPr>
          <a:xfrm>
            <a:off x="3955803" y="3249198"/>
            <a:ext cx="5018263" cy="339865"/>
            <a:chOff x="3955803" y="3291298"/>
            <a:chExt cx="5018263" cy="339865"/>
          </a:xfrm>
        </p:grpSpPr>
        <p:grpSp>
          <p:nvGrpSpPr>
            <p:cNvPr id="22" name="Groep 21">
              <a:extLst>
                <a:ext uri="{FF2B5EF4-FFF2-40B4-BE49-F238E27FC236}">
                  <a16:creationId xmlns:a16="http://schemas.microsoft.com/office/drawing/2014/main" id="{1BF8A6A9-6A5F-3E6F-8302-59A7894DA250}"/>
                </a:ext>
              </a:extLst>
            </p:cNvPr>
            <p:cNvGrpSpPr/>
            <p:nvPr/>
          </p:nvGrpSpPr>
          <p:grpSpPr>
            <a:xfrm>
              <a:off x="4065156" y="3376902"/>
              <a:ext cx="4813858" cy="157941"/>
              <a:chOff x="4307640" y="3166426"/>
              <a:chExt cx="4813858" cy="157941"/>
            </a:xfrm>
          </p:grpSpPr>
          <p:sp>
            <p:nvSpPr>
              <p:cNvPr id="30" name="Ovaal 29">
                <a:extLst>
                  <a:ext uri="{FF2B5EF4-FFF2-40B4-BE49-F238E27FC236}">
                    <a16:creationId xmlns:a16="http://schemas.microsoft.com/office/drawing/2014/main" id="{A1A0F8C2-9323-45A0-6442-CD6CF9F3DC4F}"/>
                  </a:ext>
                </a:extLst>
              </p:cNvPr>
              <p:cNvSpPr/>
              <p:nvPr/>
            </p:nvSpPr>
            <p:spPr>
              <a:xfrm>
                <a:off x="4307640"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1" name="Ovaal 30">
                <a:extLst>
                  <a:ext uri="{FF2B5EF4-FFF2-40B4-BE49-F238E27FC236}">
                    <a16:creationId xmlns:a16="http://schemas.microsoft.com/office/drawing/2014/main" id="{5D327F0B-D25F-E912-D40A-438F2DD37A48}"/>
                  </a:ext>
                </a:extLst>
              </p:cNvPr>
              <p:cNvSpPr/>
              <p:nvPr/>
            </p:nvSpPr>
            <p:spPr>
              <a:xfrm>
                <a:off x="6596940"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Ovaal 31">
                <a:extLst>
                  <a:ext uri="{FF2B5EF4-FFF2-40B4-BE49-F238E27FC236}">
                    <a16:creationId xmlns:a16="http://schemas.microsoft.com/office/drawing/2014/main" id="{BAEEFB57-DC37-56B7-9F13-3DEE86B7E6F4}"/>
                  </a:ext>
                </a:extLst>
              </p:cNvPr>
              <p:cNvSpPr/>
              <p:nvPr/>
            </p:nvSpPr>
            <p:spPr>
              <a:xfrm>
                <a:off x="8963557" y="316642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9" name="Afgeronde rechthoek 8">
              <a:extLst>
                <a:ext uri="{FF2B5EF4-FFF2-40B4-BE49-F238E27FC236}">
                  <a16:creationId xmlns:a16="http://schemas.microsoft.com/office/drawing/2014/main" id="{DBAC85F2-D462-26C2-8480-06B8112AEB41}"/>
                </a:ext>
              </a:extLst>
            </p:cNvPr>
            <p:cNvSpPr/>
            <p:nvPr/>
          </p:nvSpPr>
          <p:spPr>
            <a:xfrm>
              <a:off x="3955803" y="3291298"/>
              <a:ext cx="5018263"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8" name="Groep 7">
            <a:extLst>
              <a:ext uri="{FF2B5EF4-FFF2-40B4-BE49-F238E27FC236}">
                <a16:creationId xmlns:a16="http://schemas.microsoft.com/office/drawing/2014/main" id="{24A25421-1B5F-3753-AFD8-FEDCF2499C6D}"/>
              </a:ext>
            </a:extLst>
          </p:cNvPr>
          <p:cNvGrpSpPr/>
          <p:nvPr/>
        </p:nvGrpSpPr>
        <p:grpSpPr>
          <a:xfrm>
            <a:off x="2807935" y="3717908"/>
            <a:ext cx="8456177" cy="339865"/>
            <a:chOff x="2807935" y="3744528"/>
            <a:chExt cx="8456177" cy="339865"/>
          </a:xfrm>
        </p:grpSpPr>
        <p:grpSp>
          <p:nvGrpSpPr>
            <p:cNvPr id="24" name="Groep 23">
              <a:extLst>
                <a:ext uri="{FF2B5EF4-FFF2-40B4-BE49-F238E27FC236}">
                  <a16:creationId xmlns:a16="http://schemas.microsoft.com/office/drawing/2014/main" id="{34C2642E-BD9E-B164-9B50-9F6044701472}"/>
                </a:ext>
              </a:extLst>
            </p:cNvPr>
            <p:cNvGrpSpPr/>
            <p:nvPr/>
          </p:nvGrpSpPr>
          <p:grpSpPr>
            <a:xfrm>
              <a:off x="2906989" y="3835491"/>
              <a:ext cx="8258926" cy="157941"/>
              <a:chOff x="3149473" y="3796856"/>
              <a:chExt cx="8258926" cy="157941"/>
            </a:xfrm>
          </p:grpSpPr>
          <p:sp>
            <p:nvSpPr>
              <p:cNvPr id="33" name="Ovaal 32">
                <a:extLst>
                  <a:ext uri="{FF2B5EF4-FFF2-40B4-BE49-F238E27FC236}">
                    <a16:creationId xmlns:a16="http://schemas.microsoft.com/office/drawing/2014/main" id="{6B6535E0-9B87-4936-01E5-3207BED2217D}"/>
                  </a:ext>
                </a:extLst>
              </p:cNvPr>
              <p:cNvSpPr/>
              <p:nvPr/>
            </p:nvSpPr>
            <p:spPr>
              <a:xfrm>
                <a:off x="3149473"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4" name="Ovaal 33">
                <a:extLst>
                  <a:ext uri="{FF2B5EF4-FFF2-40B4-BE49-F238E27FC236}">
                    <a16:creationId xmlns:a16="http://schemas.microsoft.com/office/drawing/2014/main" id="{5C7E45C1-1A48-CBA8-888A-1A6A9F926F5C}"/>
                  </a:ext>
                </a:extLst>
              </p:cNvPr>
              <p:cNvSpPr/>
              <p:nvPr/>
            </p:nvSpPr>
            <p:spPr>
              <a:xfrm>
                <a:off x="6610746"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5" name="Ovaal 34">
                <a:extLst>
                  <a:ext uri="{FF2B5EF4-FFF2-40B4-BE49-F238E27FC236}">
                    <a16:creationId xmlns:a16="http://schemas.microsoft.com/office/drawing/2014/main" id="{D04F3E43-6E0B-8BCD-7228-E5FF88C02653}"/>
                  </a:ext>
                </a:extLst>
              </p:cNvPr>
              <p:cNvSpPr/>
              <p:nvPr/>
            </p:nvSpPr>
            <p:spPr>
              <a:xfrm>
                <a:off x="11250458" y="3796856"/>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13" name="Afgeronde rechthoek 12">
              <a:extLst>
                <a:ext uri="{FF2B5EF4-FFF2-40B4-BE49-F238E27FC236}">
                  <a16:creationId xmlns:a16="http://schemas.microsoft.com/office/drawing/2014/main" id="{0FED46CD-0272-D4D6-12BE-438AFB4120B1}"/>
                </a:ext>
              </a:extLst>
            </p:cNvPr>
            <p:cNvSpPr/>
            <p:nvPr/>
          </p:nvSpPr>
          <p:spPr>
            <a:xfrm>
              <a:off x="2807935" y="3744528"/>
              <a:ext cx="8456177"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7" name="Groep 6">
            <a:extLst>
              <a:ext uri="{FF2B5EF4-FFF2-40B4-BE49-F238E27FC236}">
                <a16:creationId xmlns:a16="http://schemas.microsoft.com/office/drawing/2014/main" id="{5E3456A8-CC1F-BB43-8D8C-7D6557414C9D}"/>
              </a:ext>
            </a:extLst>
          </p:cNvPr>
          <p:cNvGrpSpPr/>
          <p:nvPr/>
        </p:nvGrpSpPr>
        <p:grpSpPr>
          <a:xfrm>
            <a:off x="8601834" y="4186618"/>
            <a:ext cx="2662278" cy="339865"/>
            <a:chOff x="8601834" y="4197760"/>
            <a:chExt cx="2662278" cy="339865"/>
          </a:xfrm>
        </p:grpSpPr>
        <p:grpSp>
          <p:nvGrpSpPr>
            <p:cNvPr id="25" name="Groep 24">
              <a:extLst>
                <a:ext uri="{FF2B5EF4-FFF2-40B4-BE49-F238E27FC236}">
                  <a16:creationId xmlns:a16="http://schemas.microsoft.com/office/drawing/2014/main" id="{1A7CBC52-328C-B2D0-C7F6-04728E853D42}"/>
                </a:ext>
              </a:extLst>
            </p:cNvPr>
            <p:cNvGrpSpPr/>
            <p:nvPr/>
          </p:nvGrpSpPr>
          <p:grpSpPr>
            <a:xfrm>
              <a:off x="8708612" y="4294080"/>
              <a:ext cx="2457303" cy="157941"/>
              <a:chOff x="8951096" y="4294237"/>
              <a:chExt cx="2457303" cy="157941"/>
            </a:xfrm>
          </p:grpSpPr>
          <p:sp>
            <p:nvSpPr>
              <p:cNvPr id="36" name="Ovaal 35">
                <a:extLst>
                  <a:ext uri="{FF2B5EF4-FFF2-40B4-BE49-F238E27FC236}">
                    <a16:creationId xmlns:a16="http://schemas.microsoft.com/office/drawing/2014/main" id="{4334F243-08B2-6786-25B4-FF32DB399AA8}"/>
                  </a:ext>
                </a:extLst>
              </p:cNvPr>
              <p:cNvSpPr/>
              <p:nvPr/>
            </p:nvSpPr>
            <p:spPr>
              <a:xfrm>
                <a:off x="11250458"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7" name="Ovaal 36">
                <a:extLst>
                  <a:ext uri="{FF2B5EF4-FFF2-40B4-BE49-F238E27FC236}">
                    <a16:creationId xmlns:a16="http://schemas.microsoft.com/office/drawing/2014/main" id="{9E687F8D-E767-F317-E2C8-5013133A3E6C}"/>
                  </a:ext>
                </a:extLst>
              </p:cNvPr>
              <p:cNvSpPr/>
              <p:nvPr/>
            </p:nvSpPr>
            <p:spPr>
              <a:xfrm>
                <a:off x="10152377"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8" name="Ovaal 37">
                <a:extLst>
                  <a:ext uri="{FF2B5EF4-FFF2-40B4-BE49-F238E27FC236}">
                    <a16:creationId xmlns:a16="http://schemas.microsoft.com/office/drawing/2014/main" id="{36312CC0-E81D-1F88-7500-78BCB99C111F}"/>
                  </a:ext>
                </a:extLst>
              </p:cNvPr>
              <p:cNvSpPr/>
              <p:nvPr/>
            </p:nvSpPr>
            <p:spPr>
              <a:xfrm>
                <a:off x="8951096" y="42942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14" name="Afgeronde rechthoek 13">
              <a:extLst>
                <a:ext uri="{FF2B5EF4-FFF2-40B4-BE49-F238E27FC236}">
                  <a16:creationId xmlns:a16="http://schemas.microsoft.com/office/drawing/2014/main" id="{0C28EA2C-ADB2-610A-9843-B711D6BF6AD7}"/>
                </a:ext>
              </a:extLst>
            </p:cNvPr>
            <p:cNvSpPr/>
            <p:nvPr/>
          </p:nvSpPr>
          <p:spPr>
            <a:xfrm>
              <a:off x="8601834" y="4197760"/>
              <a:ext cx="2662278"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grpSp>
        <p:nvGrpSpPr>
          <p:cNvPr id="6" name="Groep 5">
            <a:extLst>
              <a:ext uri="{FF2B5EF4-FFF2-40B4-BE49-F238E27FC236}">
                <a16:creationId xmlns:a16="http://schemas.microsoft.com/office/drawing/2014/main" id="{1F44224B-F24D-C427-53AD-5E37EBAF3383}"/>
              </a:ext>
            </a:extLst>
          </p:cNvPr>
          <p:cNvGrpSpPr/>
          <p:nvPr/>
        </p:nvGrpSpPr>
        <p:grpSpPr>
          <a:xfrm>
            <a:off x="5089890" y="4655327"/>
            <a:ext cx="2759384" cy="339865"/>
            <a:chOff x="5089890" y="4658783"/>
            <a:chExt cx="2759384" cy="339865"/>
          </a:xfrm>
        </p:grpSpPr>
        <p:grpSp>
          <p:nvGrpSpPr>
            <p:cNvPr id="26" name="Groep 25">
              <a:extLst>
                <a:ext uri="{FF2B5EF4-FFF2-40B4-BE49-F238E27FC236}">
                  <a16:creationId xmlns:a16="http://schemas.microsoft.com/office/drawing/2014/main" id="{580DDB05-E7F6-E9B6-6EB5-93816E666A05}"/>
                </a:ext>
              </a:extLst>
            </p:cNvPr>
            <p:cNvGrpSpPr/>
            <p:nvPr/>
          </p:nvGrpSpPr>
          <p:grpSpPr>
            <a:xfrm>
              <a:off x="5194635" y="4752669"/>
              <a:ext cx="2555987" cy="157941"/>
              <a:chOff x="5437119" y="4812269"/>
              <a:chExt cx="2555987" cy="157941"/>
            </a:xfrm>
          </p:grpSpPr>
          <p:sp>
            <p:nvSpPr>
              <p:cNvPr id="39" name="Ovaal 38">
                <a:extLst>
                  <a:ext uri="{FF2B5EF4-FFF2-40B4-BE49-F238E27FC236}">
                    <a16:creationId xmlns:a16="http://schemas.microsoft.com/office/drawing/2014/main" id="{50BA0F96-2A00-CE63-9D2F-2D16A95C2D15}"/>
                  </a:ext>
                </a:extLst>
              </p:cNvPr>
              <p:cNvSpPr/>
              <p:nvPr/>
            </p:nvSpPr>
            <p:spPr>
              <a:xfrm>
                <a:off x="7835165" y="4812269"/>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0" name="Ovaal 39">
                <a:extLst>
                  <a:ext uri="{FF2B5EF4-FFF2-40B4-BE49-F238E27FC236}">
                    <a16:creationId xmlns:a16="http://schemas.microsoft.com/office/drawing/2014/main" id="{CE1D0E13-4B48-1770-693F-792379748CC8}"/>
                  </a:ext>
                </a:extLst>
              </p:cNvPr>
              <p:cNvSpPr/>
              <p:nvPr/>
            </p:nvSpPr>
            <p:spPr>
              <a:xfrm>
                <a:off x="5437119" y="4812269"/>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27" name="Afgeronde rechthoek 26">
              <a:extLst>
                <a:ext uri="{FF2B5EF4-FFF2-40B4-BE49-F238E27FC236}">
                  <a16:creationId xmlns:a16="http://schemas.microsoft.com/office/drawing/2014/main" id="{70808160-862B-ECE4-6A3E-5050F5A9C883}"/>
                </a:ext>
              </a:extLst>
            </p:cNvPr>
            <p:cNvSpPr/>
            <p:nvPr/>
          </p:nvSpPr>
          <p:spPr>
            <a:xfrm>
              <a:off x="5089890" y="4658783"/>
              <a:ext cx="2759384" cy="339865"/>
            </a:xfrm>
            <a:prstGeom prst="roundRect">
              <a:avLst>
                <a:gd name="adj" fmla="val 50000"/>
              </a:avLst>
            </a:prstGeom>
            <a:gradFill>
              <a:gsLst>
                <a:gs pos="20000">
                  <a:schemeClr val="accent4">
                    <a:alpha val="10000"/>
                  </a:schemeClr>
                </a:gs>
                <a:gs pos="0">
                  <a:schemeClr val="accent4">
                    <a:alpha val="3000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grpSp>
      <p:sp>
        <p:nvSpPr>
          <p:cNvPr id="44" name="Text Placeholder 169">
            <a:extLst>
              <a:ext uri="{FF2B5EF4-FFF2-40B4-BE49-F238E27FC236}">
                <a16:creationId xmlns:a16="http://schemas.microsoft.com/office/drawing/2014/main" id="{1AB1CC70-BC7D-E198-3D05-AE50FFA71C7D}"/>
              </a:ext>
            </a:extLst>
          </p:cNvPr>
          <p:cNvSpPr txBox="1"/>
          <p:nvPr/>
        </p:nvSpPr>
        <p:spPr>
          <a:xfrm>
            <a:off x="154798" y="1481773"/>
            <a:ext cx="2831161"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spc="0" noProof="0" dirty="0">
                <a:gradFill>
                  <a:gsLst>
                    <a:gs pos="100000">
                      <a:srgbClr val="EC9232"/>
                    </a:gs>
                    <a:gs pos="24000">
                      <a:srgbClr val="F9C716"/>
                    </a:gs>
                  </a:gsLst>
                  <a:lin ang="3600000" scaled="0"/>
                </a:gradFill>
                <a:latin typeface="Noir Pro Semi Bold" pitchFamily="2" charset="0"/>
              </a:rPr>
              <a:t>Maintainability</a:t>
            </a:r>
          </a:p>
        </p:txBody>
      </p:sp>
      <p:sp>
        <p:nvSpPr>
          <p:cNvPr id="46" name="Tekstvak 45">
            <a:extLst>
              <a:ext uri="{FF2B5EF4-FFF2-40B4-BE49-F238E27FC236}">
                <a16:creationId xmlns:a16="http://schemas.microsoft.com/office/drawing/2014/main" id="{A31936F0-9E5C-E499-ABD8-64AAF5C184BD}"/>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chemeClr val="accent2">
              <a:lumMod val="75000"/>
            </a:schemeClr>
          </a:solidFill>
          <a:effectLst>
            <a:outerShdw blurRad="286568" dist="101276" dir="16200000" rotWithShape="0">
              <a:prstClr val="black">
                <a:alpha val="15439"/>
              </a:prstClr>
            </a:outerShdw>
          </a:effectLst>
        </p:spPr>
        <p:txBody>
          <a:bodyPr wrap="square" lIns="720000" tIns="234000" rIns="0" bIns="108000" rtlCol="0" anchor="t">
            <a:noAutofit/>
          </a:bodyPr>
          <a:lstStyle/>
          <a:p>
            <a:pPr>
              <a:lnSpc>
                <a:spcPct val="80000"/>
              </a:lnSpc>
            </a:pPr>
            <a:r>
              <a:rPr lang="en-US" sz="1400" noProof="0" dirty="0">
                <a:solidFill>
                  <a:schemeClr val="bg1"/>
                </a:solidFill>
                <a:latin typeface="☞NOIR PRO MEDIUM" pitchFamily="2" charset="0"/>
              </a:rPr>
              <a:t>25010</a:t>
            </a:r>
          </a:p>
        </p:txBody>
      </p:sp>
      <p:sp>
        <p:nvSpPr>
          <p:cNvPr id="19" name="TextBox 121">
            <a:extLst>
              <a:ext uri="{FF2B5EF4-FFF2-40B4-BE49-F238E27FC236}">
                <a16:creationId xmlns:a16="http://schemas.microsoft.com/office/drawing/2014/main" id="{ABDAF8EC-3B95-C9D7-0FE9-71A7721CFF9D}"/>
              </a:ext>
            </a:extLst>
          </p:cNvPr>
          <p:cNvSpPr txBox="1"/>
          <p:nvPr/>
        </p:nvSpPr>
        <p:spPr>
          <a:xfrm>
            <a:off x="1738994" y="2111134"/>
            <a:ext cx="10295804" cy="631068"/>
          </a:xfrm>
          <a:prstGeom prst="roundRect">
            <a:avLst>
              <a:gd name="adj" fmla="val 26823"/>
            </a:avLst>
          </a:prstGeom>
          <a:solidFill>
            <a:schemeClr val="accent2"/>
          </a:solidFill>
          <a:effectLst>
            <a:outerShdw blurRad="286568" dist="101276" dir="16200000" rotWithShape="0">
              <a:prstClr val="black">
                <a:alpha val="15439"/>
              </a:prstClr>
            </a:outerShdw>
          </a:effectLst>
        </p:spPr>
        <p:txBody>
          <a:bodyPr wrap="square" lIns="648000" tIns="125999" rIns="0" bIns="108000" rtlCol="0" anchor="t">
            <a:noAutofit/>
          </a:bodyPr>
          <a:lstStyle/>
          <a:p>
            <a:pPr>
              <a:lnSpc>
                <a:spcPct val="80000"/>
              </a:lnSpc>
            </a:pPr>
            <a:endParaRPr lang="en-US" sz="1400" noProof="0" dirty="0">
              <a:solidFill>
                <a:schemeClr val="bg1"/>
              </a:solidFill>
              <a:latin typeface="☞NOIR PRO MEDIUM" pitchFamily="2" charset="0"/>
            </a:endParaRPr>
          </a:p>
        </p:txBody>
      </p:sp>
      <p:pic>
        <p:nvPicPr>
          <p:cNvPr id="21" name="Picture 166">
            <a:extLst>
              <a:ext uri="{FF2B5EF4-FFF2-40B4-BE49-F238E27FC236}">
                <a16:creationId xmlns:a16="http://schemas.microsoft.com/office/drawing/2014/main" id="{0E781429-EAE9-5D29-21EF-7E7387F6E91F}"/>
              </a:ext>
            </a:extLst>
          </p:cNvPr>
          <p:cNvPicPr>
            <a:picLocks noChangeAspect="1"/>
          </p:cNvPicPr>
          <p:nvPr/>
        </p:nvPicPr>
        <p:blipFill>
          <a:blip r:embed="rId2">
            <a:lum bright="100000"/>
          </a:blip>
          <a:stretch>
            <a:fillRect/>
          </a:stretch>
        </p:blipFill>
        <p:spPr>
          <a:xfrm>
            <a:off x="342438" y="2225598"/>
            <a:ext cx="454660" cy="386461"/>
          </a:xfrm>
          <a:prstGeom prst="rect">
            <a:avLst/>
          </a:prstGeom>
        </p:spPr>
      </p:pic>
      <p:pic>
        <p:nvPicPr>
          <p:cNvPr id="43" name="Graphic 42">
            <a:extLst>
              <a:ext uri="{FF2B5EF4-FFF2-40B4-BE49-F238E27FC236}">
                <a16:creationId xmlns:a16="http://schemas.microsoft.com/office/drawing/2014/main" id="{568E0D71-CA53-AF66-00DE-458ABAFFF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953658" y="2306414"/>
            <a:ext cx="359504" cy="239668"/>
          </a:xfrm>
          <a:prstGeom prst="rect">
            <a:avLst/>
          </a:prstGeom>
          <a:effectLst>
            <a:outerShdw blurRad="237234" sx="102000" sy="102000" algn="ctr" rotWithShape="0">
              <a:schemeClr val="accent4">
                <a:alpha val="0"/>
              </a:schemeClr>
            </a:outerShdw>
          </a:effectLst>
        </p:spPr>
      </p:pic>
      <p:graphicFrame>
        <p:nvGraphicFramePr>
          <p:cNvPr id="48" name="Tabel 47">
            <a:extLst>
              <a:ext uri="{FF2B5EF4-FFF2-40B4-BE49-F238E27FC236}">
                <a16:creationId xmlns:a16="http://schemas.microsoft.com/office/drawing/2014/main" id="{FC0D4C37-D231-E6B4-2BEB-A2CB6974D4EA}"/>
              </a:ext>
            </a:extLst>
          </p:cNvPr>
          <p:cNvGraphicFramePr>
            <a:graphicFrameLocks noGrp="1"/>
          </p:cNvGraphicFramePr>
          <p:nvPr/>
        </p:nvGraphicFramePr>
        <p:xfrm>
          <a:off x="2404922" y="2200267"/>
          <a:ext cx="9173128" cy="457200"/>
        </p:xfrm>
        <a:graphic>
          <a:graphicData uri="http://schemas.openxmlformats.org/drawingml/2006/table">
            <a:tbl>
              <a:tblPr>
                <a:tableStyleId>{5C22544A-7EE6-4342-B048-85BDC9FD1C3A}</a:tableStyleId>
              </a:tblPr>
              <a:tblGrid>
                <a:gridCol w="1146641">
                  <a:extLst>
                    <a:ext uri="{9D8B030D-6E8A-4147-A177-3AD203B41FA5}">
                      <a16:colId xmlns:a16="http://schemas.microsoft.com/office/drawing/2014/main" val="3756218328"/>
                    </a:ext>
                  </a:extLst>
                </a:gridCol>
                <a:gridCol w="1146641">
                  <a:extLst>
                    <a:ext uri="{9D8B030D-6E8A-4147-A177-3AD203B41FA5}">
                      <a16:colId xmlns:a16="http://schemas.microsoft.com/office/drawing/2014/main" val="2899638353"/>
                    </a:ext>
                  </a:extLst>
                </a:gridCol>
                <a:gridCol w="1146641">
                  <a:extLst>
                    <a:ext uri="{9D8B030D-6E8A-4147-A177-3AD203B41FA5}">
                      <a16:colId xmlns:a16="http://schemas.microsoft.com/office/drawing/2014/main" val="3980836888"/>
                    </a:ext>
                  </a:extLst>
                </a:gridCol>
                <a:gridCol w="1146641">
                  <a:extLst>
                    <a:ext uri="{9D8B030D-6E8A-4147-A177-3AD203B41FA5}">
                      <a16:colId xmlns:a16="http://schemas.microsoft.com/office/drawing/2014/main" val="337405862"/>
                    </a:ext>
                  </a:extLst>
                </a:gridCol>
                <a:gridCol w="1146641">
                  <a:extLst>
                    <a:ext uri="{9D8B030D-6E8A-4147-A177-3AD203B41FA5}">
                      <a16:colId xmlns:a16="http://schemas.microsoft.com/office/drawing/2014/main" val="2409438331"/>
                    </a:ext>
                  </a:extLst>
                </a:gridCol>
                <a:gridCol w="1146641">
                  <a:extLst>
                    <a:ext uri="{9D8B030D-6E8A-4147-A177-3AD203B41FA5}">
                      <a16:colId xmlns:a16="http://schemas.microsoft.com/office/drawing/2014/main" val="1015334204"/>
                    </a:ext>
                  </a:extLst>
                </a:gridCol>
                <a:gridCol w="1146641">
                  <a:extLst>
                    <a:ext uri="{9D8B030D-6E8A-4147-A177-3AD203B41FA5}">
                      <a16:colId xmlns:a16="http://schemas.microsoft.com/office/drawing/2014/main" val="1771938756"/>
                    </a:ext>
                  </a:extLst>
                </a:gridCol>
                <a:gridCol w="1146641">
                  <a:extLst>
                    <a:ext uri="{9D8B030D-6E8A-4147-A177-3AD203B41FA5}">
                      <a16:colId xmlns:a16="http://schemas.microsoft.com/office/drawing/2014/main" val="2602381078"/>
                    </a:ext>
                  </a:extLst>
                </a:gridCol>
              </a:tblGrid>
              <a:tr h="370840">
                <a:tc>
                  <a:txBody>
                    <a:bodyPr/>
                    <a:lstStyle/>
                    <a:p>
                      <a:pPr algn="ctr"/>
                      <a:r>
                        <a:rPr lang="en-US" sz="1200" b="0" i="0" noProof="0" dirty="0">
                          <a:solidFill>
                            <a:schemeClr val="bg1"/>
                          </a:solidFill>
                          <a:latin typeface="☞NOIR PRO MEDIUM" pitchFamily="2" charset="0"/>
                        </a:rPr>
                        <a:t>Volume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Duplication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a:t>
                      </a:r>
                      <a:br>
                        <a:rPr lang="en-US" sz="1200" b="0" i="0" noProof="0" dirty="0">
                          <a:solidFill>
                            <a:schemeClr val="bg1"/>
                          </a:solidFill>
                          <a:latin typeface="☞NOIR PRO MEDIUM" pitchFamily="2" charset="0"/>
                        </a:rPr>
                      </a:br>
                      <a:r>
                        <a:rPr lang="en-US" sz="1200" b="0" i="0" noProof="0" dirty="0">
                          <a:solidFill>
                            <a:schemeClr val="bg1"/>
                          </a:solidFill>
                          <a:latin typeface="☞NOIR PRO MEDIUM" pitchFamily="2" charset="0"/>
                        </a:rPr>
                        <a:t>size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a:t>
                      </a:r>
                      <a:br>
                        <a:rPr lang="en-US" sz="1200" b="0" i="0" noProof="0" dirty="0">
                          <a:solidFill>
                            <a:schemeClr val="bg1"/>
                          </a:solidFill>
                          <a:latin typeface="☞NOIR PRO MEDIUM" pitchFamily="2" charset="0"/>
                        </a:rPr>
                      </a:br>
                      <a:r>
                        <a:rPr lang="en-US" sz="1200" b="0" i="0" noProof="0" dirty="0">
                          <a:solidFill>
                            <a:schemeClr val="bg1"/>
                          </a:solidFill>
                          <a:latin typeface="☞NOIR PRO MEDIUM" pitchFamily="2" charset="0"/>
                        </a:rPr>
                        <a:t>complexity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Unit interfacing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Module 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entanglement</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independence</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49" name="Driehoek 48">
            <a:extLst>
              <a:ext uri="{FF2B5EF4-FFF2-40B4-BE49-F238E27FC236}">
                <a16:creationId xmlns:a16="http://schemas.microsoft.com/office/drawing/2014/main" id="{76614EDA-4914-AB80-9A45-AF481E7E5AAA}"/>
              </a:ext>
            </a:extLst>
          </p:cNvPr>
          <p:cNvSpPr/>
          <p:nvPr/>
        </p:nvSpPr>
        <p:spPr>
          <a:xfrm rot="10800000">
            <a:off x="1075993" y="2580143"/>
            <a:ext cx="92249" cy="457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alpha val="50000"/>
                </a:schemeClr>
              </a:solidFill>
            </a:endParaRPr>
          </a:p>
        </p:txBody>
      </p:sp>
      <p:sp>
        <p:nvSpPr>
          <p:cNvPr id="50" name="Driehoek 49">
            <a:extLst>
              <a:ext uri="{FF2B5EF4-FFF2-40B4-BE49-F238E27FC236}">
                <a16:creationId xmlns:a16="http://schemas.microsoft.com/office/drawing/2014/main" id="{2C9FFFED-5DCC-8361-E111-40B1639E7797}"/>
              </a:ext>
            </a:extLst>
          </p:cNvPr>
          <p:cNvSpPr/>
          <p:nvPr/>
        </p:nvSpPr>
        <p:spPr>
          <a:xfrm rot="5400000">
            <a:off x="2409413" y="2405190"/>
            <a:ext cx="92249" cy="45719"/>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alpha val="50000"/>
                </a:schemeClr>
              </a:solidFill>
            </a:endParaRPr>
          </a:p>
        </p:txBody>
      </p:sp>
      <p:sp>
        <p:nvSpPr>
          <p:cNvPr id="52" name="Ovaal 51">
            <a:extLst>
              <a:ext uri="{FF2B5EF4-FFF2-40B4-BE49-F238E27FC236}">
                <a16:creationId xmlns:a16="http://schemas.microsoft.com/office/drawing/2014/main" id="{9E752103-7BCC-D47D-0E41-3D3118080490}"/>
              </a:ext>
            </a:extLst>
          </p:cNvPr>
          <p:cNvSpPr/>
          <p:nvPr/>
        </p:nvSpPr>
        <p:spPr>
          <a:xfrm>
            <a:off x="399461" y="1502952"/>
            <a:ext cx="354604" cy="354604"/>
          </a:xfrm>
          <a:prstGeom prst="ellipse">
            <a:avLst/>
          </a:prstGeom>
          <a:gradFill>
            <a:gsLst>
              <a:gs pos="19000">
                <a:srgbClr val="E98C36"/>
              </a:gs>
              <a:gs pos="53000">
                <a:srgbClr val="F9C716"/>
              </a:gs>
            </a:gsLst>
            <a:lin ang="2700000" scaled="0"/>
          </a:gradFill>
          <a:ln>
            <a:noFill/>
          </a:ln>
          <a:effectLst>
            <a:outerShdw blurRad="216637" dist="38100" dir="5400000" algn="t" rotWithShape="0">
              <a:schemeClr val="accent4">
                <a:alpha val="1464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58" name="Graphic 57">
            <a:extLst>
              <a:ext uri="{FF2B5EF4-FFF2-40B4-BE49-F238E27FC236}">
                <a16:creationId xmlns:a16="http://schemas.microsoft.com/office/drawing/2014/main" id="{22A25979-9B27-41E5-42F3-4829A8820D0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092" y="1549761"/>
            <a:ext cx="262890" cy="260985"/>
          </a:xfrm>
          <a:prstGeom prst="rect">
            <a:avLst/>
          </a:prstGeom>
        </p:spPr>
      </p:pic>
    </p:spTree>
    <p:extLst>
      <p:ext uri="{BB962C8B-B14F-4D97-AF65-F5344CB8AC3E}">
        <p14:creationId xmlns:p14="http://schemas.microsoft.com/office/powerpoint/2010/main" val="1659745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jdelijke aanduiding voor tekst 3">
            <a:extLst>
              <a:ext uri="{FF2B5EF4-FFF2-40B4-BE49-F238E27FC236}">
                <a16:creationId xmlns:a16="http://schemas.microsoft.com/office/drawing/2014/main" id="{B7DD908C-8690-F25E-621E-BA91971FCA9D}"/>
              </a:ext>
            </a:extLst>
          </p:cNvPr>
          <p:cNvSpPr>
            <a:spLocks noGrp="1"/>
          </p:cNvSpPr>
          <p:nvPr>
            <p:ph type="body" sz="quarter" idx="12"/>
          </p:nvPr>
        </p:nvSpPr>
        <p:spPr>
          <a:xfrm>
            <a:off x="381600" y="129568"/>
            <a:ext cx="3518124" cy="228209"/>
          </a:xfrm>
        </p:spPr>
        <p:txBody>
          <a:bodyPr/>
          <a:lstStyle/>
          <a:p>
            <a:r>
              <a:rPr lang="en-US" noProof="0" dirty="0"/>
              <a:t>Key findings – Maintainability benchmark</a:t>
            </a:r>
          </a:p>
        </p:txBody>
      </p:sp>
      <p:sp>
        <p:nvSpPr>
          <p:cNvPr id="15" name="Tijdelijke aanduiding voor voettekst 14">
            <a:extLst>
              <a:ext uri="{FF2B5EF4-FFF2-40B4-BE49-F238E27FC236}">
                <a16:creationId xmlns:a16="http://schemas.microsoft.com/office/drawing/2014/main" id="{E61F4EF7-95D6-9141-8632-993E0F351796}"/>
              </a:ext>
            </a:extLst>
          </p:cNvPr>
          <p:cNvSpPr>
            <a:spLocks noGrp="1"/>
          </p:cNvSpPr>
          <p:nvPr>
            <p:ph type="ftr" sz="quarter" idx="14"/>
          </p:nvPr>
        </p:nvSpPr>
        <p:spPr/>
        <p:txBody>
          <a:bodyPr/>
          <a:lstStyle/>
          <a:p>
            <a:r>
              <a:rPr lang="en-US" noProof="0" dirty="0"/>
              <a:t>Confidential</a:t>
            </a:r>
          </a:p>
        </p:txBody>
      </p:sp>
      <p:sp>
        <p:nvSpPr>
          <p:cNvPr id="16" name="Tijdelijke aanduiding voor dianummer 15">
            <a:extLst>
              <a:ext uri="{FF2B5EF4-FFF2-40B4-BE49-F238E27FC236}">
                <a16:creationId xmlns:a16="http://schemas.microsoft.com/office/drawing/2014/main" id="{CCB8DCC3-F66F-678F-F50D-598DB85F85FF}"/>
              </a:ext>
            </a:extLst>
          </p:cNvPr>
          <p:cNvSpPr>
            <a:spLocks noGrp="1"/>
          </p:cNvSpPr>
          <p:nvPr>
            <p:ph type="sldNum" sz="quarter" idx="15"/>
          </p:nvPr>
        </p:nvSpPr>
        <p:spPr/>
        <p:txBody>
          <a:bodyPr/>
          <a:lstStyle/>
          <a:p>
            <a:fld id="{E242BD21-9B61-2246-BCB1-4BE5E1BEBE1C}" type="slidenum">
              <a:rPr lang="en-US" noProof="0" smtClean="0"/>
              <a:pPr/>
              <a:t>9</a:t>
            </a:fld>
            <a:endParaRPr lang="en-US" noProof="0" dirty="0"/>
          </a:p>
        </p:txBody>
      </p:sp>
      <p:sp>
        <p:nvSpPr>
          <p:cNvPr id="3" name="Titel 2">
            <a:extLst>
              <a:ext uri="{FF2B5EF4-FFF2-40B4-BE49-F238E27FC236}">
                <a16:creationId xmlns:a16="http://schemas.microsoft.com/office/drawing/2014/main" id="{F0CAB926-82A1-B092-F316-4902EAC4DFB4}"/>
              </a:ext>
            </a:extLst>
          </p:cNvPr>
          <p:cNvSpPr>
            <a:spLocks noGrp="1"/>
          </p:cNvSpPr>
          <p:nvPr>
            <p:ph type="title"/>
          </p:nvPr>
        </p:nvSpPr>
        <p:spPr/>
        <p:txBody>
          <a:bodyPr/>
          <a:lstStyle/>
          <a:p>
            <a:r>
              <a:rPr lang="en-US" noProof="0" dirty="0" err="1"/>
              <a:t>Integrationtest-kafka is a large system of 43.0 PY which scores 2.6 for maintainability </a:t>
            </a:r>
          </a:p>
        </p:txBody>
      </p:sp>
      <p:sp>
        <p:nvSpPr>
          <p:cNvPr id="19" name="TextBox 18">
            <a:extLst>
              <a:ext uri="{FF2B5EF4-FFF2-40B4-BE49-F238E27FC236}">
                <a16:creationId xmlns:a16="http://schemas.microsoft.com/office/drawing/2014/main" id="{AB2C3C6B-FDFF-1D49-A1BC-305B68E0B083}"/>
              </a:ext>
            </a:extLst>
          </p:cNvPr>
          <p:cNvSpPr txBox="1"/>
          <p:nvPr/>
        </p:nvSpPr>
        <p:spPr>
          <a:xfrm>
            <a:off x="711225" y="1798115"/>
            <a:ext cx="1040819" cy="3640099"/>
          </a:xfrm>
          <a:prstGeom prst="rect">
            <a:avLst/>
          </a:prstGeom>
          <a:noFill/>
        </p:spPr>
        <p:txBody>
          <a:bodyPr wrap="none" lIns="90000" rtlCol="0" anchor="t">
            <a:spAutoFit/>
          </a:bodyPr>
          <a:lstStyle/>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r>
              <a:rPr lang="en-US" sz="1600" noProof="0" dirty="0">
                <a:solidFill>
                  <a:schemeClr val="bg1"/>
                </a:solidFill>
                <a:latin typeface="Calibri" panose="020F0502020204030204" pitchFamily="34" charset="0"/>
                <a:cs typeface="Calibri" panose="020F0502020204030204" pitchFamily="34" charset="0"/>
              </a:rPr>
              <a:t>★</a:t>
            </a: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a:p>
            <a:pPr algn="r">
              <a:lnSpc>
                <a:spcPct val="300000"/>
              </a:lnSpc>
            </a:pPr>
            <a:r>
              <a:rPr lang="en-US" sz="1600" dirty="0">
                <a:solidFill>
                  <a:schemeClr val="bg1"/>
                </a:solidFill>
                <a:latin typeface="Calibri" panose="020F0502020204030204" pitchFamily="34" charset="0"/>
                <a:cs typeface="Calibri" panose="020F0502020204030204" pitchFamily="34" charset="0"/>
              </a:rPr>
              <a:t>★</a:t>
            </a:r>
            <a:endParaRPr lang="en-US" sz="1600" noProof="0" dirty="0">
              <a:solidFill>
                <a:schemeClr val="bg1"/>
              </a:solidFill>
              <a:latin typeface="Calibri" panose="020F0502020204030204" pitchFamily="34" charset="0"/>
              <a:cs typeface="Calibri" panose="020F0502020204030204" pitchFamily="34" charset="0"/>
            </a:endParaRPr>
          </a:p>
        </p:txBody>
      </p:sp>
      <p:sp>
        <p:nvSpPr>
          <p:cNvPr id="20" name="TextBox 19">
            <a:extLst>
              <a:ext uri="{FF2B5EF4-FFF2-40B4-BE49-F238E27FC236}">
                <a16:creationId xmlns:a16="http://schemas.microsoft.com/office/drawing/2014/main" id="{AA6B9F2E-1FAA-6147-8D4B-123937F3FA14}"/>
              </a:ext>
            </a:extLst>
          </p:cNvPr>
          <p:cNvSpPr txBox="1"/>
          <p:nvPr/>
        </p:nvSpPr>
        <p:spPr>
          <a:xfrm rot="16200000">
            <a:off x="-41294" y="3636790"/>
            <a:ext cx="11818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Maintainability</a:t>
            </a:r>
          </a:p>
        </p:txBody>
      </p:sp>
      <p:sp>
        <p:nvSpPr>
          <p:cNvPr id="21" name="TextBox 20">
            <a:extLst>
              <a:ext uri="{FF2B5EF4-FFF2-40B4-BE49-F238E27FC236}">
                <a16:creationId xmlns:a16="http://schemas.microsoft.com/office/drawing/2014/main" id="{CBCA2804-3BBC-1243-B252-3606CEE166D1}"/>
              </a:ext>
            </a:extLst>
          </p:cNvPr>
          <p:cNvSpPr txBox="1"/>
          <p:nvPr/>
        </p:nvSpPr>
        <p:spPr>
          <a:xfrm>
            <a:off x="5449035" y="5901169"/>
            <a:ext cx="2783283" cy="274499"/>
          </a:xfrm>
          <a:prstGeom prst="rect">
            <a:avLst/>
          </a:prstGeom>
          <a:noFill/>
        </p:spPr>
        <p:txBody>
          <a:bodyPr wrap="none" lIns="90000" rtlCol="0" anchor="t">
            <a:spAutoFit/>
          </a:bodyPr>
          <a:lstStyle/>
          <a:p>
            <a:pPr algn="ctr">
              <a:lnSpc>
                <a:spcPct val="113000"/>
              </a:lnSpc>
            </a:pPr>
            <a:r>
              <a:rPr lang="en-US" sz="1100" noProof="0" dirty="0">
                <a:solidFill>
                  <a:schemeClr val="accent4"/>
                </a:solidFill>
                <a:latin typeface="☞NOIR PRO MEDIUM" pitchFamily="2" charset="0"/>
              </a:rPr>
              <a:t>System rebuild volume in person years</a:t>
            </a:r>
          </a:p>
        </p:txBody>
      </p:sp>
      <p:cxnSp>
        <p:nvCxnSpPr>
          <p:cNvPr id="22" name="Straight Arrow Connector 21">
            <a:extLst>
              <a:ext uri="{FF2B5EF4-FFF2-40B4-BE49-F238E27FC236}">
                <a16:creationId xmlns:a16="http://schemas.microsoft.com/office/drawing/2014/main" id="{4D40947C-5676-1242-AEC0-87071DBECADF}"/>
              </a:ext>
            </a:extLst>
          </p:cNvPr>
          <p:cNvCxnSpPr>
            <a:cxnSpLocks/>
          </p:cNvCxnSpPr>
          <p:nvPr/>
        </p:nvCxnSpPr>
        <p:spPr>
          <a:xfrm flipV="1">
            <a:off x="723627" y="3266661"/>
            <a:ext cx="0" cy="987287"/>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C24D10E-589B-A645-A73D-2DF5671E5BCE}"/>
              </a:ext>
            </a:extLst>
          </p:cNvPr>
          <p:cNvCxnSpPr>
            <a:cxnSpLocks/>
          </p:cNvCxnSpPr>
          <p:nvPr/>
        </p:nvCxnSpPr>
        <p:spPr>
          <a:xfrm>
            <a:off x="5546035" y="6223288"/>
            <a:ext cx="2590800" cy="0"/>
          </a:xfrm>
          <a:prstGeom prst="straightConnector1">
            <a:avLst/>
          </a:prstGeom>
          <a:ln w="19050">
            <a:solidFill>
              <a:srgbClr val="B3BECD"/>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24" name="Picture 23">
            <a:extLst>
              <a:ext uri="{FF2B5EF4-FFF2-40B4-BE49-F238E27FC236}">
                <a16:creationId xmlns:a16="http://schemas.microsoft.com/office/drawing/2014/main" id="{4719D613-2D86-324E-B31C-9B748075401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775560" y="1842711"/>
            <a:ext cx="9781201" cy="3899777"/>
          </a:xfrm>
          <a:prstGeom prst="rect">
            <a:avLst/>
          </a:prstGeom>
        </p:spPr>
      </p:pic>
      <p:graphicFrame>
        <p:nvGraphicFramePr>
          <p:cNvPr id="25" name="CHART_1">
            <a:extLst>
              <a:ext uri="{FF2B5EF4-FFF2-40B4-BE49-F238E27FC236}">
                <a16:creationId xmlns:a16="http://schemas.microsoft.com/office/drawing/2014/main" id="{71473021-ED8B-E048-AE80-928BC05FB04C}"/>
              </a:ext>
            </a:extLst>
          </p:cNvPr>
          <p:cNvGraphicFramePr/>
          <p:nvPr/>
        </p:nvGraphicFramePr>
        <p:xfrm>
          <a:off x="1482154" y="1834937"/>
          <a:ext cx="10279108" cy="4131132"/>
        </p:xfrm>
        <a:graphic>
          <a:graphicData uri="http://schemas.openxmlformats.org/drawingml/2006/chart">
            <c:chart xmlns:c="http://schemas.openxmlformats.org/drawingml/2006/chart" xmlns:r="http://schemas.openxmlformats.org/officeDocument/2006/relationships" r:id="rId4"/>
          </a:graphicData>
        </a:graphic>
      </p:graphicFrame>
      <p:grpSp>
        <p:nvGrpSpPr>
          <p:cNvPr id="27" name="Group 26">
            <a:extLst>
              <a:ext uri="{FF2B5EF4-FFF2-40B4-BE49-F238E27FC236}">
                <a16:creationId xmlns:a16="http://schemas.microsoft.com/office/drawing/2014/main" id="{4FC400F9-4DE2-8F42-8C2D-4150A26F3F2C}"/>
              </a:ext>
            </a:extLst>
          </p:cNvPr>
          <p:cNvGrpSpPr/>
          <p:nvPr/>
        </p:nvGrpSpPr>
        <p:grpSpPr>
          <a:xfrm>
            <a:off x="5118606" y="1363956"/>
            <a:ext cx="3444121" cy="390363"/>
            <a:chOff x="4652159" y="1363956"/>
            <a:chExt cx="3444121" cy="390363"/>
          </a:xfrm>
        </p:grpSpPr>
        <p:pic>
          <p:nvPicPr>
            <p:cNvPr id="28" name="Picture 27">
              <a:extLst>
                <a:ext uri="{FF2B5EF4-FFF2-40B4-BE49-F238E27FC236}">
                  <a16:creationId xmlns:a16="http://schemas.microsoft.com/office/drawing/2014/main" id="{35046831-DB71-A940-A48A-8B3192963463}"/>
                </a:ext>
              </a:extLst>
            </p:cNvPr>
            <p:cNvPicPr>
              <a:picLocks noChangeAspect="1"/>
            </p:cNvPicPr>
            <p:nvPr/>
          </p:nvPicPr>
          <p:blipFill>
            <a:blip r:embed="rId5">
              <a:lum bright="100000"/>
            </a:blip>
            <a:stretch>
              <a:fillRect/>
            </a:stretch>
          </p:blipFill>
          <p:spPr>
            <a:xfrm>
              <a:off x="4652159" y="1380274"/>
              <a:ext cx="355600" cy="302260"/>
            </a:xfrm>
            <a:prstGeom prst="rect">
              <a:avLst/>
            </a:prstGeom>
          </p:spPr>
        </p:pic>
        <p:sp>
          <p:nvSpPr>
            <p:cNvPr id="29" name="TextBox 28">
              <a:extLst>
                <a:ext uri="{FF2B5EF4-FFF2-40B4-BE49-F238E27FC236}">
                  <a16:creationId xmlns:a16="http://schemas.microsoft.com/office/drawing/2014/main" id="{426023ED-8DC0-D241-985A-9479E28D34EC}"/>
                </a:ext>
              </a:extLst>
            </p:cNvPr>
            <p:cNvSpPr txBox="1"/>
            <p:nvPr/>
          </p:nvSpPr>
          <p:spPr>
            <a:xfrm>
              <a:off x="4987587" y="1363956"/>
              <a:ext cx="3108693" cy="390363"/>
            </a:xfrm>
            <a:prstGeom prst="rect">
              <a:avLst/>
            </a:prstGeom>
            <a:noFill/>
          </p:spPr>
          <p:txBody>
            <a:bodyPr wrap="none" lIns="90000" rtlCol="0" anchor="t">
              <a:spAutoFit/>
            </a:bodyPr>
            <a:lstStyle/>
            <a:p>
              <a:pPr algn="l">
                <a:lnSpc>
                  <a:spcPct val="113000"/>
                </a:lnSpc>
              </a:pPr>
              <a:r>
                <a:rPr lang="en-US" noProof="0" dirty="0">
                  <a:solidFill>
                    <a:schemeClr val="bg1"/>
                  </a:solidFill>
                  <a:latin typeface="☞NOIR PRO MEDIUM" pitchFamily="2" charset="0"/>
                </a:rPr>
                <a:t>maintainability benchmark</a:t>
              </a:r>
            </a:p>
          </p:txBody>
        </p:sp>
      </p:grpSp>
      <p:grpSp>
        <p:nvGrpSpPr>
          <p:cNvPr id="30" name="Group 29">
            <a:extLst>
              <a:ext uri="{FF2B5EF4-FFF2-40B4-BE49-F238E27FC236}">
                <a16:creationId xmlns:a16="http://schemas.microsoft.com/office/drawing/2014/main" id="{7966B7EB-EB40-8F4F-BFE2-14F8A482C1E9}"/>
              </a:ext>
            </a:extLst>
          </p:cNvPr>
          <p:cNvGrpSpPr/>
          <p:nvPr/>
        </p:nvGrpSpPr>
        <p:grpSpPr>
          <a:xfrm>
            <a:off x="1894777" y="5911258"/>
            <a:ext cx="1800067" cy="289438"/>
            <a:chOff x="1894777" y="5954803"/>
            <a:chExt cx="1800067" cy="289438"/>
          </a:xfrm>
        </p:grpSpPr>
        <p:sp>
          <p:nvSpPr>
            <p:cNvPr id="31" name="Oval 30">
              <a:extLst>
                <a:ext uri="{FF2B5EF4-FFF2-40B4-BE49-F238E27FC236}">
                  <a16:creationId xmlns:a16="http://schemas.microsoft.com/office/drawing/2014/main" id="{2F1D2BB0-4FB7-FD48-9491-1CC2359747A2}"/>
                </a:ext>
              </a:extLst>
            </p:cNvPr>
            <p:cNvSpPr/>
            <p:nvPr/>
          </p:nvSpPr>
          <p:spPr>
            <a:xfrm>
              <a:off x="1894777" y="6061515"/>
              <a:ext cx="79513" cy="79513"/>
            </a:xfrm>
            <a:prstGeom prst="ellipse">
              <a:avLst/>
            </a:prstGeom>
            <a:solidFill>
              <a:schemeClr val="bg1">
                <a:alpha val="4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2" name="TextBox 31">
              <a:extLst>
                <a:ext uri="{FF2B5EF4-FFF2-40B4-BE49-F238E27FC236}">
                  <a16:creationId xmlns:a16="http://schemas.microsoft.com/office/drawing/2014/main" id="{BBD5F066-D653-7244-8E79-CAE5026508C0}"/>
                </a:ext>
              </a:extLst>
            </p:cNvPr>
            <p:cNvSpPr txBox="1"/>
            <p:nvPr/>
          </p:nvSpPr>
          <p:spPr>
            <a:xfrm>
              <a:off x="1934534" y="5954803"/>
              <a:ext cx="1760310" cy="289438"/>
            </a:xfrm>
            <a:prstGeom prst="rect">
              <a:avLst/>
            </a:prstGeom>
            <a:noFill/>
          </p:spPr>
          <p:txBody>
            <a:bodyPr wrap="none" lIns="90000" rtlCol="0" anchor="t">
              <a:spAutoFit/>
            </a:bodyPr>
            <a:lstStyle/>
            <a:p>
              <a:pPr algn="l">
                <a:lnSpc>
                  <a:spcPct val="113000"/>
                </a:lnSpc>
              </a:pPr>
              <a:r>
                <a:rPr lang="en-US" sz="1200" noProof="0" dirty="0">
                  <a:solidFill>
                    <a:schemeClr val="bg1"/>
                  </a:solidFill>
                </a:rPr>
                <a:t>System in SIG benchmark</a:t>
              </a:r>
            </a:p>
          </p:txBody>
        </p:sp>
      </p:grpSp>
      <p:sp>
        <p:nvSpPr>
          <p:cNvPr id="2" name="TextBox 1">
            <a:extLst>
              <a:ext uri="{FF2B5EF4-FFF2-40B4-BE49-F238E27FC236}">
                <a16:creationId xmlns:a16="http://schemas.microsoft.com/office/drawing/2014/main" id="{767471FA-A9FE-8926-C136-F5A56280E365}"/>
              </a:ext>
            </a:extLst>
          </p:cNvPr>
          <p:cNvSpPr txBox="1"/>
          <p:nvPr/>
        </p:nvSpPr>
        <p:spPr>
          <a:xfrm>
            <a:off x="10854411" y="-307357"/>
            <a:ext cx="1404700" cy="355225"/>
          </a:xfrm>
          <a:prstGeom prst="rect">
            <a:avLst/>
          </a:prstGeom>
          <a:noFill/>
        </p:spPr>
        <p:txBody>
          <a:bodyPr wrap="none" lIns="90000" rtlCol="0" anchor="t">
            <a:spAutoFit/>
          </a:bodyPr>
          <a:lstStyle/>
          <a:p>
            <a:pPr algn="l">
              <a:lnSpc>
                <a:spcPct val="113000"/>
              </a:lnSpc>
            </a:pPr>
            <a:r>
              <a:rPr lang="en-US" sz="1600" dirty="0" err="1">
                <a:solidFill>
                  <a:schemeClr val="tx2"/>
                </a:solidFill>
              </a:rPr>
              <a:t>GALAXY_SLIDE</a:t>
            </a:r>
            <a:endParaRPr lang="en-US" sz="1600" dirty="0">
              <a:solidFill>
                <a:schemeClr val="tx2"/>
              </a:solidFill>
            </a:endParaRPr>
          </a:p>
        </p:txBody>
      </p:sp>
    </p:spTree>
    <p:extLst>
      <p:ext uri="{BB962C8B-B14F-4D97-AF65-F5344CB8AC3E}">
        <p14:creationId xmlns:p14="http://schemas.microsoft.com/office/powerpoint/2010/main" val="729317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3D0FC-1E69-5405-8D25-E89771A793CC}"/>
            </a:ext>
          </a:extLst>
        </p:cNvPr>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F1B609EF-4181-E74F-FF39-E0761C89B7D7}"/>
              </a:ext>
            </a:extLst>
          </p:cNvPr>
          <p:cNvSpPr>
            <a:spLocks noGrp="1"/>
          </p:cNvSpPr>
          <p:nvPr>
            <p:ph type="body" sz="quarter" idx="12"/>
          </p:nvPr>
        </p:nvSpPr>
        <p:spPr>
          <a:xfrm>
            <a:off x="381000" y="129609"/>
            <a:ext cx="2674945" cy="228145"/>
          </a:xfrm>
        </p:spPr>
        <p:txBody>
          <a:bodyPr/>
          <a:lstStyle/>
          <a:p>
            <a:r>
              <a:rPr lang="en-US" noProof="0" dirty="0"/>
              <a:t>Key findings – Maintainability</a:t>
            </a:r>
          </a:p>
        </p:txBody>
      </p:sp>
      <p:sp>
        <p:nvSpPr>
          <p:cNvPr id="54" name="Tijdelijke aanduiding voor inhoud 53">
            <a:extLst>
              <a:ext uri="{FF2B5EF4-FFF2-40B4-BE49-F238E27FC236}">
                <a16:creationId xmlns:a16="http://schemas.microsoft.com/office/drawing/2014/main" id="{C9D4FD2A-29C7-977B-F942-DDDC53AD6ACB}"/>
              </a:ext>
            </a:extLst>
          </p:cNvPr>
          <p:cNvSpPr>
            <a:spLocks noGrp="1"/>
          </p:cNvSpPr>
          <p:nvPr>
            <p:ph sz="quarter" idx="13"/>
          </p:nvPr>
        </p:nvSpPr>
        <p:spPr>
          <a:xfrm>
            <a:off x="154799" y="2738112"/>
            <a:ext cx="8090297" cy="3525887"/>
          </a:xfrm>
        </p:spPr>
        <p:txBody>
          <a:bodyPr/>
          <a:lstStyle/>
          <a:p>
            <a:r>
              <a:rPr lang="en-US" sz="1400" noProof="0" dirty="0" err="1"/>
              <a:t>Integrationtest-kafka scores at market average for maintainability. This indicates average maintenance costs and time to market for functional changes. </a:t>
            </a:r>
          </a:p>
          <a:p>
            <a:endParaRPr lang="en-US" sz="1400" noProof="0" dirty="0"/>
          </a:p>
          <a:p>
            <a:r>
              <a:rPr lang="en-US" sz="1400" noProof="0" dirty="0">
                <a:latin typeface="Noir Pro Semi Bold" pitchFamily="2" charset="0"/>
              </a:rPr>
              <a:t>Notable metrics</a:t>
            </a:r>
          </a:p>
          <a:p>
            <a:r>
              <a:rPr lang="en-US" sz="1400" noProof="0" dirty="0" err="1"/>
              <a:t>The system shows high risk in its tightly coupled modules
The system shows high risk where components of the system depend on each other
The system's large size hinders its effective maintenance
The system shows high risk in units with large interfaces
The system shows high risk where components of the system often interact with each other
The system shows low risk in its duplicated logic.
</a:t>
            </a:r>
            <a:endParaRPr lang="en-US" sz="1400" noProof="0" dirty="0"/>
          </a:p>
        </p:txBody>
      </p:sp>
      <p:sp>
        <p:nvSpPr>
          <p:cNvPr id="4" name="Tijdelijke aanduiding voor voettekst 3">
            <a:extLst>
              <a:ext uri="{FF2B5EF4-FFF2-40B4-BE49-F238E27FC236}">
                <a16:creationId xmlns:a16="http://schemas.microsoft.com/office/drawing/2014/main" id="{CC752FB1-03C1-7292-253C-C8435A815C2D}"/>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65651B26-96DD-EACD-2E25-B80757D07B99}"/>
              </a:ext>
            </a:extLst>
          </p:cNvPr>
          <p:cNvSpPr>
            <a:spLocks noGrp="1"/>
          </p:cNvSpPr>
          <p:nvPr>
            <p:ph type="sldNum" sz="quarter" idx="15"/>
          </p:nvPr>
        </p:nvSpPr>
        <p:spPr/>
        <p:txBody>
          <a:bodyPr/>
          <a:lstStyle/>
          <a:p>
            <a:fld id="{E242BD21-9B61-2246-BCB1-4BE5E1BEBE1C}" type="slidenum">
              <a:rPr lang="en-US" noProof="0" smtClean="0"/>
              <a:pPr/>
              <a:t>10</a:t>
            </a:fld>
            <a:endParaRPr lang="en-US" noProof="0" dirty="0"/>
          </a:p>
        </p:txBody>
      </p:sp>
      <p:sp>
        <p:nvSpPr>
          <p:cNvPr id="53" name="Titel 52">
            <a:extLst>
              <a:ext uri="{FF2B5EF4-FFF2-40B4-BE49-F238E27FC236}">
                <a16:creationId xmlns:a16="http://schemas.microsoft.com/office/drawing/2014/main" id="{A6914BE1-1869-02E9-03A8-308091307CA1}"/>
              </a:ext>
            </a:extLst>
          </p:cNvPr>
          <p:cNvSpPr>
            <a:spLocks noGrp="1"/>
          </p:cNvSpPr>
          <p:nvPr>
            <p:ph type="title"/>
          </p:nvPr>
        </p:nvSpPr>
        <p:spPr/>
        <p:txBody>
          <a:bodyPr/>
          <a:lstStyle/>
          <a:p>
            <a:r>
              <a:rPr lang="en-US" noProof="0" dirty="0" err="1"/>
              <a:t>Integrationtest-kafka scores average for maintainability</a:t>
            </a:r>
          </a:p>
        </p:txBody>
      </p:sp>
      <p:cxnSp>
        <p:nvCxnSpPr>
          <p:cNvPr id="47" name="Rechte verbindingslijn 46">
            <a:extLst>
              <a:ext uri="{FF2B5EF4-FFF2-40B4-BE49-F238E27FC236}">
                <a16:creationId xmlns:a16="http://schemas.microsoft.com/office/drawing/2014/main" id="{EF8E65C2-A45F-F7BE-50AD-120C0B0578AB}"/>
              </a:ext>
            </a:extLst>
          </p:cNvPr>
          <p:cNvCxnSpPr>
            <a:cxnSpLocks noGrp="1" noRot="1" noMove="1" noResize="1" noEditPoints="1" noAdjustHandles="1" noChangeArrowheads="1" noChangeShapeType="1"/>
          </p:cNvCxnSpPr>
          <p:nvPr/>
        </p:nvCxnSpPr>
        <p:spPr>
          <a:xfrm>
            <a:off x="8378314" y="2821727"/>
            <a:ext cx="0" cy="2617144"/>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7" name="Groep 6">
            <a:extLst>
              <a:ext uri="{FF2B5EF4-FFF2-40B4-BE49-F238E27FC236}">
                <a16:creationId xmlns:a16="http://schemas.microsoft.com/office/drawing/2014/main" id="{8058F19A-8E04-B773-2F63-975EE437CF7B}"/>
              </a:ext>
            </a:extLst>
          </p:cNvPr>
          <p:cNvGrpSpPr>
            <a:grpSpLocks noGrp="1" noUngrp="1" noRot="1" noMove="1" noResize="1"/>
          </p:cNvGrpSpPr>
          <p:nvPr/>
        </p:nvGrpSpPr>
        <p:grpSpPr>
          <a:xfrm>
            <a:off x="134319" y="1137285"/>
            <a:ext cx="11923362" cy="1426530"/>
            <a:chOff x="134319" y="1137285"/>
            <a:chExt cx="11923362" cy="1426530"/>
          </a:xfrm>
        </p:grpSpPr>
        <p:sp>
          <p:nvSpPr>
            <p:cNvPr id="26" name="Rechthoek 25">
              <a:extLst>
                <a:ext uri="{FF2B5EF4-FFF2-40B4-BE49-F238E27FC236}">
                  <a16:creationId xmlns:a16="http://schemas.microsoft.com/office/drawing/2014/main" id="{0DCAE605-6045-AE2B-8209-321411B56E14}"/>
                </a:ext>
              </a:extLst>
            </p:cNvPr>
            <p:cNvSpPr>
              <a:spLocks noGrp="1" noRot="1" noMove="1" noResize="1" noEditPoints="1" noAdjustHandles="1" noChangeArrowheads="1" noChangeShapeType="1"/>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7" name="Afgeronde rechthoek 36">
              <a:extLst>
                <a:ext uri="{FF2B5EF4-FFF2-40B4-BE49-F238E27FC236}">
                  <a16:creationId xmlns:a16="http://schemas.microsoft.com/office/drawing/2014/main" id="{A519506A-F642-8B0A-0CD2-170BCE2AA552}"/>
                </a:ext>
              </a:extLst>
            </p:cNvPr>
            <p:cNvSpPr>
              <a:spLocks noGrp="1" noRot="1" noMove="1" noResize="1" noEditPoints="1" noAdjustHandles="1" noChangeArrowheads="1" noChangeShapeType="1"/>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3" name="TextBox 39">
              <a:extLst>
                <a:ext uri="{FF2B5EF4-FFF2-40B4-BE49-F238E27FC236}">
                  <a16:creationId xmlns:a16="http://schemas.microsoft.com/office/drawing/2014/main" id="{8A515EA8-6F7F-CB57-EEF9-6A988D6515A9}"/>
                </a:ext>
              </a:extLst>
            </p:cNvPr>
            <p:cNvSpPr txBox="1">
              <a:spLocks noGrp="1" noRot="1" noMove="1" noResize="1" noEditPoints="1" noAdjustHandles="1" noChangeArrowheads="1" noChangeShapeType="1"/>
            </p:cNvSpPr>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3" name="Afgeronde rechthoek 2">
              <a:extLst>
                <a:ext uri="{FF2B5EF4-FFF2-40B4-BE49-F238E27FC236}">
                  <a16:creationId xmlns:a16="http://schemas.microsoft.com/office/drawing/2014/main" id="{E2EE68DC-9DD1-19EB-B084-5915863A13C4}"/>
                </a:ext>
              </a:extLst>
            </p:cNvPr>
            <p:cNvSpPr>
              <a:spLocks noGrp="1" noRot="1" noMove="1" noResize="1" noEditPoints="1" noAdjustHandles="1" noChangeArrowheads="1" noChangeShapeType="1"/>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9" name="Rechte verbindingslijn 8">
              <a:extLst>
                <a:ext uri="{FF2B5EF4-FFF2-40B4-BE49-F238E27FC236}">
                  <a16:creationId xmlns:a16="http://schemas.microsoft.com/office/drawing/2014/main" id="{16341FD7-C449-69BD-197B-554C11DA7F1D}"/>
                </a:ext>
              </a:extLst>
            </p:cNvPr>
            <p:cNvCxnSpPr>
              <a:cxnSpLocks noGrp="1" noRot="1" noMove="1" noResize="1" noEditPoints="1" noAdjustHandles="1" noChangeArrowheads="1" noChangeShapeType="1"/>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0" name="Rechte verbindingslijn 9">
              <a:extLst>
                <a:ext uri="{FF2B5EF4-FFF2-40B4-BE49-F238E27FC236}">
                  <a16:creationId xmlns:a16="http://schemas.microsoft.com/office/drawing/2014/main" id="{A4959127-23CE-B5B2-54D8-24915B5D939C}"/>
                </a:ext>
              </a:extLst>
            </p:cNvPr>
            <p:cNvCxnSpPr>
              <a:cxnSpLocks noGrp="1" noRot="1" noMove="1" noResize="1" noEditPoints="1" noAdjustHandles="1" noChangeArrowheads="1" noChangeShapeType="1"/>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1" name="Rechte verbindingslijn 10">
              <a:extLst>
                <a:ext uri="{FF2B5EF4-FFF2-40B4-BE49-F238E27FC236}">
                  <a16:creationId xmlns:a16="http://schemas.microsoft.com/office/drawing/2014/main" id="{467EED00-A9A4-745B-FA74-A2589E0935F1}"/>
                </a:ext>
              </a:extLst>
            </p:cNvPr>
            <p:cNvCxnSpPr>
              <a:cxnSpLocks noGrp="1" noRot="1" noMove="1" noResize="1" noEditPoints="1" noAdjustHandles="1" noChangeArrowheads="1" noChangeShapeType="1"/>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13" name="Rechte verbindingslijn 12">
              <a:extLst>
                <a:ext uri="{FF2B5EF4-FFF2-40B4-BE49-F238E27FC236}">
                  <a16:creationId xmlns:a16="http://schemas.microsoft.com/office/drawing/2014/main" id="{65D273F6-15EF-5B5D-F9A4-4D7671E31A92}"/>
                </a:ext>
              </a:extLst>
            </p:cNvPr>
            <p:cNvCxnSpPr>
              <a:cxnSpLocks noGrp="1" noRot="1" noMove="1" noResize="1" noEditPoints="1" noAdjustHandles="1" noChangeArrowheads="1" noChangeShapeType="1"/>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15" name="Rechthoek 14">
              <a:extLst>
                <a:ext uri="{FF2B5EF4-FFF2-40B4-BE49-F238E27FC236}">
                  <a16:creationId xmlns:a16="http://schemas.microsoft.com/office/drawing/2014/main" id="{9B50D10F-F915-DCFC-A5F9-B9784D2E0A44}"/>
                </a:ext>
              </a:extLst>
            </p:cNvPr>
            <p:cNvSpPr>
              <a:spLocks noGrp="1" noRot="1" noMove="1" noResize="1" noEditPoints="1" noAdjustHandles="1" noChangeArrowheads="1" noChangeShapeType="1"/>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Afgeronde rechthoek 18">
              <a:extLst>
                <a:ext uri="{FF2B5EF4-FFF2-40B4-BE49-F238E27FC236}">
                  <a16:creationId xmlns:a16="http://schemas.microsoft.com/office/drawing/2014/main" id="{7222BC8B-9E66-91BE-A862-E4B0A9707F5E}"/>
                </a:ext>
              </a:extLst>
            </p:cNvPr>
            <p:cNvSpPr>
              <a:spLocks noGrp="1" noRot="1" noMove="1" noResize="1" noEditPoints="1" noAdjustHandles="1" noChangeArrowheads="1" noChangeShapeType="1"/>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20" name="Afgeronde rechthoek 19">
              <a:extLst>
                <a:ext uri="{FF2B5EF4-FFF2-40B4-BE49-F238E27FC236}">
                  <a16:creationId xmlns:a16="http://schemas.microsoft.com/office/drawing/2014/main" id="{0372C655-B475-E870-9B73-C457C9429959}"/>
                </a:ext>
              </a:extLst>
            </p:cNvPr>
            <p:cNvSpPr>
              <a:spLocks noGrp="1" noRot="1" noMove="1" noResize="1" noEditPoints="1" noAdjustHandles="1" noChangeArrowheads="1" noChangeShapeType="1"/>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21" name="Afgeronde rechthoek 20">
              <a:extLst>
                <a:ext uri="{FF2B5EF4-FFF2-40B4-BE49-F238E27FC236}">
                  <a16:creationId xmlns:a16="http://schemas.microsoft.com/office/drawing/2014/main" id="{A4495646-4CD8-7FE9-D6FA-E6A32F32680C}"/>
                </a:ext>
              </a:extLst>
            </p:cNvPr>
            <p:cNvSpPr>
              <a:spLocks noGrp="1" noRot="1" noMove="1" noResize="1" noEditPoints="1" noAdjustHandles="1" noChangeArrowheads="1" noChangeShapeType="1"/>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22" name="Afgeronde rechthoek 21">
              <a:extLst>
                <a:ext uri="{FF2B5EF4-FFF2-40B4-BE49-F238E27FC236}">
                  <a16:creationId xmlns:a16="http://schemas.microsoft.com/office/drawing/2014/main" id="{81E714D1-2EDD-E6C5-CAAA-EB02239A0D7B}"/>
                </a:ext>
              </a:extLst>
            </p:cNvPr>
            <p:cNvSpPr>
              <a:spLocks noGrp="1" noRot="1" noMove="1" noResize="1" noEditPoints="1" noAdjustHandles="1" noChangeArrowheads="1" noChangeShapeType="1"/>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23" name="Afgeronde rechthoek 22">
              <a:extLst>
                <a:ext uri="{FF2B5EF4-FFF2-40B4-BE49-F238E27FC236}">
                  <a16:creationId xmlns:a16="http://schemas.microsoft.com/office/drawing/2014/main" id="{9FA94012-C64B-FEAF-BEF5-6E878110F952}"/>
                </a:ext>
              </a:extLst>
            </p:cNvPr>
            <p:cNvSpPr>
              <a:spLocks noGrp="1" noRot="1" noMove="1" noResize="1" noEditPoints="1" noAdjustHandles="1" noChangeArrowheads="1" noChangeShapeType="1"/>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24" name="Afgeronde rechthoek 23">
              <a:extLst>
                <a:ext uri="{FF2B5EF4-FFF2-40B4-BE49-F238E27FC236}">
                  <a16:creationId xmlns:a16="http://schemas.microsoft.com/office/drawing/2014/main" id="{06245C99-D1A2-81E1-7A2A-9B3FA54DB5D9}"/>
                </a:ext>
              </a:extLst>
            </p:cNvPr>
            <p:cNvSpPr>
              <a:spLocks noGrp="1" noRot="1" noMove="1" noResize="1" noEditPoints="1" noAdjustHandles="1" noChangeArrowheads="1" noChangeShapeType="1"/>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32" name="Rectangle 29">
              <a:extLst>
                <a:ext uri="{FF2B5EF4-FFF2-40B4-BE49-F238E27FC236}">
                  <a16:creationId xmlns:a16="http://schemas.microsoft.com/office/drawing/2014/main" id="{0D680DAE-6A0A-5F80-9D73-1B3434F7C526}"/>
                </a:ext>
              </a:extLst>
            </p:cNvPr>
            <p:cNvSpPr>
              <a:spLocks noGrp="1" noRot="1" noMove="1" noResize="1" noEditPoints="1" noAdjustHandles="1" noChangeArrowheads="1" noChangeShapeType="1"/>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3" name="Rectangle 34">
              <a:extLst>
                <a:ext uri="{FF2B5EF4-FFF2-40B4-BE49-F238E27FC236}">
                  <a16:creationId xmlns:a16="http://schemas.microsoft.com/office/drawing/2014/main" id="{B95F3709-4127-653F-563F-EB0A748FB34F}"/>
                </a:ext>
              </a:extLst>
            </p:cNvPr>
            <p:cNvSpPr>
              <a:spLocks noGrp="1" noRot="1" noMove="1" noResize="1" noEditPoints="1" noAdjustHandles="1" noChangeArrowheads="1" noChangeShapeType="1"/>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4" name="Rectangle 35">
              <a:extLst>
                <a:ext uri="{FF2B5EF4-FFF2-40B4-BE49-F238E27FC236}">
                  <a16:creationId xmlns:a16="http://schemas.microsoft.com/office/drawing/2014/main" id="{DB3E36D4-BB81-8AF0-CEF6-CCC2706BF831}"/>
                </a:ext>
              </a:extLst>
            </p:cNvPr>
            <p:cNvSpPr>
              <a:spLocks noGrp="1" noRot="1" noMove="1" noResize="1" noEditPoints="1" noAdjustHandles="1" noChangeArrowheads="1" noChangeShapeType="1"/>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35" name="Rectangle 36">
              <a:extLst>
                <a:ext uri="{FF2B5EF4-FFF2-40B4-BE49-F238E27FC236}">
                  <a16:creationId xmlns:a16="http://schemas.microsoft.com/office/drawing/2014/main" id="{3A492A1F-5A7A-07F8-8C38-7C13295E7C41}"/>
                </a:ext>
              </a:extLst>
            </p:cNvPr>
            <p:cNvSpPr>
              <a:spLocks noGrp="1" noRot="1" noMove="1" noResize="1" noEditPoints="1" noAdjustHandles="1" noChangeArrowheads="1" noChangeShapeType="1"/>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36" name="Rectangle 37">
              <a:extLst>
                <a:ext uri="{FF2B5EF4-FFF2-40B4-BE49-F238E27FC236}">
                  <a16:creationId xmlns:a16="http://schemas.microsoft.com/office/drawing/2014/main" id="{8D18C5C7-06E2-49CE-D02A-344D110428DB}"/>
                </a:ext>
              </a:extLst>
            </p:cNvPr>
            <p:cNvSpPr>
              <a:spLocks noGrp="1" noRot="1" noMove="1" noResize="1" noEditPoints="1" noAdjustHandles="1" noChangeArrowheads="1" noChangeShapeType="1"/>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78" name="Rechte verbindingslijn 77">
              <a:extLst>
                <a:ext uri="{FF2B5EF4-FFF2-40B4-BE49-F238E27FC236}">
                  <a16:creationId xmlns:a16="http://schemas.microsoft.com/office/drawing/2014/main" id="{B27569F3-74B0-C2D8-CBC7-DCBA58B39A6A}"/>
                </a:ext>
              </a:extLst>
            </p:cNvPr>
            <p:cNvCxnSpPr>
              <a:cxnSpLocks noGrp="1" noRot="1" noMove="1" noResize="1" noEditPoints="1" noAdjustHandles="1" noChangeArrowheads="1" noChangeShapeType="1"/>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80" name="Rechte verbindingslijn 79">
              <a:extLst>
                <a:ext uri="{FF2B5EF4-FFF2-40B4-BE49-F238E27FC236}">
                  <a16:creationId xmlns:a16="http://schemas.microsoft.com/office/drawing/2014/main" id="{37D11895-5EFF-93B7-DE3D-9A9E9F09F8C1}"/>
                </a:ext>
              </a:extLst>
            </p:cNvPr>
            <p:cNvCxnSpPr>
              <a:cxnSpLocks noGrp="1" noRot="1" noMove="1" noResize="1" noEditPoints="1" noAdjustHandles="1" noChangeArrowheads="1" noChangeShapeType="1"/>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75" name="Graphic 74">
              <a:extLst>
                <a:ext uri="{FF2B5EF4-FFF2-40B4-BE49-F238E27FC236}">
                  <a16:creationId xmlns:a16="http://schemas.microsoft.com/office/drawing/2014/main" id="{B5BD83E5-4A87-97B5-1F20-E26F1CC99FB7}"/>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28" name="Rechte verbindingslijn 27">
              <a:extLst>
                <a:ext uri="{FF2B5EF4-FFF2-40B4-BE49-F238E27FC236}">
                  <a16:creationId xmlns:a16="http://schemas.microsoft.com/office/drawing/2014/main" id="{D9F659BC-E5C3-0EB3-2FDA-3439436410A5}"/>
                </a:ext>
              </a:extLst>
            </p:cNvPr>
            <p:cNvCxnSpPr>
              <a:cxnSpLocks noGrp="1" noRot="1" noMove="1" noResize="1" noEditPoints="1" noAdjustHandles="1" noChangeArrowheads="1" noChangeShapeType="1"/>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50" name="Graphic 49">
              <a:extLst>
                <a:ext uri="{FF2B5EF4-FFF2-40B4-BE49-F238E27FC236}">
                  <a16:creationId xmlns:a16="http://schemas.microsoft.com/office/drawing/2014/main" id="{0F81F54D-AD5F-2ED7-41E7-B4244E747E5F}"/>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65" name="TextBox 39">
            <a:extLst>
              <a:ext uri="{FF2B5EF4-FFF2-40B4-BE49-F238E27FC236}">
                <a16:creationId xmlns:a16="http://schemas.microsoft.com/office/drawing/2014/main" id="{DDB8BF03-352C-7912-CA4F-E637BDD54DFE}"/>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402C79F4-6E42-178E-24B7-07CA9240FF5A}"/>
              </a:ext>
            </a:extLst>
          </p:cNvPr>
          <p:cNvGraphicFramePr>
            <a:graphicFrameLocks noGrp="1"/>
          </p:cNvGraphicFramePr>
          <p:nvPr>
            <p:extLst>
              <p:ext uri="{D42A27DB-BD31-4B8C-83A1-F6EECF244321}">
                <p14:modId xmlns:p14="http://schemas.microsoft.com/office/powerpoint/2010/main" val="3526213525"/>
              </p:ext>
            </p:extLst>
          </p:nvPr>
        </p:nvGraphicFramePr>
        <p:xfrm>
          <a:off x="8571496" y="3035953"/>
          <a:ext cx="3116504" cy="3428928"/>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806823">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u="none" strike="noStrike" cap="none" normalizeH="0" baseline="0" noProof="0" dirty="0">
                          <a:ln>
                            <a:noFill/>
                          </a:ln>
                          <a:solidFill>
                            <a:schemeClr val="tx1"/>
                          </a:solidFill>
                          <a:effectLst/>
                          <a:latin typeface="+mn-lt"/>
                        </a:rPr>
                        <a:t>Volume</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Duplication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u="none" strike="noStrike" cap="none" normalizeH="0" baseline="0" noProof="0" dirty="0">
                          <a:ln>
                            <a:noFill/>
                          </a:ln>
                          <a:solidFill>
                            <a:schemeClr val="tx1"/>
                          </a:solidFill>
                          <a:effectLst/>
                          <a:latin typeface="+mn-lt"/>
                        </a:rPr>
                        <a:t>Unit size</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Unit complexity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3.0</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Unit interfacing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2.2</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Module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entanglement </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independence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bl>
          </a:graphicData>
        </a:graphic>
      </p:graphicFrame>
      <p:graphicFrame>
        <p:nvGraphicFramePr>
          <p:cNvPr id="74" name="Table 3">
            <a:extLst>
              <a:ext uri="{FF2B5EF4-FFF2-40B4-BE49-F238E27FC236}">
                <a16:creationId xmlns:a16="http://schemas.microsoft.com/office/drawing/2014/main" id="{77E3437B-5074-14E8-36C7-3DF76B44157A}"/>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AC4EC13-23AB-04D5-0F9F-2B74B25C4A9B}"/>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Maintainability</a:t>
            </a:r>
          </a:p>
        </p:txBody>
      </p:sp>
      <p:sp>
        <p:nvSpPr>
          <p:cNvPr id="76" name="TextBox 39">
            <a:extLst>
              <a:ext uri="{FF2B5EF4-FFF2-40B4-BE49-F238E27FC236}">
                <a16:creationId xmlns:a16="http://schemas.microsoft.com/office/drawing/2014/main" id="{26078FB0-8A8E-B3F7-4DCB-48A08F72175C}"/>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a:t>
            </a:r>
            <a:r>
              <a:rPr lang="en-US" sz="800" noProof="0" dirty="0" err="1">
                <a:solidFill>
                  <a:srgbClr val="152F73"/>
                </a:solidFill>
                <a:latin typeface="Azeret Mono" pitchFamily="2" charset="77"/>
                <a:cs typeface="Azeret Mono" pitchFamily="2" charset="77"/>
              </a:rPr>
              <a:t>15 March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89227F0-045C-CC55-9916-9690A349C77E}"/>
              </a:ext>
            </a:extLst>
          </p:cNvPr>
          <p:cNvGrpSpPr/>
          <p:nvPr/>
        </p:nvGrpSpPr>
        <p:grpSpPr>
          <a:xfrm>
            <a:off x="4753468" y="1466322"/>
            <a:ext cx="913712" cy="884878"/>
            <a:chOff x="5633468" y="1730647"/>
            <a:chExt cx="913712" cy="884878"/>
          </a:xfrm>
        </p:grpSpPr>
        <p:sp>
          <p:nvSpPr>
            <p:cNvPr id="71" name="TextBox 42">
              <a:extLst>
                <a:ext uri="{FF2B5EF4-FFF2-40B4-BE49-F238E27FC236}">
                  <a16:creationId xmlns:a16="http://schemas.microsoft.com/office/drawing/2014/main" id="{630C82FE-1178-32D8-EC14-6C21317BE3E9}"/>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EF195F66-2F7D-44D7-BBBD-D6BE8D7F6FC5}"/>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58D67A48-2556-2ED0-85E0-5AC6B13B7FD3}"/>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2.6</a:t>
              </a:r>
              <a:endParaRPr lang="en-US" sz="1000" noProof="0" dirty="0">
                <a:solidFill>
                  <a:schemeClr val="tx1"/>
                </a:solidFill>
                <a:latin typeface="☞NOIR PRO MEDIUM" pitchFamily="2" charset="0"/>
              </a:endParaRPr>
            </a:p>
          </p:txBody>
        </p:sp>
      </p:grpSp>
    </p:spTree>
    <p:extLst>
      <p:ext uri="{BB962C8B-B14F-4D97-AF65-F5344CB8AC3E}">
        <p14:creationId xmlns:p14="http://schemas.microsoft.com/office/powerpoint/2010/main" val="3761129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B4D6E7B-3114-F989-0221-CF083D29CE8F}"/>
              </a:ext>
            </a:extLst>
          </p:cNvPr>
          <p:cNvSpPr>
            <a:spLocks noGrp="1"/>
          </p:cNvSpPr>
          <p:nvPr>
            <p:ph type="body" sz="quarter" idx="12"/>
          </p:nvPr>
        </p:nvSpPr>
        <p:spPr>
          <a:xfrm>
            <a:off x="381600" y="129600"/>
            <a:ext cx="2253356" cy="228145"/>
          </a:xfrm>
        </p:spPr>
        <p:txBody>
          <a:bodyPr/>
          <a:lstStyle/>
          <a:p>
            <a:r>
              <a:rPr lang="en-US" noProof="0" dirty="0"/>
              <a:t>Key findings – Technology</a:t>
            </a:r>
          </a:p>
        </p:txBody>
      </p:sp>
      <p:sp>
        <p:nvSpPr>
          <p:cNvPr id="4" name="Footer Placeholder 3">
            <a:extLst>
              <a:ext uri="{FF2B5EF4-FFF2-40B4-BE49-F238E27FC236}">
                <a16:creationId xmlns:a16="http://schemas.microsoft.com/office/drawing/2014/main" id="{D2770E21-F741-00F2-0514-4F39688D23DB}"/>
              </a:ext>
            </a:extLst>
          </p:cNvPr>
          <p:cNvSpPr>
            <a:spLocks noGrp="1"/>
          </p:cNvSpPr>
          <p:nvPr>
            <p:ph type="ftr" sz="quarter" idx="14"/>
          </p:nvPr>
        </p:nvSpPr>
        <p:spPr/>
        <p:txBody>
          <a:bodyPr/>
          <a:lstStyle/>
          <a:p>
            <a:r>
              <a:rPr lang="en-US" noProof="0" dirty="0"/>
              <a:t>Confidential</a:t>
            </a:r>
          </a:p>
        </p:txBody>
      </p:sp>
      <p:sp>
        <p:nvSpPr>
          <p:cNvPr id="5" name="Slide Number Placeholder 4">
            <a:extLst>
              <a:ext uri="{FF2B5EF4-FFF2-40B4-BE49-F238E27FC236}">
                <a16:creationId xmlns:a16="http://schemas.microsoft.com/office/drawing/2014/main" id="{87DBA139-C731-CD59-94C7-031326B4159B}"/>
              </a:ext>
            </a:extLst>
          </p:cNvPr>
          <p:cNvSpPr>
            <a:spLocks noGrp="1"/>
          </p:cNvSpPr>
          <p:nvPr>
            <p:ph type="sldNum" sz="quarter" idx="15"/>
          </p:nvPr>
        </p:nvSpPr>
        <p:spPr/>
        <p:txBody>
          <a:bodyPr/>
          <a:lstStyle/>
          <a:p>
            <a:fld id="{E242BD21-9B61-2246-BCB1-4BE5E1BEBE1C}" type="slidenum">
              <a:rPr lang="en-US" noProof="0" smtClean="0"/>
              <a:pPr/>
              <a:t>11</a:t>
            </a:fld>
            <a:endParaRPr lang="en-US" noProof="0" dirty="0"/>
          </a:p>
        </p:txBody>
      </p:sp>
      <p:sp>
        <p:nvSpPr>
          <p:cNvPr id="6" name="Title 5">
            <a:extLst>
              <a:ext uri="{FF2B5EF4-FFF2-40B4-BE49-F238E27FC236}">
                <a16:creationId xmlns:a16="http://schemas.microsoft.com/office/drawing/2014/main" id="{E94009D2-574F-A208-29BC-1338E3FDD51E}"/>
              </a:ext>
            </a:extLst>
          </p:cNvPr>
          <p:cNvSpPr>
            <a:spLocks noGrp="1"/>
          </p:cNvSpPr>
          <p:nvPr>
            <p:ph type="title"/>
          </p:nvPr>
        </p:nvSpPr>
        <p:spPr/>
        <p:txBody>
          <a:bodyPr/>
          <a:lstStyle/>
          <a:p>
            <a:r>
              <a:rPr lang="en-US" noProof="0" dirty="0"/>
              <a:t>The system is large in size and is built primarily in Java</a:t>
            </a:r>
          </a:p>
        </p:txBody>
      </p:sp>
      <p:sp>
        <p:nvSpPr>
          <p:cNvPr id="7" name="Content Placeholder 6">
            <a:extLst>
              <a:ext uri="{FF2B5EF4-FFF2-40B4-BE49-F238E27FC236}">
                <a16:creationId xmlns:a16="http://schemas.microsoft.com/office/drawing/2014/main" id="{51AEDC6C-8C3E-727E-1418-2D7B541D7525}"/>
              </a:ext>
            </a:extLst>
          </p:cNvPr>
          <p:cNvSpPr txBox="1">
            <a:spLocks/>
          </p:cNvSpPr>
          <p:nvPr/>
        </p:nvSpPr>
        <p:spPr>
          <a:xfrm>
            <a:off x="154800" y="1411199"/>
            <a:ext cx="3927600" cy="4161697"/>
          </a:xfrm>
          <a:prstGeom prst="rect">
            <a:avLst/>
          </a:prstGeom>
        </p:spPr>
        <p:txBody>
          <a:bodyPr/>
          <a:lst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285750" indent="-285750"/>
            <a:r>
              <a:rPr lang="en-US" noProof="0" dirty="0" err="1"/>
              <a:t>The system is built using common and modern technologies.</a:t>
            </a:r>
            <a:endParaRPr lang="en-US" noProof="0" dirty="0"/>
          </a:p>
          <a:p>
            <a:pPr marL="285750" indent="-285750"/>
            <a:r>
              <a:rPr lang="en-US" noProof="0" dirty="0" err="1"/>
              <a:t>The system is mainly built using Java.</a:t>
            </a:r>
            <a:endParaRPr lang="en-US" noProof="0" dirty="0"/>
          </a:p>
        </p:txBody>
      </p:sp>
      <p:cxnSp>
        <p:nvCxnSpPr>
          <p:cNvPr id="8" name="Straight Connector 31">
            <a:extLst>
              <a:ext uri="{FF2B5EF4-FFF2-40B4-BE49-F238E27FC236}">
                <a16:creationId xmlns:a16="http://schemas.microsoft.com/office/drawing/2014/main" id="{DD55A41C-2B82-26B6-9D2A-766F671176C0}"/>
              </a:ext>
            </a:extLst>
          </p:cNvPr>
          <p:cNvCxnSpPr>
            <a:cxnSpLocks/>
          </p:cNvCxnSpPr>
          <p:nvPr/>
        </p:nvCxnSpPr>
        <p:spPr>
          <a:xfrm>
            <a:off x="4176367"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graphicFrame>
        <p:nvGraphicFramePr>
          <p:cNvPr id="9" name="Chart 8">
            <a:extLst>
              <a:ext uri="{FF2B5EF4-FFF2-40B4-BE49-F238E27FC236}">
                <a16:creationId xmlns:a16="http://schemas.microsoft.com/office/drawing/2014/main" id="{E5DDF9E1-26B6-EE58-18CE-4DBED266C4BE}"/>
              </a:ext>
            </a:extLst>
          </p:cNvPr>
          <p:cNvGraphicFramePr/>
          <p:nvPr/>
        </p:nvGraphicFramePr>
        <p:xfrm>
          <a:off x="4258899" y="1366989"/>
          <a:ext cx="7486768" cy="1940753"/>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Table 10">
            <a:extLst>
              <a:ext uri="{FF2B5EF4-FFF2-40B4-BE49-F238E27FC236}">
                <a16:creationId xmlns:a16="http://schemas.microsoft.com/office/drawing/2014/main" id="{C4B4064B-3666-8F9B-FEDF-E1E1A99275BE}"/>
              </a:ext>
            </a:extLst>
          </p:cNvPr>
          <p:cNvGraphicFramePr>
            <a:graphicFrameLocks noGrp="1"/>
          </p:cNvGraphicFramePr>
          <p:nvPr/>
        </p:nvGraphicFramePr>
        <p:xfrm>
          <a:off x="4258898" y="3328130"/>
          <a:ext cx="7486769" cy="2337454"/>
        </p:xfrm>
        <a:graphic>
          <a:graphicData uri="http://schemas.openxmlformats.org/drawingml/2006/table">
            <a:tbl>
              <a:tblPr firstRow="1" bandRow="1">
                <a:effectLst/>
                <a:tableStyleId>{F2DE63D5-997A-4646-A377-4702673A728D}</a:tableStyleId>
              </a:tblPr>
              <a:tblGrid>
                <a:gridCol w="3740710">
                  <a:extLst>
                    <a:ext uri="{9D8B030D-6E8A-4147-A177-3AD203B41FA5}">
                      <a16:colId xmlns:a16="http://schemas.microsoft.com/office/drawing/2014/main" val="20000"/>
                    </a:ext>
                  </a:extLst>
                </a:gridCol>
                <a:gridCol w="1481618">
                  <a:extLst>
                    <a:ext uri="{9D8B030D-6E8A-4147-A177-3AD203B41FA5}">
                      <a16:colId xmlns:a16="http://schemas.microsoft.com/office/drawing/2014/main" val="20002"/>
                    </a:ext>
                  </a:extLst>
                </a:gridCol>
                <a:gridCol w="2264441">
                  <a:extLst>
                    <a:ext uri="{9D8B030D-6E8A-4147-A177-3AD203B41FA5}">
                      <a16:colId xmlns:a16="http://schemas.microsoft.com/office/drawing/2014/main" val="3286041723"/>
                    </a:ext>
                  </a:extLst>
                </a:gridCol>
              </a:tblGrid>
              <a:tr h="36777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400" b="1" noProof="0" dirty="0">
                          <a:solidFill>
                            <a:schemeClr val="bg1"/>
                          </a:solidFill>
                          <a:latin typeface="+mn-lt"/>
                        </a:rPr>
                        <a:t>Technology</a:t>
                      </a:r>
                      <a:endParaRPr lang="en-US" sz="1400" b="1" i="0" noProof="0" dirty="0">
                        <a:solidFill>
                          <a:schemeClr val="bg1"/>
                        </a:solidFill>
                        <a:latin typeface="+mn-lt"/>
                        <a:cs typeface="TheSans B4 SemiLight"/>
                      </a:endParaRPr>
                    </a:p>
                  </a:txBody>
                  <a:tcPr marL="216000" marR="108000" marT="72000" marB="72000">
                    <a:lnL w="9525" cap="flat" cmpd="sng" algn="ctr">
                      <a:noFill/>
                      <a:prstDash val="solid"/>
                    </a:lnL>
                    <a:lnR>
                      <a:noFill/>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noProof="0" dirty="0">
                          <a:solidFill>
                            <a:schemeClr val="bg1"/>
                          </a:solidFill>
                          <a:latin typeface="+mn-lt"/>
                        </a:rPr>
                        <a:t>Lines of Code</a:t>
                      </a:r>
                      <a:endParaRPr lang="en-US" sz="1400" b="1" i="0" noProof="0" dirty="0">
                        <a:solidFill>
                          <a:schemeClr val="bg1"/>
                        </a:solidFill>
                        <a:latin typeface="+mn-lt"/>
                        <a:cs typeface="TheSans B4 SemiLight"/>
                      </a:endParaRP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tc>
                  <a:txBody>
                    <a:bodyPr/>
                    <a:lstStyle/>
                    <a:p>
                      <a:pPr algn="r"/>
                      <a:r>
                        <a:rPr lang="en-US" sz="1400" b="1" i="0" noProof="0" dirty="0">
                          <a:solidFill>
                            <a:schemeClr val="bg1"/>
                          </a:solidFill>
                          <a:latin typeface="+mn-lt"/>
                          <a:cs typeface="TheSans B4 SemiLight"/>
                        </a:rPr>
                        <a:t>Rebuild size (PM)</a:t>
                      </a:r>
                    </a:p>
                  </a:txBody>
                  <a:tcPr marL="108000" marR="108000" marT="72000" marB="72000">
                    <a:lnL>
                      <a:noFill/>
                    </a:lnL>
                    <a:lnR w="9525" cap="flat" cmpd="sng" algn="ctr">
                      <a:noFill/>
                      <a:prstDash val="solid"/>
                    </a:lnR>
                    <a:lnT w="9525" cap="flat" cmpd="sng" algn="ctr">
                      <a:noFill/>
                      <a:prstDash val="solid"/>
                    </a:lnT>
                    <a:lnB w="19050" cap="flat" cmpd="sng" algn="ctr">
                      <a:noFill/>
                      <a:prstDash val="sysDot"/>
                      <a:round/>
                      <a:headEnd type="none" w="med" len="med"/>
                      <a:tailEnd type="none" w="med" len="med"/>
                    </a:lnB>
                    <a:lnTlToBr w="12700" cmpd="sng">
                      <a:noFill/>
                      <a:prstDash val="solid"/>
                    </a:lnTlToBr>
                    <a:lnBlToTr w="12700" cmpd="sng">
                      <a:noFill/>
                      <a:prstDash val="solid"/>
                    </a:lnBlToTr>
                    <a:solidFill>
                      <a:schemeClr val="tx1"/>
                    </a:solidFill>
                  </a:tcPr>
                </a:tc>
                <a:extLst>
                  <a:ext uri="{0D108BD9-81ED-4DB2-BD59-A6C34878D82A}">
                    <a16:rowId xmlns:a16="http://schemas.microsoft.com/office/drawing/2014/main" val="10000"/>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Java</a:t>
                      </a:r>
                    </a:p>
                  </a:txBody>
                  <a:tcPr marL="216000" marR="108000" marT="72000" marB="72000" anchor="b">
                    <a:lnL w="9525" cap="flat" cmpd="sng" algn="ctr">
                      <a:noFill/>
                      <a:prstDash val="solid"/>
                    </a:lnL>
                    <a:lnR>
                      <a:noFill/>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dirty="0">
                          <a:solidFill>
                            <a:schemeClr val="tx1"/>
                          </a:solidFill>
                          <a:effectLst/>
                          <a:latin typeface="Calibri Regular"/>
                        </a:rPr>
                        <a:t>385712</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b"/>
                      <a:r>
                        <a:rPr lang="en-US" sz="1400" b="0" i="0" u="none" strike="noStrike" noProof="0" dirty="0">
                          <a:solidFill>
                            <a:schemeClr val="tx1">
                              <a:lumMod val="60000"/>
                              <a:lumOff val="40000"/>
                            </a:schemeClr>
                          </a:solidFill>
                          <a:effectLst/>
                          <a:latin typeface="Calibri Regular"/>
                        </a:rPr>
                        <a:t>42.9</a:t>
                      </a:r>
                    </a:p>
                  </a:txBody>
                  <a:tcPr marL="108000" marR="108000" marT="72000" marB="72000">
                    <a:lnL>
                      <a:noFill/>
                    </a:lnL>
                    <a:lnR w="9525" cap="flat" cmpd="sng" algn="ctr">
                      <a:noFill/>
                      <a:prstDash val="solid"/>
                    </a:lnR>
                    <a:lnT w="19050" cap="flat" cmpd="sng" algn="ctr">
                      <a:no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400" b="1" i="0" u="none" strike="noStrike" noProof="0" dirty="0">
                          <a:solidFill>
                            <a:schemeClr val="tx1"/>
                          </a:solidFill>
                          <a:effectLst/>
                          <a:latin typeface="Calibri Bold"/>
                        </a:rPr>
                        <a:t>Python</a:t>
                      </a: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solidFill>
                          <a:effectLst/>
                          <a:latin typeface="Calibri Regular"/>
                        </a:rPr>
                        <a:t>747</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r>
                        <a:rPr lang="en-US" sz="1400" b="0" i="0" u="none" strike="noStrike" noProof="0" dirty="0">
                          <a:solidFill>
                            <a:schemeClr val="tx1">
                              <a:lumMod val="60000"/>
                              <a:lumOff val="40000"/>
                            </a:schemeClr>
                          </a:solidFill>
                          <a:effectLst/>
                          <a:latin typeface="Calibri Regular"/>
                        </a:rPr>
                        <a:t>0.1</a:t>
                      </a: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endParaRP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457200" rtl="0" eaLnBrk="1" fontAlgn="b" latinLnBrk="0" hangingPunct="1">
                        <a:lnSpc>
                          <a:spcPct val="100000"/>
                        </a:lnSpc>
                        <a:spcBef>
                          <a:spcPts val="0"/>
                        </a:spcBef>
                        <a:spcAft>
                          <a:spcPts val="0"/>
                        </a:spcAft>
                        <a:buClrTx/>
                        <a:buSzTx/>
                        <a:buFontTx/>
                        <a:buNone/>
                        <a:tabLst/>
                        <a:defRPr/>
                      </a:pPr>
                      <a:endParaRP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solidFill>
                        <a:schemeClr val="tx1">
                          <a:lumMod val="40000"/>
                          <a:lumOff val="60000"/>
                        </a:schemeClr>
                      </a:solid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36405">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endParaRPr/>
                    </a:p>
                  </a:txBody>
                  <a:tcPr marL="216000" marR="108000" marT="72000" marB="72000" anchor="b">
                    <a:lnL w="9525" cap="flat" cmpd="sng" algn="ctr">
                      <a:noFill/>
                      <a:prstDash val="solid"/>
                    </a:lnL>
                    <a:lnR>
                      <a:noFill/>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r" defTabSz="914400" rtl="0" eaLnBrk="1" fontAlgn="b" latinLnBrk="0" hangingPunct="1">
                        <a:lnSpc>
                          <a:spcPct val="100000"/>
                        </a:lnSpc>
                        <a:spcBef>
                          <a:spcPts val="0"/>
                        </a:spcBef>
                        <a:spcAft>
                          <a:spcPts val="0"/>
                        </a:spcAft>
                        <a:buClrTx/>
                        <a:buSzTx/>
                        <a:buFontTx/>
                        <a:buNone/>
                        <a:tabLst/>
                        <a:defRPr/>
                      </a:pPr>
                      <a:endParaRPr/>
                    </a:p>
                  </a:txBody>
                  <a:tcPr marL="108000" marR="108000" marT="72000" marB="72000">
                    <a:lnL>
                      <a:noFill/>
                    </a:lnL>
                    <a:lnR w="9525" cap="flat" cmpd="sng" algn="ctr">
                      <a:noFill/>
                      <a:prstDash val="solid"/>
                    </a:lnR>
                    <a:lnT w="12700" cap="flat" cmpd="sng" algn="ctr">
                      <a:solidFill>
                        <a:schemeClr val="tx1">
                          <a:lumMod val="40000"/>
                          <a:lumOff val="60000"/>
                        </a:schemeClr>
                      </a:solidFill>
                      <a:prstDash val="sysDot"/>
                      <a:round/>
                      <a:headEnd type="none" w="med" len="med"/>
                      <a:tailEnd type="none" w="med" len="med"/>
                    </a:lnT>
                    <a:lnB w="12700" cap="flat" cmpd="sng" algn="ctr">
                      <a:noFill/>
                      <a:prstDash val="sysDot"/>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28811833"/>
                  </a:ext>
                </a:extLst>
              </a:tr>
            </a:tbl>
          </a:graphicData>
        </a:graphic>
      </p:graphicFrame>
      <p:sp>
        <p:nvSpPr>
          <p:cNvPr id="11" name="Text Placeholder 29">
            <a:extLst>
              <a:ext uri="{FF2B5EF4-FFF2-40B4-BE49-F238E27FC236}">
                <a16:creationId xmlns:a16="http://schemas.microsoft.com/office/drawing/2014/main" id="{F6F2A0BE-E3E4-9A47-906A-32FD433FB0F7}"/>
              </a:ext>
            </a:extLst>
          </p:cNvPr>
          <p:cNvSpPr txBox="1">
            <a:spLocks/>
          </p:cNvSpPr>
          <p:nvPr/>
        </p:nvSpPr>
        <p:spPr>
          <a:xfrm>
            <a:off x="4478812" y="5781286"/>
            <a:ext cx="1797438"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l"/>
            <a:r>
              <a:rPr lang="en-US" noProof="0" dirty="0">
                <a:solidFill>
                  <a:schemeClr val="tx1"/>
                </a:solidFill>
              </a:rPr>
              <a:t>System rebuild size:</a:t>
            </a:r>
          </a:p>
        </p:txBody>
      </p:sp>
      <p:sp>
        <p:nvSpPr>
          <p:cNvPr id="12" name="Text Placeholder 29">
            <a:extLst>
              <a:ext uri="{FF2B5EF4-FFF2-40B4-BE49-F238E27FC236}">
                <a16:creationId xmlns:a16="http://schemas.microsoft.com/office/drawing/2014/main" id="{4E5F2948-2383-E59A-7528-F3A85A416090}"/>
              </a:ext>
            </a:extLst>
          </p:cNvPr>
          <p:cNvSpPr txBox="1">
            <a:spLocks/>
          </p:cNvSpPr>
          <p:nvPr/>
        </p:nvSpPr>
        <p:spPr>
          <a:xfrm>
            <a:off x="9695543" y="5781287"/>
            <a:ext cx="2050125"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dirty="0" err="1">
                <a:solidFill>
                  <a:schemeClr val="tx1"/>
                </a:solidFill>
              </a:rPr>
              <a:t>43.0 PY</a:t>
            </a:r>
          </a:p>
        </p:txBody>
      </p:sp>
      <p:sp>
        <p:nvSpPr>
          <p:cNvPr id="13" name="Text Placeholder 29">
            <a:extLst>
              <a:ext uri="{FF2B5EF4-FFF2-40B4-BE49-F238E27FC236}">
                <a16:creationId xmlns:a16="http://schemas.microsoft.com/office/drawing/2014/main" id="{EDF7FCC4-80F8-93F6-F4FE-6E60740CE42A}"/>
              </a:ext>
            </a:extLst>
          </p:cNvPr>
          <p:cNvSpPr txBox="1">
            <a:spLocks/>
          </p:cNvSpPr>
          <p:nvPr/>
        </p:nvSpPr>
        <p:spPr>
          <a:xfrm>
            <a:off x="6628412" y="5781286"/>
            <a:ext cx="2906219" cy="221497"/>
          </a:xfrm>
          <a:prstGeom prst="rect">
            <a:avLst/>
          </a:prstGeom>
          <a:noFill/>
        </p:spPr>
        <p:txBody>
          <a:bodyPr wrap="none" lIns="0" tIns="0" rIns="108000" bIns="0" anchor="ctr">
            <a:noAutofit/>
          </a:bodyPr>
          <a:lstStyle>
            <a:lvl1pPr marL="0" indent="0" algn="ctr" defTabSz="914400" rtl="0" eaLnBrk="1" latinLnBrk="0" hangingPunct="1">
              <a:lnSpc>
                <a:spcPct val="90000"/>
              </a:lnSpc>
              <a:spcBef>
                <a:spcPts val="1000"/>
              </a:spcBef>
              <a:buFont typeface="Arial"/>
              <a:buNone/>
              <a:defRPr sz="1600" b="1"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algn="r"/>
            <a:r>
              <a:rPr lang="en-US" noProof="0" dirty="0" err="1">
                <a:solidFill>
                  <a:schemeClr val="tx1"/>
                </a:solidFill>
              </a:rPr>
              <a:t>386,459 LOC</a:t>
            </a:r>
          </a:p>
        </p:txBody>
      </p:sp>
    </p:spTree>
    <p:extLst>
      <p:ext uri="{BB962C8B-B14F-4D97-AF65-F5344CB8AC3E}">
        <p14:creationId xmlns:p14="http://schemas.microsoft.com/office/powerpoint/2010/main" val="3325148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972F7C4-C3B1-B0C2-D389-99A8407F9CDC}"/>
              </a:ext>
            </a:extLst>
          </p:cNvPr>
          <p:cNvSpPr>
            <a:spLocks noGrp="1"/>
          </p:cNvSpPr>
          <p:nvPr>
            <p:ph type="body" sz="quarter" idx="12"/>
          </p:nvPr>
        </p:nvSpPr>
        <p:spPr>
          <a:xfrm>
            <a:off x="381600" y="129600"/>
            <a:ext cx="2169037" cy="228145"/>
          </a:xfrm>
        </p:spPr>
        <p:txBody>
          <a:bodyPr/>
          <a:lstStyle/>
          <a:p>
            <a:r>
              <a:rPr lang="en-US" noProof="0" dirty="0"/>
              <a:t>Key findings – Test code</a:t>
            </a:r>
          </a:p>
        </p:txBody>
      </p:sp>
      <p:sp>
        <p:nvSpPr>
          <p:cNvPr id="3" name="Content Placeholder 2">
            <a:extLst>
              <a:ext uri="{FF2B5EF4-FFF2-40B4-BE49-F238E27FC236}">
                <a16:creationId xmlns:a16="http://schemas.microsoft.com/office/drawing/2014/main" id="{009CAEBE-164D-836E-049D-4910A21076B4}"/>
              </a:ext>
            </a:extLst>
          </p:cNvPr>
          <p:cNvSpPr>
            <a:spLocks noGrp="1"/>
          </p:cNvSpPr>
          <p:nvPr>
            <p:ph sz="quarter" idx="13"/>
          </p:nvPr>
        </p:nvSpPr>
        <p:spPr>
          <a:xfrm>
            <a:off x="154800" y="1411200"/>
            <a:ext cx="5620353" cy="4842000"/>
          </a:xfrm>
        </p:spPr>
        <p:txBody>
          <a:bodyPr/>
          <a:lstStyle/>
          <a:p>
            <a:pPr marL="285750" indent="-285750">
              <a:lnSpc>
                <a:spcPct val="113000"/>
              </a:lnSpc>
              <a:buFont typeface="Arial" panose="020B0604020202020204" pitchFamily="34" charset="0"/>
              <a:buChar char="•"/>
            </a:pPr>
            <a:r>
              <a:rPr lang="en-US" noProof="0" dirty="0" err="1">
                <a:solidFill>
                  <a:schemeClr val="tx2"/>
                </a:solidFill>
              </a:rPr>
              <a:t>Integrationtest-kafka scores above market average, with 157% test/production code ratio. </a:t>
            </a:r>
          </a:p>
          <a:p>
            <a:pPr marL="285750" indent="-285750">
              <a:lnSpc>
                <a:spcPct val="113000"/>
              </a:lnSpc>
              <a:buFont typeface="Arial" panose="020B0604020202020204" pitchFamily="34" charset="0"/>
              <a:buChar char="•"/>
            </a:pPr>
            <a:r>
              <a:rPr lang="en-US" noProof="0" dirty="0" err="1">
                <a:solidFill>
                  <a:schemeClr val="tx2"/>
                </a:solidFill>
              </a:rPr>
              <a:t>that an extremely mature automated testing suite is in place, that will likely catch breaking changes at an early stage. This increases developer velocity and reduces bugs in production.</a:t>
            </a:r>
            <a:endParaRPr lang="en-US" noProof="0" dirty="0">
              <a:solidFill>
                <a:schemeClr val="tx2"/>
              </a:solidFill>
            </a:endParaRPr>
          </a:p>
        </p:txBody>
      </p:sp>
      <p:sp>
        <p:nvSpPr>
          <p:cNvPr id="4" name="Footer Placeholder 3">
            <a:extLst>
              <a:ext uri="{FF2B5EF4-FFF2-40B4-BE49-F238E27FC236}">
                <a16:creationId xmlns:a16="http://schemas.microsoft.com/office/drawing/2014/main" id="{D4151CEE-B969-2DB6-0530-EA6B0263716D}"/>
              </a:ext>
            </a:extLst>
          </p:cNvPr>
          <p:cNvSpPr>
            <a:spLocks noGrp="1"/>
          </p:cNvSpPr>
          <p:nvPr>
            <p:ph type="ftr" sz="quarter" idx="14"/>
          </p:nvPr>
        </p:nvSpPr>
        <p:spPr/>
        <p:txBody>
          <a:bodyPr/>
          <a:lstStyle/>
          <a:p>
            <a:r>
              <a:rPr lang="en-US" noProof="0" dirty="0"/>
              <a:t>Confidential</a:t>
            </a:r>
          </a:p>
        </p:txBody>
      </p:sp>
      <p:sp>
        <p:nvSpPr>
          <p:cNvPr id="5" name="Slide Number Placeholder 4">
            <a:extLst>
              <a:ext uri="{FF2B5EF4-FFF2-40B4-BE49-F238E27FC236}">
                <a16:creationId xmlns:a16="http://schemas.microsoft.com/office/drawing/2014/main" id="{E66DF9A9-2EED-6BE7-6C07-F39D9AF03C5F}"/>
              </a:ext>
            </a:extLst>
          </p:cNvPr>
          <p:cNvSpPr>
            <a:spLocks noGrp="1"/>
          </p:cNvSpPr>
          <p:nvPr>
            <p:ph type="sldNum" sz="quarter" idx="15"/>
          </p:nvPr>
        </p:nvSpPr>
        <p:spPr/>
        <p:txBody>
          <a:bodyPr/>
          <a:lstStyle/>
          <a:p>
            <a:fld id="{E242BD21-9B61-2246-BCB1-4BE5E1BEBE1C}" type="slidenum">
              <a:rPr lang="en-US" noProof="0" smtClean="0"/>
              <a:pPr/>
              <a:t>12</a:t>
            </a:fld>
            <a:endParaRPr lang="en-US" noProof="0" dirty="0"/>
          </a:p>
        </p:txBody>
      </p:sp>
      <p:sp>
        <p:nvSpPr>
          <p:cNvPr id="6" name="Title 5">
            <a:extLst>
              <a:ext uri="{FF2B5EF4-FFF2-40B4-BE49-F238E27FC236}">
                <a16:creationId xmlns:a16="http://schemas.microsoft.com/office/drawing/2014/main" id="{694AA2B4-9A41-D6AF-11A8-87EF447EE166}"/>
              </a:ext>
            </a:extLst>
          </p:cNvPr>
          <p:cNvSpPr>
            <a:spLocks noGrp="1"/>
          </p:cNvSpPr>
          <p:nvPr>
            <p:ph type="title"/>
          </p:nvPr>
        </p:nvSpPr>
        <p:spPr/>
        <p:txBody>
          <a:bodyPr/>
          <a:lstStyle/>
          <a:p>
            <a:r>
              <a:rPr lang="en-US" noProof="0" dirty="0" err="1"/>
              <a:t>Integrationtest-kafka has a above market average test/code ratio</a:t>
            </a:r>
          </a:p>
        </p:txBody>
      </p:sp>
      <p:cxnSp>
        <p:nvCxnSpPr>
          <p:cNvPr id="7" name="Straight Connector 31">
            <a:extLst>
              <a:ext uri="{FF2B5EF4-FFF2-40B4-BE49-F238E27FC236}">
                <a16:creationId xmlns:a16="http://schemas.microsoft.com/office/drawing/2014/main" id="{5736F781-52FC-C240-8546-50219238C95E}"/>
              </a:ext>
            </a:extLst>
          </p:cNvPr>
          <p:cNvCxnSpPr>
            <a:cxnSpLocks/>
          </p:cNvCxnSpPr>
          <p:nvPr/>
        </p:nvCxnSpPr>
        <p:spPr>
          <a:xfrm>
            <a:off x="6094800" y="1366988"/>
            <a:ext cx="0" cy="482325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895AD662-7602-636C-AACA-DB9C425C5BB8}"/>
              </a:ext>
            </a:extLst>
          </p:cNvPr>
          <p:cNvSpPr txBox="1"/>
          <p:nvPr/>
        </p:nvSpPr>
        <p:spPr>
          <a:xfrm>
            <a:off x="6618419" y="1366988"/>
            <a:ext cx="5201030" cy="353558"/>
          </a:xfrm>
          <a:prstGeom prst="rect">
            <a:avLst/>
          </a:prstGeom>
          <a:noFill/>
        </p:spPr>
        <p:txBody>
          <a:bodyPr wrap="square" lIns="90000" rtlCol="0" anchor="t">
            <a:spAutoFit/>
          </a:bodyPr>
          <a:lstStyle/>
          <a:p>
            <a:pPr algn="ctr">
              <a:lnSpc>
                <a:spcPct val="113000"/>
              </a:lnSpc>
            </a:pPr>
            <a:r>
              <a:rPr lang="en-US" sz="1600" noProof="0" dirty="0" err="1">
                <a:latin typeface="Noir Pro Semi Bold" pitchFamily="2" charset="0"/>
              </a:rPr>
              <a:t>157% overall Test/code ratio</a:t>
            </a:r>
          </a:p>
        </p:txBody>
      </p:sp>
      <p:pic>
        <p:nvPicPr>
          <p:cNvPr id="9" name="Picture 8">
            <a:extLst>
              <a:ext uri="{FF2B5EF4-FFF2-40B4-BE49-F238E27FC236}">
                <a16:creationId xmlns:a16="http://schemas.microsoft.com/office/drawing/2014/main" id="{1C33388D-52FF-10DF-3C03-01B6DD6936EB}"/>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839649" y="5882683"/>
            <a:ext cx="4758570" cy="307564"/>
          </a:xfrm>
          <a:prstGeom prst="rect">
            <a:avLst/>
          </a:prstGeom>
        </p:spPr>
      </p:pic>
      <p:graphicFrame>
        <p:nvGraphicFramePr>
          <p:cNvPr id="10" name="Content Placeholder 17">
            <a:extLst>
              <a:ext uri="{FF2B5EF4-FFF2-40B4-BE49-F238E27FC236}">
                <a16:creationId xmlns:a16="http://schemas.microsoft.com/office/drawing/2014/main" id="{09595FD5-5B13-CF14-5B29-9E2438F6DBA0}"/>
              </a:ext>
            </a:extLst>
          </p:cNvPr>
          <p:cNvGraphicFramePr>
            <a:graphicFrameLocks/>
          </p:cNvGraphicFramePr>
          <p:nvPr/>
        </p:nvGraphicFramePr>
        <p:xfrm>
          <a:off x="7109907" y="1819134"/>
          <a:ext cx="4218054" cy="4026131"/>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355961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199029-494E-D668-93B1-7F49FC34F0BB}"/>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378968FB-3711-3026-1330-401242361C5B}"/>
              </a:ext>
            </a:extLst>
          </p:cNvPr>
          <p:cNvSpPr/>
          <p:nvPr/>
        </p:nvSpPr>
        <p:spPr>
          <a:xfrm>
            <a:off x="3385191" y="1063763"/>
            <a:ext cx="5340638" cy="5340638"/>
          </a:xfrm>
          <a:prstGeom prst="ellipse">
            <a:avLst/>
          </a:prstGeom>
          <a:gradFill>
            <a:gsLst>
              <a:gs pos="0">
                <a:schemeClr val="accent2">
                  <a:alpha val="15073"/>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5" name="Oval 64">
            <a:extLst>
              <a:ext uri="{FF2B5EF4-FFF2-40B4-BE49-F238E27FC236}">
                <a16:creationId xmlns:a16="http://schemas.microsoft.com/office/drawing/2014/main" id="{D589D5F7-9445-B968-24E7-C852C6FE25B8}"/>
              </a:ext>
            </a:extLst>
          </p:cNvPr>
          <p:cNvSpPr/>
          <p:nvPr/>
        </p:nvSpPr>
        <p:spPr>
          <a:xfrm>
            <a:off x="4004388" y="1634792"/>
            <a:ext cx="4180824" cy="4180824"/>
          </a:xfrm>
          <a:prstGeom prst="ellipse">
            <a:avLst/>
          </a:prstGeom>
          <a:gradFill>
            <a:gsLst>
              <a:gs pos="0">
                <a:schemeClr val="accent2">
                  <a:alpha val="20000"/>
                </a:schemeClr>
              </a:gs>
              <a:gs pos="43000">
                <a:schemeClr val="accent2">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63" name="Text Placeholder 62">
            <a:extLst>
              <a:ext uri="{FF2B5EF4-FFF2-40B4-BE49-F238E27FC236}">
                <a16:creationId xmlns:a16="http://schemas.microsoft.com/office/drawing/2014/main" id="{8492BCF5-82F4-DA5D-4789-A5B31042FCD0}"/>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71F068-8C71-3D21-62FF-DAD35585195B}"/>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F0CE3D29-F258-C742-2A14-BCF03986DEC9}"/>
              </a:ext>
            </a:extLst>
          </p:cNvPr>
          <p:cNvSpPr>
            <a:spLocks noGrp="1"/>
          </p:cNvSpPr>
          <p:nvPr>
            <p:ph type="sldNum" sz="quarter" idx="15"/>
          </p:nvPr>
        </p:nvSpPr>
        <p:spPr/>
        <p:txBody>
          <a:bodyPr/>
          <a:lstStyle/>
          <a:p>
            <a:fld id="{E242BD21-9B61-2246-BCB1-4BE5E1BEBE1C}" type="slidenum">
              <a:rPr lang="en-US" noProof="0" smtClean="0"/>
              <a:pPr/>
              <a:t>13</a:t>
            </a:fld>
            <a:endParaRPr lang="en-US" noProof="0" dirty="0"/>
          </a:p>
        </p:txBody>
      </p:sp>
      <p:sp>
        <p:nvSpPr>
          <p:cNvPr id="70" name="Title 69">
            <a:extLst>
              <a:ext uri="{FF2B5EF4-FFF2-40B4-BE49-F238E27FC236}">
                <a16:creationId xmlns:a16="http://schemas.microsoft.com/office/drawing/2014/main" id="{FEE2E2EB-95CB-3211-6E1B-4E3530EAF847}"/>
              </a:ext>
            </a:extLst>
          </p:cNvPr>
          <p:cNvSpPr>
            <a:spLocks noGrp="1"/>
          </p:cNvSpPr>
          <p:nvPr>
            <p:ph type="title"/>
          </p:nvPr>
        </p:nvSpPr>
        <p:spPr/>
        <p:txBody>
          <a:bodyPr/>
          <a:lstStyle/>
          <a:p>
            <a:r>
              <a:rPr lang="en-US" noProof="0" dirty="0"/>
              <a:t>Explanation: The Architecture Quality model has 5 sub-characteristics</a:t>
            </a:r>
          </a:p>
        </p:txBody>
      </p:sp>
      <p:sp>
        <p:nvSpPr>
          <p:cNvPr id="8" name="Oval 7">
            <a:extLst>
              <a:ext uri="{FF2B5EF4-FFF2-40B4-BE49-F238E27FC236}">
                <a16:creationId xmlns:a16="http://schemas.microsoft.com/office/drawing/2014/main" id="{2BBBE6C2-E269-6739-DCEE-23464110F405}"/>
              </a:ext>
            </a:extLst>
          </p:cNvPr>
          <p:cNvSpPr/>
          <p:nvPr/>
        </p:nvSpPr>
        <p:spPr>
          <a:xfrm>
            <a:off x="4673297" y="2304400"/>
            <a:ext cx="2849490" cy="2849490"/>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9" name="Oval 8">
            <a:extLst>
              <a:ext uri="{FF2B5EF4-FFF2-40B4-BE49-F238E27FC236}">
                <a16:creationId xmlns:a16="http://schemas.microsoft.com/office/drawing/2014/main" id="{6FA26AD2-CD18-09AA-6259-47A153EFE58B}"/>
              </a:ext>
            </a:extLst>
          </p:cNvPr>
          <p:cNvSpPr/>
          <p:nvPr/>
        </p:nvSpPr>
        <p:spPr>
          <a:xfrm>
            <a:off x="5029556" y="2660659"/>
            <a:ext cx="2136972" cy="2136972"/>
          </a:xfrm>
          <a:prstGeom prst="ellipse">
            <a:avLst/>
          </a:prstGeom>
          <a:solidFill>
            <a:schemeClr val="accent2">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0" name="Oval 9">
            <a:extLst>
              <a:ext uri="{FF2B5EF4-FFF2-40B4-BE49-F238E27FC236}">
                <a16:creationId xmlns:a16="http://schemas.microsoft.com/office/drawing/2014/main" id="{DFAF19FF-BA37-4380-8088-C15619A977BB}"/>
              </a:ext>
            </a:extLst>
          </p:cNvPr>
          <p:cNvSpPr/>
          <p:nvPr/>
        </p:nvSpPr>
        <p:spPr>
          <a:xfrm>
            <a:off x="5326438" y="2957541"/>
            <a:ext cx="1543208" cy="1543208"/>
          </a:xfrm>
          <a:prstGeom prst="ellipse">
            <a:avLst/>
          </a:prstGeom>
          <a:gradFill>
            <a:gsLst>
              <a:gs pos="9000">
                <a:schemeClr val="accent2"/>
              </a:gs>
              <a:gs pos="50000">
                <a:schemeClr val="accent2">
                  <a:alpha val="15753"/>
                </a:schemeClr>
              </a:gs>
            </a:gsLst>
            <a:lin ang="2700000" scaled="0"/>
          </a:gradFill>
          <a:ln w="12700">
            <a:solidFill>
              <a:schemeClr val="accent2">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
        <p:nvSpPr>
          <p:cNvPr id="18" name="Oval 17">
            <a:extLst>
              <a:ext uri="{FF2B5EF4-FFF2-40B4-BE49-F238E27FC236}">
                <a16:creationId xmlns:a16="http://schemas.microsoft.com/office/drawing/2014/main" id="{D307C4FC-5D3C-8B82-ABE5-E660625B78E4}"/>
              </a:ext>
            </a:extLst>
          </p:cNvPr>
          <p:cNvSpPr/>
          <p:nvPr/>
        </p:nvSpPr>
        <p:spPr>
          <a:xfrm>
            <a:off x="5568436" y="2929751"/>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0" name="Oval 19">
            <a:extLst>
              <a:ext uri="{FF2B5EF4-FFF2-40B4-BE49-F238E27FC236}">
                <a16:creationId xmlns:a16="http://schemas.microsoft.com/office/drawing/2014/main" id="{73E6D6D2-88F4-7BC7-6A46-956C025FCA17}"/>
              </a:ext>
            </a:extLst>
          </p:cNvPr>
          <p:cNvSpPr/>
          <p:nvPr/>
        </p:nvSpPr>
        <p:spPr>
          <a:xfrm>
            <a:off x="6273956" y="2796588"/>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3" name="Oval 22">
            <a:extLst>
              <a:ext uri="{FF2B5EF4-FFF2-40B4-BE49-F238E27FC236}">
                <a16:creationId xmlns:a16="http://schemas.microsoft.com/office/drawing/2014/main" id="{CB747E2F-C70D-5244-BE82-8BC4127DBA7A}"/>
              </a:ext>
            </a:extLst>
          </p:cNvPr>
          <p:cNvSpPr/>
          <p:nvPr/>
        </p:nvSpPr>
        <p:spPr>
          <a:xfrm>
            <a:off x="5366019" y="4285002"/>
            <a:ext cx="53706" cy="5370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4" name="Oval 23">
            <a:extLst>
              <a:ext uri="{FF2B5EF4-FFF2-40B4-BE49-F238E27FC236}">
                <a16:creationId xmlns:a16="http://schemas.microsoft.com/office/drawing/2014/main" id="{2E0BE4FB-999C-BF27-B8A7-24066A3BA8E6}"/>
              </a:ext>
            </a:extLst>
          </p:cNvPr>
          <p:cNvSpPr/>
          <p:nvPr/>
        </p:nvSpPr>
        <p:spPr>
          <a:xfrm>
            <a:off x="6782160" y="4192256"/>
            <a:ext cx="125744" cy="12574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6" name="Oval 25">
            <a:extLst>
              <a:ext uri="{FF2B5EF4-FFF2-40B4-BE49-F238E27FC236}">
                <a16:creationId xmlns:a16="http://schemas.microsoft.com/office/drawing/2014/main" id="{28056860-5CC6-F621-9AF7-D77ECA38E4A9}"/>
              </a:ext>
            </a:extLst>
          </p:cNvPr>
          <p:cNvSpPr/>
          <p:nvPr/>
        </p:nvSpPr>
        <p:spPr>
          <a:xfrm>
            <a:off x="5869449" y="4879641"/>
            <a:ext cx="64650" cy="6465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7" name="Oval 26">
            <a:extLst>
              <a:ext uri="{FF2B5EF4-FFF2-40B4-BE49-F238E27FC236}">
                <a16:creationId xmlns:a16="http://schemas.microsoft.com/office/drawing/2014/main" id="{B1D96119-A37F-9FA6-9D63-881C9E5767A1}"/>
              </a:ext>
            </a:extLst>
          </p:cNvPr>
          <p:cNvSpPr/>
          <p:nvPr/>
        </p:nvSpPr>
        <p:spPr>
          <a:xfrm>
            <a:off x="6914740" y="4575176"/>
            <a:ext cx="114710" cy="11471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30" name="Arc 29">
            <a:extLst>
              <a:ext uri="{FF2B5EF4-FFF2-40B4-BE49-F238E27FC236}">
                <a16:creationId xmlns:a16="http://schemas.microsoft.com/office/drawing/2014/main" id="{14CEDFBA-98DB-3774-1CF7-DBB1D4C2DAFF}"/>
              </a:ext>
            </a:extLst>
          </p:cNvPr>
          <p:cNvSpPr/>
          <p:nvPr/>
        </p:nvSpPr>
        <p:spPr>
          <a:xfrm>
            <a:off x="4854843" y="2491915"/>
            <a:ext cx="2499248" cy="2476634"/>
          </a:xfrm>
          <a:prstGeom prst="arc">
            <a:avLst>
              <a:gd name="adj1" fmla="val 17025432"/>
              <a:gd name="adj2" fmla="val 2774786"/>
            </a:avLst>
          </a:prstGeom>
          <a:ln w="9525">
            <a:gradFill>
              <a:gsLst>
                <a:gs pos="0">
                  <a:schemeClr val="accent4">
                    <a:alpha val="50179"/>
                  </a:schemeClr>
                </a:gs>
                <a:gs pos="99000">
                  <a:schemeClr val="accent4">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cxnSp>
        <p:nvCxnSpPr>
          <p:cNvPr id="32" name="Straight Connector 31">
            <a:extLst>
              <a:ext uri="{FF2B5EF4-FFF2-40B4-BE49-F238E27FC236}">
                <a16:creationId xmlns:a16="http://schemas.microsoft.com/office/drawing/2014/main" id="{D50F3A37-B10B-6BF3-08EA-55E6FC5DEEC4}"/>
              </a:ext>
            </a:extLst>
          </p:cNvPr>
          <p:cNvCxnSpPr>
            <a:cxnSpLocks/>
          </p:cNvCxnSpPr>
          <p:nvPr/>
        </p:nvCxnSpPr>
        <p:spPr>
          <a:xfrm flipH="1">
            <a:off x="6308248" y="2534585"/>
            <a:ext cx="87026" cy="323621"/>
          </a:xfrm>
          <a:prstGeom prst="line">
            <a:avLst/>
          </a:prstGeom>
          <a:ln w="9525">
            <a:solidFill>
              <a:schemeClr val="accent4">
                <a:alpha val="50000"/>
              </a:schemeClr>
            </a:solidFill>
            <a:prstDash val="solid"/>
          </a:ln>
        </p:spPr>
        <p:style>
          <a:lnRef idx="1">
            <a:schemeClr val="accent1"/>
          </a:lnRef>
          <a:fillRef idx="0">
            <a:schemeClr val="accent1"/>
          </a:fillRef>
          <a:effectRef idx="0">
            <a:schemeClr val="accent1"/>
          </a:effectRef>
          <a:fontRef idx="minor">
            <a:schemeClr val="tx1"/>
          </a:fontRef>
        </p:style>
      </p:cxnSp>
      <p:sp>
        <p:nvSpPr>
          <p:cNvPr id="22" name="Oval 21">
            <a:extLst>
              <a:ext uri="{FF2B5EF4-FFF2-40B4-BE49-F238E27FC236}">
                <a16:creationId xmlns:a16="http://schemas.microsoft.com/office/drawing/2014/main" id="{8E941E86-D981-FF71-D949-E2216C1311D3}"/>
              </a:ext>
            </a:extLst>
          </p:cNvPr>
          <p:cNvSpPr/>
          <p:nvPr/>
        </p:nvSpPr>
        <p:spPr>
          <a:xfrm>
            <a:off x="6357959" y="2486875"/>
            <a:ext cx="80980" cy="8098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8" name="Oval 27">
            <a:extLst>
              <a:ext uri="{FF2B5EF4-FFF2-40B4-BE49-F238E27FC236}">
                <a16:creationId xmlns:a16="http://schemas.microsoft.com/office/drawing/2014/main" id="{A0731FB3-842F-CE4C-6A7D-C66BFBA979CB}"/>
              </a:ext>
            </a:extLst>
          </p:cNvPr>
          <p:cNvSpPr/>
          <p:nvPr/>
        </p:nvSpPr>
        <p:spPr>
          <a:xfrm>
            <a:off x="7254794" y="3280294"/>
            <a:ext cx="45720" cy="45720"/>
          </a:xfrm>
          <a:prstGeom prst="ellipse">
            <a:avLst/>
          </a:prstGeom>
          <a:solidFill>
            <a:srgbClr val="E98C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1" name="Oval 20">
            <a:extLst>
              <a:ext uri="{FF2B5EF4-FFF2-40B4-BE49-F238E27FC236}">
                <a16:creationId xmlns:a16="http://schemas.microsoft.com/office/drawing/2014/main" id="{5E15D319-A4BF-BADF-EA8F-108D5DB2E930}"/>
              </a:ext>
            </a:extLst>
          </p:cNvPr>
          <p:cNvSpPr/>
          <p:nvPr/>
        </p:nvSpPr>
        <p:spPr>
          <a:xfrm>
            <a:off x="4827909" y="3511470"/>
            <a:ext cx="80980" cy="8098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48" name="Straight Connector 47">
            <a:extLst>
              <a:ext uri="{FF2B5EF4-FFF2-40B4-BE49-F238E27FC236}">
                <a16:creationId xmlns:a16="http://schemas.microsoft.com/office/drawing/2014/main" id="{63B8DC8C-B95F-EDCF-F8D6-2F12C41BCD78}"/>
              </a:ext>
            </a:extLst>
          </p:cNvPr>
          <p:cNvCxnSpPr>
            <a:cxnSpLocks/>
          </p:cNvCxnSpPr>
          <p:nvPr/>
        </p:nvCxnSpPr>
        <p:spPr>
          <a:xfrm>
            <a:off x="6096000" y="4363444"/>
            <a:ext cx="0" cy="263379"/>
          </a:xfrm>
          <a:prstGeom prst="line">
            <a:avLst/>
          </a:prstGeom>
          <a:ln w="9525">
            <a:solidFill>
              <a:schemeClr val="accent2">
                <a:alpha val="80425"/>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4FB75F26-044E-8FDB-8FC7-48A801F00A33}"/>
              </a:ext>
            </a:extLst>
          </p:cNvPr>
          <p:cNvSpPr/>
          <p:nvPr/>
        </p:nvSpPr>
        <p:spPr>
          <a:xfrm>
            <a:off x="6060913" y="4603426"/>
            <a:ext cx="70174" cy="7017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51" name="Oval 50">
            <a:extLst>
              <a:ext uri="{FF2B5EF4-FFF2-40B4-BE49-F238E27FC236}">
                <a16:creationId xmlns:a16="http://schemas.microsoft.com/office/drawing/2014/main" id="{9BC0DD81-BAF5-A5D9-3061-E49E7A4ED10C}"/>
              </a:ext>
            </a:extLst>
          </p:cNvPr>
          <p:cNvSpPr/>
          <p:nvPr/>
        </p:nvSpPr>
        <p:spPr>
          <a:xfrm>
            <a:off x="6040908" y="4313883"/>
            <a:ext cx="112242" cy="1122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Content Placeholder 70">
            <a:extLst>
              <a:ext uri="{FF2B5EF4-FFF2-40B4-BE49-F238E27FC236}">
                <a16:creationId xmlns:a16="http://schemas.microsoft.com/office/drawing/2014/main" id="{E6055D41-C03E-E248-ACEE-166CE141D420}"/>
              </a:ext>
            </a:extLst>
          </p:cNvPr>
          <p:cNvSpPr txBox="1">
            <a:spLocks/>
          </p:cNvSpPr>
          <p:nvPr/>
        </p:nvSpPr>
        <p:spPr>
          <a:xfrm>
            <a:off x="8399369" y="1411200"/>
            <a:ext cx="3399054" cy="4842000"/>
          </a:xfrm>
          <a:prstGeom prst="rect">
            <a:avLst/>
          </a:prstGeom>
        </p:spPr>
        <p:txBody>
          <a:bodyPr vert="horz" lIns="216000" tIns="0" rIns="91440" bIns="27432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1400" noProof="0" dirty="0">
                <a:solidFill>
                  <a:schemeClr val="accent3"/>
                </a:solidFill>
                <a:latin typeface="Azeret Mono" pitchFamily="2" charset="77"/>
                <a:cs typeface="Azeret Mono" pitchFamily="2" charset="77"/>
              </a:rPr>
              <a:t>The SIG Architecture Quality model</a:t>
            </a:r>
            <a:r>
              <a:rPr lang="en-US" sz="1400" noProof="0" dirty="0">
                <a:latin typeface="Azeret Mono" pitchFamily="2" charset="77"/>
                <a:cs typeface="Azeret Mono" pitchFamily="2" charset="77"/>
              </a:rPr>
              <a:t> provides insight into the ability for an application to evolve as business needs change. </a:t>
            </a:r>
          </a:p>
          <a:p>
            <a:r>
              <a:rPr lang="en-US" sz="1400" noProof="0" dirty="0">
                <a:latin typeface="Azeret Mono" pitchFamily="2" charset="77"/>
                <a:cs typeface="Azeret Mono" pitchFamily="2" charset="77"/>
              </a:rPr>
              <a:t>Each of the 5 sub-characteristics represent properties of software architecture that affect the velocity in which foundational changes can be made to a software system.</a:t>
            </a:r>
            <a:endParaRPr lang="en-US" sz="1400" noProof="0" dirty="0">
              <a:solidFill>
                <a:schemeClr val="accent3"/>
              </a:solidFill>
              <a:latin typeface="Azeret Mono" pitchFamily="2" charset="77"/>
              <a:cs typeface="Azeret Mono" pitchFamily="2" charset="77"/>
            </a:endParaRPr>
          </a:p>
        </p:txBody>
      </p:sp>
      <p:sp>
        <p:nvSpPr>
          <p:cNvPr id="78" name="Arc 77">
            <a:extLst>
              <a:ext uri="{FF2B5EF4-FFF2-40B4-BE49-F238E27FC236}">
                <a16:creationId xmlns:a16="http://schemas.microsoft.com/office/drawing/2014/main" id="{7CA71824-DE20-DA21-5CC7-3D536499FC0C}"/>
              </a:ext>
            </a:extLst>
          </p:cNvPr>
          <p:cNvSpPr/>
          <p:nvPr/>
        </p:nvSpPr>
        <p:spPr>
          <a:xfrm>
            <a:off x="4403883" y="2031167"/>
            <a:ext cx="3381834" cy="3405830"/>
          </a:xfrm>
          <a:prstGeom prst="arc">
            <a:avLst>
              <a:gd name="adj1" fmla="val 20386561"/>
              <a:gd name="adj2" fmla="val 13132678"/>
            </a:avLst>
          </a:prstGeom>
          <a:ln w="12700">
            <a:gradFill>
              <a:gsLst>
                <a:gs pos="98000">
                  <a:schemeClr val="bg1">
                    <a:alpha val="0"/>
                  </a:schemeClr>
                </a:gs>
                <a:gs pos="68000">
                  <a:schemeClr val="bg1">
                    <a:alpha val="29485"/>
                  </a:schemeClr>
                </a:gs>
                <a:gs pos="8000">
                  <a:schemeClr val="accent4"/>
                </a:gs>
                <a:gs pos="18000">
                  <a:schemeClr val="accent4">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pic>
        <p:nvPicPr>
          <p:cNvPr id="79" name="Graphic 78">
            <a:extLst>
              <a:ext uri="{FF2B5EF4-FFF2-40B4-BE49-F238E27FC236}">
                <a16:creationId xmlns:a16="http://schemas.microsoft.com/office/drawing/2014/main" id="{DB38BDF3-5B3D-61AB-2CFF-AC99F2B0DD5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78177" y="5298575"/>
            <a:ext cx="433246" cy="288828"/>
          </a:xfrm>
          <a:prstGeom prst="rect">
            <a:avLst/>
          </a:prstGeom>
          <a:effectLst/>
        </p:spPr>
      </p:pic>
      <p:sp>
        <p:nvSpPr>
          <p:cNvPr id="99" name="Arc 98">
            <a:extLst>
              <a:ext uri="{FF2B5EF4-FFF2-40B4-BE49-F238E27FC236}">
                <a16:creationId xmlns:a16="http://schemas.microsoft.com/office/drawing/2014/main" id="{BC3F6D0B-39A8-7839-4108-79110D4A7C29}"/>
              </a:ext>
            </a:extLst>
          </p:cNvPr>
          <p:cNvSpPr/>
          <p:nvPr/>
        </p:nvSpPr>
        <p:spPr>
          <a:xfrm>
            <a:off x="5176684" y="2825556"/>
            <a:ext cx="1850921" cy="1820186"/>
          </a:xfrm>
          <a:prstGeom prst="arc">
            <a:avLst>
              <a:gd name="adj1" fmla="val 5508426"/>
              <a:gd name="adj2" fmla="val 14121050"/>
            </a:avLst>
          </a:prstGeom>
          <a:ln w="9525">
            <a:gradFill>
              <a:gsLst>
                <a:gs pos="0">
                  <a:schemeClr val="accent2">
                    <a:alpha val="90000"/>
                  </a:schemeClr>
                </a:gs>
                <a:gs pos="99000">
                  <a:schemeClr val="accent2">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7" name="Tekstvak 6">
            <a:extLst>
              <a:ext uri="{FF2B5EF4-FFF2-40B4-BE49-F238E27FC236}">
                <a16:creationId xmlns:a16="http://schemas.microsoft.com/office/drawing/2014/main" id="{DDA7093A-1B01-B016-708F-AB00927B2C3C}"/>
              </a:ext>
            </a:extLst>
          </p:cNvPr>
          <p:cNvSpPr txBox="1"/>
          <p:nvPr/>
        </p:nvSpPr>
        <p:spPr>
          <a:xfrm>
            <a:off x="1362254" y="2467036"/>
            <a:ext cx="2137273" cy="357214"/>
          </a:xfrm>
          <a:prstGeom prst="rect">
            <a:avLst/>
          </a:prstGeom>
          <a:noFill/>
        </p:spPr>
        <p:txBody>
          <a:bodyPr wrap="none" lIns="90000" rtlCol="0" anchor="t">
            <a:spAutoFit/>
          </a:bodyPr>
          <a:lstStyle/>
          <a:p>
            <a:pPr algn="r">
              <a:lnSpc>
                <a:spcPct val="113000"/>
              </a:lnSpc>
            </a:pPr>
            <a:r>
              <a:rPr lang="en-US" sz="1600" noProof="0" dirty="0">
                <a:solidFill>
                  <a:schemeClr val="accent2"/>
                </a:solidFill>
                <a:effectLst>
                  <a:outerShdw blurRad="229337" sx="102000" sy="102000" algn="ctr" rotWithShape="0">
                    <a:schemeClr val="accent2">
                      <a:alpha val="20000"/>
                    </a:schemeClr>
                  </a:outerShdw>
                </a:effectLst>
                <a:latin typeface="☞NOIR PRO MEDIUM" pitchFamily="2" charset="0"/>
              </a:rPr>
              <a:t>Architecture Quality</a:t>
            </a:r>
          </a:p>
        </p:txBody>
      </p:sp>
      <p:sp>
        <p:nvSpPr>
          <p:cNvPr id="12" name="Boog 11">
            <a:extLst>
              <a:ext uri="{FF2B5EF4-FFF2-40B4-BE49-F238E27FC236}">
                <a16:creationId xmlns:a16="http://schemas.microsoft.com/office/drawing/2014/main" id="{9C79D787-D6AD-4F8F-4E1E-93558DDEBC19}"/>
              </a:ext>
            </a:extLst>
          </p:cNvPr>
          <p:cNvSpPr>
            <a:spLocks noChangeAspect="1"/>
          </p:cNvSpPr>
          <p:nvPr/>
        </p:nvSpPr>
        <p:spPr>
          <a:xfrm>
            <a:off x="3385191" y="1063763"/>
            <a:ext cx="5342400" cy="5342400"/>
          </a:xfrm>
          <a:prstGeom prst="arc">
            <a:avLst>
              <a:gd name="adj1" fmla="val 8378942"/>
              <a:gd name="adj2" fmla="val 12416581"/>
            </a:avLst>
          </a:prstGeom>
          <a:ln w="12700">
            <a:gradFill>
              <a:gsLst>
                <a:gs pos="83000">
                  <a:schemeClr val="accent2"/>
                </a:gs>
                <a:gs pos="16000">
                  <a:srgbClr val="1763FF"/>
                </a:gs>
                <a:gs pos="0">
                  <a:srgbClr val="1763FF">
                    <a:alpha val="0"/>
                  </a:srgbClr>
                </a:gs>
                <a:gs pos="100000">
                  <a:schemeClr val="accent2">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noProof="0" dirty="0"/>
          </a:p>
        </p:txBody>
      </p:sp>
      <p:sp>
        <p:nvSpPr>
          <p:cNvPr id="13" name="Ovaal 12">
            <a:extLst>
              <a:ext uri="{FF2B5EF4-FFF2-40B4-BE49-F238E27FC236}">
                <a16:creationId xmlns:a16="http://schemas.microsoft.com/office/drawing/2014/main" id="{7370D5DE-BDC4-C35E-9C2E-91716BD02B09}"/>
              </a:ext>
            </a:extLst>
          </p:cNvPr>
          <p:cNvSpPr/>
          <p:nvPr/>
        </p:nvSpPr>
        <p:spPr>
          <a:xfrm>
            <a:off x="3385191" y="3111240"/>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 name="Ovaal 13">
            <a:extLst>
              <a:ext uri="{FF2B5EF4-FFF2-40B4-BE49-F238E27FC236}">
                <a16:creationId xmlns:a16="http://schemas.microsoft.com/office/drawing/2014/main" id="{05F72ED1-5264-5B67-3E36-3014750C4C2F}"/>
              </a:ext>
            </a:extLst>
          </p:cNvPr>
          <p:cNvSpPr/>
          <p:nvPr/>
        </p:nvSpPr>
        <p:spPr>
          <a:xfrm>
            <a:off x="3323073" y="359028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 name="Ovaal 14">
            <a:extLst>
              <a:ext uri="{FF2B5EF4-FFF2-40B4-BE49-F238E27FC236}">
                <a16:creationId xmlns:a16="http://schemas.microsoft.com/office/drawing/2014/main" id="{D527CEC1-161B-AAA5-0623-23D5400DE1FD}"/>
              </a:ext>
            </a:extLst>
          </p:cNvPr>
          <p:cNvSpPr/>
          <p:nvPr/>
        </p:nvSpPr>
        <p:spPr>
          <a:xfrm>
            <a:off x="3364103" y="4093669"/>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Ovaal 16">
            <a:extLst>
              <a:ext uri="{FF2B5EF4-FFF2-40B4-BE49-F238E27FC236}">
                <a16:creationId xmlns:a16="http://schemas.microsoft.com/office/drawing/2014/main" id="{76D1A933-8CFE-0DCE-2D90-AA32A2AEAE8A}"/>
              </a:ext>
            </a:extLst>
          </p:cNvPr>
          <p:cNvSpPr/>
          <p:nvPr/>
        </p:nvSpPr>
        <p:spPr>
          <a:xfrm>
            <a:off x="3496656" y="4588574"/>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 name="Ovaal 18">
            <a:extLst>
              <a:ext uri="{FF2B5EF4-FFF2-40B4-BE49-F238E27FC236}">
                <a16:creationId xmlns:a16="http://schemas.microsoft.com/office/drawing/2014/main" id="{018CDC19-0EC4-9F41-5100-944A5A79A3FA}"/>
              </a:ext>
            </a:extLst>
          </p:cNvPr>
          <p:cNvSpPr/>
          <p:nvPr/>
        </p:nvSpPr>
        <p:spPr>
          <a:xfrm>
            <a:off x="3728666" y="5089348"/>
            <a:ext cx="114336" cy="114336"/>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25" name="Tekstvak 24">
            <a:extLst>
              <a:ext uri="{FF2B5EF4-FFF2-40B4-BE49-F238E27FC236}">
                <a16:creationId xmlns:a16="http://schemas.microsoft.com/office/drawing/2014/main" id="{411E51BD-8E0A-61AA-F8D8-E2C22B791EE6}"/>
              </a:ext>
            </a:extLst>
          </p:cNvPr>
          <p:cNvSpPr txBox="1"/>
          <p:nvPr/>
        </p:nvSpPr>
        <p:spPr>
          <a:xfrm>
            <a:off x="2233759" y="2957541"/>
            <a:ext cx="109371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Structure</a:t>
            </a:r>
          </a:p>
        </p:txBody>
      </p:sp>
      <p:sp>
        <p:nvSpPr>
          <p:cNvPr id="29" name="Tekstvak 28">
            <a:extLst>
              <a:ext uri="{FF2B5EF4-FFF2-40B4-BE49-F238E27FC236}">
                <a16:creationId xmlns:a16="http://schemas.microsoft.com/office/drawing/2014/main" id="{6A376295-9E29-C7D4-23E5-9B1234CB0463}"/>
              </a:ext>
            </a:extLst>
          </p:cNvPr>
          <p:cNvSpPr txBox="1"/>
          <p:nvPr/>
        </p:nvSpPr>
        <p:spPr>
          <a:xfrm>
            <a:off x="1738004" y="3456782"/>
            <a:ext cx="1533005" cy="356764"/>
          </a:xfrm>
          <a:prstGeom prst="rect">
            <a:avLst/>
          </a:prstGeom>
          <a:noFill/>
        </p:spPr>
        <p:txBody>
          <a:bodyPr wrap="none" lIns="90000" rtlCol="0" anchor="t">
            <a:spAutoFit/>
          </a:bodyPr>
          <a:lstStyle>
            <a:defPPr>
              <a:defRPr lang="en-US"/>
            </a:defPPr>
            <a:lvl1pPr algn="r">
              <a:lnSpc>
                <a:spcPct val="113000"/>
              </a:lnSpc>
              <a:defRPr sz="1600">
                <a:solidFill>
                  <a:schemeClr val="bg1"/>
                </a:solidFill>
                <a:latin typeface="☞NOIR PRO MEDIUM" pitchFamily="2" charset="0"/>
              </a:defRPr>
            </a:lvl1pPr>
          </a:lstStyle>
          <a:p>
            <a:r>
              <a:rPr lang="en-US" noProof="0" dirty="0"/>
              <a:t>Communication</a:t>
            </a:r>
          </a:p>
        </p:txBody>
      </p:sp>
      <p:sp>
        <p:nvSpPr>
          <p:cNvPr id="31" name="Tekstvak 30">
            <a:extLst>
              <a:ext uri="{FF2B5EF4-FFF2-40B4-BE49-F238E27FC236}">
                <a16:creationId xmlns:a16="http://schemas.microsoft.com/office/drawing/2014/main" id="{1D693990-F9F5-6A3F-373A-F98CAD402E8F}"/>
              </a:ext>
            </a:extLst>
          </p:cNvPr>
          <p:cNvSpPr txBox="1"/>
          <p:nvPr/>
        </p:nvSpPr>
        <p:spPr>
          <a:xfrm>
            <a:off x="1928405" y="3956023"/>
            <a:ext cx="138225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Data access</a:t>
            </a:r>
          </a:p>
        </p:txBody>
      </p:sp>
      <p:sp>
        <p:nvSpPr>
          <p:cNvPr id="33" name="Tekstvak 32">
            <a:extLst>
              <a:ext uri="{FF2B5EF4-FFF2-40B4-BE49-F238E27FC236}">
                <a16:creationId xmlns:a16="http://schemas.microsoft.com/office/drawing/2014/main" id="{2093B8B8-8C79-64C9-64E5-517C5AA9AA30}"/>
              </a:ext>
            </a:extLst>
          </p:cNvPr>
          <p:cNvSpPr txBox="1"/>
          <p:nvPr/>
        </p:nvSpPr>
        <p:spPr>
          <a:xfrm>
            <a:off x="2353845" y="4455264"/>
            <a:ext cx="1060055"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Evolution</a:t>
            </a:r>
          </a:p>
        </p:txBody>
      </p:sp>
      <p:sp>
        <p:nvSpPr>
          <p:cNvPr id="34" name="Tekstvak 33">
            <a:extLst>
              <a:ext uri="{FF2B5EF4-FFF2-40B4-BE49-F238E27FC236}">
                <a16:creationId xmlns:a16="http://schemas.microsoft.com/office/drawing/2014/main" id="{1C9C562C-B3AC-5C48-5694-72B1C7FF5D8F}"/>
              </a:ext>
            </a:extLst>
          </p:cNvPr>
          <p:cNvSpPr txBox="1"/>
          <p:nvPr/>
        </p:nvSpPr>
        <p:spPr>
          <a:xfrm>
            <a:off x="2385919" y="4954505"/>
            <a:ext cx="1249209" cy="357214"/>
          </a:xfrm>
          <a:prstGeom prst="rect">
            <a:avLst/>
          </a:prstGeom>
          <a:noFill/>
        </p:spPr>
        <p:txBody>
          <a:bodyPr wrap="none" lIns="90000" rtlCol="0" anchor="t">
            <a:spAutoFit/>
          </a:bodyPr>
          <a:lstStyle/>
          <a:p>
            <a:pPr algn="r">
              <a:lnSpc>
                <a:spcPct val="113000"/>
              </a:lnSpc>
            </a:pPr>
            <a:r>
              <a:rPr lang="en-US" sz="1600" noProof="0" dirty="0">
                <a:solidFill>
                  <a:schemeClr val="bg1"/>
                </a:solidFill>
                <a:latin typeface="☞NOIR PRO MEDIUM" pitchFamily="2" charset="0"/>
              </a:rPr>
              <a:t>Knowledge</a:t>
            </a:r>
          </a:p>
        </p:txBody>
      </p:sp>
      <p:sp>
        <p:nvSpPr>
          <p:cNvPr id="35" name="TextBox 41">
            <a:extLst>
              <a:ext uri="{FF2B5EF4-FFF2-40B4-BE49-F238E27FC236}">
                <a16:creationId xmlns:a16="http://schemas.microsoft.com/office/drawing/2014/main" id="{206057EE-BF64-9DF8-554C-8935F9D2B966}"/>
              </a:ext>
            </a:extLst>
          </p:cNvPr>
          <p:cNvSpPr txBox="1"/>
          <p:nvPr/>
        </p:nvSpPr>
        <p:spPr>
          <a:xfrm rot="4534123">
            <a:off x="4420303" y="2076017"/>
            <a:ext cx="3351394" cy="3317250"/>
          </a:xfrm>
          <a:prstGeom prst="rect">
            <a:avLst/>
          </a:prstGeom>
          <a:noFill/>
        </p:spPr>
        <p:txBody>
          <a:bodyPr wrap="none" lIns="90000" rtlCol="0" anchor="t">
            <a:prstTxWarp prst="textArchUp">
              <a:avLst>
                <a:gd name="adj" fmla="val 9056230"/>
              </a:avLst>
            </a:prstTxWarp>
            <a:spAutoFit/>
          </a:bodyPr>
          <a:lstStyle/>
          <a:p>
            <a:pPr>
              <a:lnSpc>
                <a:spcPct val="113000"/>
              </a:lnSpc>
            </a:pPr>
            <a:r>
              <a:rPr lang="en-US" spc="140" noProof="0" dirty="0">
                <a:gradFill>
                  <a:gsLst>
                    <a:gs pos="26000">
                      <a:srgbClr val="E98C36"/>
                    </a:gs>
                    <a:gs pos="67000">
                      <a:schemeClr val="accent4"/>
                    </a:gs>
                  </a:gsLst>
                  <a:lin ang="9600000" scaled="0"/>
                </a:gradFill>
                <a:latin typeface="Noir Pro Semi Bold" pitchFamily="2" charset="0"/>
              </a:rPr>
              <a:t>SIG Architecture Quality</a:t>
            </a:r>
          </a:p>
        </p:txBody>
      </p:sp>
      <p:sp>
        <p:nvSpPr>
          <p:cNvPr id="49" name="Oval 48">
            <a:extLst>
              <a:ext uri="{FF2B5EF4-FFF2-40B4-BE49-F238E27FC236}">
                <a16:creationId xmlns:a16="http://schemas.microsoft.com/office/drawing/2014/main" id="{B2E0CFBB-7A9C-9929-8E23-E856E40EC156}"/>
              </a:ext>
            </a:extLst>
          </p:cNvPr>
          <p:cNvSpPr/>
          <p:nvPr/>
        </p:nvSpPr>
        <p:spPr>
          <a:xfrm>
            <a:off x="5543925" y="3154882"/>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pic>
        <p:nvPicPr>
          <p:cNvPr id="3" name="Graphic 2">
            <a:extLst>
              <a:ext uri="{FF2B5EF4-FFF2-40B4-BE49-F238E27FC236}">
                <a16:creationId xmlns:a16="http://schemas.microsoft.com/office/drawing/2014/main" id="{A75772D6-9BAE-9A49-D31B-F33891E3DF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50611" y="3175250"/>
            <a:ext cx="881625" cy="876046"/>
          </a:xfrm>
          <a:prstGeom prst="rect">
            <a:avLst/>
          </a:prstGeom>
        </p:spPr>
      </p:pic>
      <p:sp>
        <p:nvSpPr>
          <p:cNvPr id="81" name="Oval 43">
            <a:extLst>
              <a:ext uri="{FF2B5EF4-FFF2-40B4-BE49-F238E27FC236}">
                <a16:creationId xmlns:a16="http://schemas.microsoft.com/office/drawing/2014/main" id="{272F2F13-0896-623C-F051-A762F0144832}"/>
              </a:ext>
            </a:extLst>
          </p:cNvPr>
          <p:cNvSpPr/>
          <p:nvPr/>
        </p:nvSpPr>
        <p:spPr>
          <a:xfrm>
            <a:off x="5541883" y="3153205"/>
            <a:ext cx="1057490" cy="1057490"/>
          </a:xfrm>
          <a:prstGeom prst="ellipse">
            <a:avLst/>
          </a:prstGeom>
          <a:gradFill>
            <a:gsLst>
              <a:gs pos="21000">
                <a:schemeClr val="tx2">
                  <a:alpha val="0"/>
                </a:schemeClr>
              </a:gs>
              <a:gs pos="55000">
                <a:schemeClr val="accent1">
                  <a:alpha val="47523"/>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algn="ctr"/>
            <a:endParaRPr lang="en-US" sz="1600" noProof="0" dirty="0">
              <a:solidFill>
                <a:schemeClr val="bg1"/>
              </a:solidFill>
              <a:latin typeface="Noir Pro Semi Bold" pitchFamily="2" charset="0"/>
            </a:endParaRPr>
          </a:p>
        </p:txBody>
      </p:sp>
    </p:spTree>
    <p:extLst>
      <p:ext uri="{BB962C8B-B14F-4D97-AF65-F5344CB8AC3E}">
        <p14:creationId xmlns:p14="http://schemas.microsoft.com/office/powerpoint/2010/main" val="18844635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81D5E-A2B9-C328-B774-190AA227CD4A}"/>
            </a:ext>
          </a:extLst>
        </p:cNvPr>
        <p:cNvGrpSpPr/>
        <p:nvPr/>
      </p:nvGrpSpPr>
      <p:grpSpPr>
        <a:xfrm>
          <a:off x="0" y="0"/>
          <a:ext cx="0" cy="0"/>
          <a:chOff x="0" y="0"/>
          <a:chExt cx="0" cy="0"/>
        </a:xfrm>
      </p:grpSpPr>
      <p:graphicFrame>
        <p:nvGraphicFramePr>
          <p:cNvPr id="20" name="Tabel 19">
            <a:extLst>
              <a:ext uri="{FF2B5EF4-FFF2-40B4-BE49-F238E27FC236}">
                <a16:creationId xmlns:a16="http://schemas.microsoft.com/office/drawing/2014/main" id="{4348BD50-B7D4-1657-172B-FF11CBC247D8}"/>
              </a:ext>
            </a:extLst>
          </p:cNvPr>
          <p:cNvGraphicFramePr>
            <a:graphicFrameLocks noGrp="1"/>
          </p:cNvGraphicFramePr>
          <p:nvPr/>
        </p:nvGraphicFramePr>
        <p:xfrm>
          <a:off x="154798" y="2717216"/>
          <a:ext cx="11880000" cy="2340000"/>
        </p:xfrm>
        <a:graphic>
          <a:graphicData uri="http://schemas.openxmlformats.org/drawingml/2006/table">
            <a:tbl>
              <a:tblPr>
                <a:tableStyleId>{5C22544A-7EE6-4342-B048-85BDC9FD1C3A}</a:tableStyleId>
              </a:tblPr>
              <a:tblGrid>
                <a:gridCol w="11880000">
                  <a:extLst>
                    <a:ext uri="{9D8B030D-6E8A-4147-A177-3AD203B41FA5}">
                      <a16:colId xmlns:a16="http://schemas.microsoft.com/office/drawing/2014/main" val="946129596"/>
                    </a:ext>
                  </a:extLst>
                </a:gridCol>
              </a:tblGrid>
              <a:tr h="468000">
                <a:tc>
                  <a:txBody>
                    <a:bodyPr/>
                    <a:lstStyle/>
                    <a:p>
                      <a:pPr>
                        <a:lnSpc>
                          <a:spcPct val="90000"/>
                        </a:lnSpc>
                      </a:pPr>
                      <a:r>
                        <a:rPr lang="en-US" sz="1200" b="0" i="0" noProof="0" dirty="0">
                          <a:solidFill>
                            <a:schemeClr val="bg1"/>
                          </a:solidFill>
                          <a:latin typeface="☞NOIR PRO MEDIUM" pitchFamily="2" charset="0"/>
                        </a:rPr>
                        <a:t>Structure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691436511"/>
                  </a:ext>
                </a:extLst>
              </a:tr>
              <a:tr h="468000">
                <a:tc>
                  <a:txBody>
                    <a:bodyPr/>
                    <a:lstStyle/>
                    <a:p>
                      <a:pPr>
                        <a:lnSpc>
                          <a:spcPct val="90000"/>
                        </a:lnSpc>
                      </a:pPr>
                      <a:r>
                        <a:rPr lang="en-US" sz="1200" b="0" i="0" noProof="0" dirty="0">
                          <a:solidFill>
                            <a:schemeClr val="bg1"/>
                          </a:solidFill>
                          <a:latin typeface="☞NOIR PRO MEDIUM" pitchFamily="2" charset="0"/>
                        </a:rPr>
                        <a:t>Communication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026125709"/>
                  </a:ext>
                </a:extLst>
              </a:tr>
              <a:tr h="468000">
                <a:tc>
                  <a:txBody>
                    <a:bodyPr/>
                    <a:lstStyle/>
                    <a:p>
                      <a:pPr>
                        <a:lnSpc>
                          <a:spcPct val="90000"/>
                        </a:lnSpc>
                      </a:pPr>
                      <a:r>
                        <a:rPr lang="en-US" sz="1200" b="0" i="0" noProof="0" dirty="0">
                          <a:solidFill>
                            <a:schemeClr val="bg1"/>
                          </a:solidFill>
                          <a:latin typeface="☞NOIR PRO MEDIUM" pitchFamily="2" charset="0"/>
                        </a:rPr>
                        <a:t>Data access</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3328417789"/>
                  </a:ext>
                </a:extLst>
              </a:tr>
              <a:tr h="468000">
                <a:tc>
                  <a:txBody>
                    <a:bodyPr/>
                    <a:lstStyle/>
                    <a:p>
                      <a:pPr>
                        <a:lnSpc>
                          <a:spcPct val="90000"/>
                        </a:lnSpc>
                      </a:pPr>
                      <a:r>
                        <a:rPr lang="en-US" sz="1200" b="0" i="0" noProof="0" dirty="0">
                          <a:solidFill>
                            <a:schemeClr val="bg1"/>
                          </a:solidFill>
                          <a:latin typeface="☞NOIR PRO MEDIUM" pitchFamily="2" charset="0"/>
                        </a:rPr>
                        <a:t>Evolution</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1500965361"/>
                  </a:ext>
                </a:extLst>
              </a:tr>
              <a:tr h="468000">
                <a:tc>
                  <a:txBody>
                    <a:bodyPr/>
                    <a:lstStyle/>
                    <a:p>
                      <a:pPr>
                        <a:lnSpc>
                          <a:spcPct val="90000"/>
                        </a:lnSpc>
                      </a:pPr>
                      <a:r>
                        <a:rPr lang="en-US" sz="1200" b="0" i="0" noProof="0" dirty="0">
                          <a:solidFill>
                            <a:schemeClr val="bg1"/>
                          </a:solidFill>
                          <a:latin typeface="☞NOIR PRO MEDIUM" pitchFamily="2" charset="0"/>
                        </a:rPr>
                        <a:t>Knowledge</a:t>
                      </a:r>
                    </a:p>
                  </a:txBody>
                  <a:tcPr marL="216000" marR="9720000" marT="144000" marB="144000" anchor="ctr">
                    <a:lnL w="12700" cmpd="sng">
                      <a:noFill/>
                    </a:lnL>
                    <a:lnR w="12700" cmpd="sng">
                      <a:noFill/>
                    </a:lnR>
                    <a:lnT w="12700" cmpd="sng">
                      <a:noFill/>
                    </a:lnT>
                    <a:lnB w="12700" cmpd="sng">
                      <a:noFill/>
                    </a:lnB>
                    <a:lnTlToBr w="12700" cmpd="sng">
                      <a:noFill/>
                      <a:prstDash val="solid"/>
                    </a:lnTlToBr>
                    <a:lnBlToTr w="12700" cmpd="sng">
                      <a:noFill/>
                      <a:prstDash val="solid"/>
                    </a:lnBlToTr>
                    <a:gradFill>
                      <a:gsLst>
                        <a:gs pos="37000">
                          <a:schemeClr val="accent1">
                            <a:alpha val="0"/>
                          </a:schemeClr>
                        </a:gs>
                        <a:gs pos="10000">
                          <a:schemeClr val="accent1">
                            <a:alpha val="40148"/>
                          </a:schemeClr>
                        </a:gs>
                      </a:gsLst>
                      <a:lin ang="5220000" scaled="0"/>
                    </a:gradFill>
                  </a:tcPr>
                </a:tc>
                <a:extLst>
                  <a:ext uri="{0D108BD9-81ED-4DB2-BD59-A6C34878D82A}">
                    <a16:rowId xmlns:a16="http://schemas.microsoft.com/office/drawing/2014/main" val="2866552359"/>
                  </a:ext>
                </a:extLst>
              </a:tr>
            </a:tbl>
          </a:graphicData>
        </a:graphic>
      </p:graphicFrame>
      <p:sp>
        <p:nvSpPr>
          <p:cNvPr id="2" name="Afgeronde rechthoek 1">
            <a:extLst>
              <a:ext uri="{FF2B5EF4-FFF2-40B4-BE49-F238E27FC236}">
                <a16:creationId xmlns:a16="http://schemas.microsoft.com/office/drawing/2014/main" id="{B727BF5E-99B6-49EF-E4BA-CF8DCB737B80}"/>
              </a:ext>
            </a:extLst>
          </p:cNvPr>
          <p:cNvSpPr>
            <a:spLocks/>
          </p:cNvSpPr>
          <p:nvPr/>
        </p:nvSpPr>
        <p:spPr>
          <a:xfrm>
            <a:off x="1738994" y="2119302"/>
            <a:ext cx="9839056" cy="3422188"/>
          </a:xfrm>
          <a:prstGeom prst="roundRect">
            <a:avLst>
              <a:gd name="adj" fmla="val 4344"/>
            </a:avLst>
          </a:prstGeom>
          <a:gradFill>
            <a:gsLst>
              <a:gs pos="0">
                <a:srgbClr val="1763FF">
                  <a:alpha val="26798"/>
                </a:srgbClr>
              </a:gs>
              <a:gs pos="7000">
                <a:schemeClr val="accent2">
                  <a:alpha val="9069"/>
                </a:schemeClr>
              </a:gs>
              <a:gs pos="42000">
                <a:schemeClr val="accent2">
                  <a:alpha val="0"/>
                </a:schemeClr>
              </a:gs>
            </a:gsLst>
            <a:lin ang="4200000" scaled="0"/>
          </a:gradFill>
          <a:ln w="9525">
            <a:gradFill>
              <a:gsLst>
                <a:gs pos="0">
                  <a:schemeClr val="accent3">
                    <a:alpha val="34000"/>
                  </a:schemeClr>
                </a:gs>
                <a:gs pos="23000">
                  <a:schemeClr val="accent3">
                    <a:alpha val="0"/>
                  </a:schemeClr>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0" name="Text Placeholder 169">
            <a:extLst>
              <a:ext uri="{FF2B5EF4-FFF2-40B4-BE49-F238E27FC236}">
                <a16:creationId xmlns:a16="http://schemas.microsoft.com/office/drawing/2014/main" id="{8A7018F4-6ACE-298D-AE34-CBEDCC026F34}"/>
              </a:ext>
            </a:extLst>
          </p:cNvPr>
          <p:cNvSpPr>
            <a:spLocks noGrp="1"/>
          </p:cNvSpPr>
          <p:nvPr>
            <p:ph type="body" sz="quarter" idx="12"/>
          </p:nvPr>
        </p:nvSpPr>
        <p:spPr>
          <a:xfrm>
            <a:off x="381600" y="129568"/>
            <a:ext cx="1663129" cy="228209"/>
          </a:xfrm>
        </p:spPr>
        <p:txBody>
          <a:bodyPr/>
          <a:lstStyle/>
          <a:p>
            <a:r>
              <a:rPr lang="en-US" noProof="0" dirty="0"/>
              <a:t>Model introduction</a:t>
            </a:r>
          </a:p>
        </p:txBody>
      </p:sp>
      <p:sp>
        <p:nvSpPr>
          <p:cNvPr id="3" name="Footer Placeholder 2">
            <a:extLst>
              <a:ext uri="{FF2B5EF4-FFF2-40B4-BE49-F238E27FC236}">
                <a16:creationId xmlns:a16="http://schemas.microsoft.com/office/drawing/2014/main" id="{5B6251E5-A1AC-6CFF-9472-C53DC41655B8}"/>
              </a:ext>
            </a:extLst>
          </p:cNvPr>
          <p:cNvSpPr>
            <a:spLocks noGrp="1"/>
          </p:cNvSpPr>
          <p:nvPr>
            <p:ph type="ftr" sz="quarter" idx="14"/>
          </p:nvPr>
        </p:nvSpPr>
        <p:spPr/>
        <p:txBody>
          <a:bodyPr/>
          <a:lstStyle/>
          <a:p>
            <a:r>
              <a:rPr lang="en-US" noProof="0" dirty="0"/>
              <a:t>Confidential</a:t>
            </a:r>
          </a:p>
        </p:txBody>
      </p:sp>
      <p:sp>
        <p:nvSpPr>
          <p:cNvPr id="4" name="Slide Number Placeholder 3">
            <a:extLst>
              <a:ext uri="{FF2B5EF4-FFF2-40B4-BE49-F238E27FC236}">
                <a16:creationId xmlns:a16="http://schemas.microsoft.com/office/drawing/2014/main" id="{F62980CA-BB04-6BB3-C0C8-A9D4C2BCC14F}"/>
              </a:ext>
            </a:extLst>
          </p:cNvPr>
          <p:cNvSpPr>
            <a:spLocks noGrp="1"/>
          </p:cNvSpPr>
          <p:nvPr>
            <p:ph type="sldNum" sz="quarter" idx="15"/>
          </p:nvPr>
        </p:nvSpPr>
        <p:spPr/>
        <p:txBody>
          <a:bodyPr/>
          <a:lstStyle/>
          <a:p>
            <a:fld id="{E242BD21-9B61-2246-BCB1-4BE5E1BEBE1C}" type="slidenum">
              <a:rPr lang="en-US" noProof="0" smtClean="0"/>
              <a:pPr/>
              <a:t>14</a:t>
            </a:fld>
            <a:endParaRPr lang="en-US" noProof="0" dirty="0"/>
          </a:p>
        </p:txBody>
      </p:sp>
      <p:sp>
        <p:nvSpPr>
          <p:cNvPr id="169" name="Title 168">
            <a:extLst>
              <a:ext uri="{FF2B5EF4-FFF2-40B4-BE49-F238E27FC236}">
                <a16:creationId xmlns:a16="http://schemas.microsoft.com/office/drawing/2014/main" id="{BC78F56D-3B9B-285C-51D5-D64BCFD4ED90}"/>
              </a:ext>
            </a:extLst>
          </p:cNvPr>
          <p:cNvSpPr>
            <a:spLocks noGrp="1"/>
          </p:cNvSpPr>
          <p:nvPr>
            <p:ph type="title"/>
          </p:nvPr>
        </p:nvSpPr>
        <p:spPr/>
        <p:txBody>
          <a:bodyPr/>
          <a:lstStyle/>
          <a:p>
            <a:r>
              <a:rPr lang="en-US" noProof="0" dirty="0"/>
              <a:t>SIG’s Architecture Model maps the sub-characteristics to 9 system properties</a:t>
            </a:r>
          </a:p>
        </p:txBody>
      </p:sp>
      <p:sp>
        <p:nvSpPr>
          <p:cNvPr id="5" name="Afgeronde rechthoek 4">
            <a:extLst>
              <a:ext uri="{FF2B5EF4-FFF2-40B4-BE49-F238E27FC236}">
                <a16:creationId xmlns:a16="http://schemas.microsoft.com/office/drawing/2014/main" id="{C0978B86-C287-03A1-FB46-4DAE9843BB13}"/>
              </a:ext>
            </a:extLst>
          </p:cNvPr>
          <p:cNvSpPr/>
          <p:nvPr/>
        </p:nvSpPr>
        <p:spPr>
          <a:xfrm>
            <a:off x="2079450" y="2800306"/>
            <a:ext cx="5010198"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4" name="Text Placeholder 169">
            <a:extLst>
              <a:ext uri="{FF2B5EF4-FFF2-40B4-BE49-F238E27FC236}">
                <a16:creationId xmlns:a16="http://schemas.microsoft.com/office/drawing/2014/main" id="{1AB1CC70-BC7D-E198-3D05-AE50FFA71C7D}"/>
              </a:ext>
            </a:extLst>
          </p:cNvPr>
          <p:cNvSpPr txBox="1"/>
          <p:nvPr/>
        </p:nvSpPr>
        <p:spPr>
          <a:xfrm>
            <a:off x="154798" y="1481773"/>
            <a:ext cx="3513435" cy="383335"/>
          </a:xfrm>
          <a:prstGeom prst="rect">
            <a:avLst/>
          </a:prstGeom>
          <a:noFill/>
        </p:spPr>
        <p:txBody>
          <a:bodyPr vert="horz" wrap="square" lIns="720000" tIns="18000" rIns="108000" bIns="36000" rtlCol="0" anchor="ctr" anchorCtr="0">
            <a:sp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defRPr lang="en-US" sz="1050" b="0" kern="1200" cap="none" spc="-30" baseline="0" dirty="0">
                <a:solidFill>
                  <a:srgbClr val="000000"/>
                </a:solidFill>
                <a:latin typeface="Azeret Mono" pitchFamily="2" charset="77"/>
                <a:ea typeface="TheSans B6 SemiBold" charset="0"/>
                <a:cs typeface="TheSans B6 SemiBold" charset="0"/>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2000" spc="0" noProof="0" dirty="0">
                <a:gradFill>
                  <a:gsLst>
                    <a:gs pos="100000">
                      <a:srgbClr val="EC9232"/>
                    </a:gs>
                    <a:gs pos="24000">
                      <a:srgbClr val="F9C716"/>
                    </a:gs>
                  </a:gsLst>
                  <a:lin ang="3600000" scaled="0"/>
                </a:gradFill>
                <a:latin typeface="Noir Pro Semi Bold" pitchFamily="2" charset="0"/>
              </a:rPr>
              <a:t>Architecture Quality</a:t>
            </a:r>
          </a:p>
        </p:txBody>
      </p:sp>
      <p:sp>
        <p:nvSpPr>
          <p:cNvPr id="46" name="Tekstvak 45">
            <a:extLst>
              <a:ext uri="{FF2B5EF4-FFF2-40B4-BE49-F238E27FC236}">
                <a16:creationId xmlns:a16="http://schemas.microsoft.com/office/drawing/2014/main" id="{A31936F0-9E5C-E499-ABD8-64AAF5C184BD}"/>
              </a:ext>
            </a:extLst>
          </p:cNvPr>
          <p:cNvSpPr txBox="1"/>
          <p:nvPr/>
        </p:nvSpPr>
        <p:spPr>
          <a:xfrm>
            <a:off x="154801" y="2129913"/>
            <a:ext cx="1853613" cy="593975"/>
          </a:xfrm>
          <a:custGeom>
            <a:avLst/>
            <a:gdLst>
              <a:gd name="connsiteX0" fmla="*/ 169271 w 1969367"/>
              <a:gd name="connsiteY0" fmla="*/ 0 h 631068"/>
              <a:gd name="connsiteX1" fmla="*/ 1800096 w 1969367"/>
              <a:gd name="connsiteY1" fmla="*/ 0 h 631068"/>
              <a:gd name="connsiteX2" fmla="*/ 1969367 w 1969367"/>
              <a:gd name="connsiteY2" fmla="*/ 169271 h 631068"/>
              <a:gd name="connsiteX3" fmla="*/ 1969367 w 1969367"/>
              <a:gd name="connsiteY3" fmla="*/ 461797 h 631068"/>
              <a:gd name="connsiteX4" fmla="*/ 1800096 w 1969367"/>
              <a:gd name="connsiteY4" fmla="*/ 631068 h 631068"/>
              <a:gd name="connsiteX5" fmla="*/ 640829 w 1969367"/>
              <a:gd name="connsiteY5" fmla="*/ 631068 h 631068"/>
              <a:gd name="connsiteX6" fmla="*/ 169271 w 1969367"/>
              <a:gd name="connsiteY6" fmla="*/ 631068 h 631068"/>
              <a:gd name="connsiteX7" fmla="*/ 0 w 1969367"/>
              <a:gd name="connsiteY7" fmla="*/ 631068 h 631068"/>
              <a:gd name="connsiteX8" fmla="*/ 0 w 1969367"/>
              <a:gd name="connsiteY8" fmla="*/ 461797 h 631068"/>
              <a:gd name="connsiteX9" fmla="*/ 0 w 1969367"/>
              <a:gd name="connsiteY9" fmla="*/ 228683 h 631068"/>
              <a:gd name="connsiteX10" fmla="*/ 0 w 1969367"/>
              <a:gd name="connsiteY10" fmla="*/ 169271 h 631068"/>
              <a:gd name="connsiteX11" fmla="*/ 169271 w 1969367"/>
              <a:gd name="connsiteY11" fmla="*/ 0 h 631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69367" h="631068">
                <a:moveTo>
                  <a:pt x="169271" y="0"/>
                </a:moveTo>
                <a:lnTo>
                  <a:pt x="1800096" y="0"/>
                </a:lnTo>
                <a:cubicBezTo>
                  <a:pt x="1893582" y="0"/>
                  <a:pt x="1969367" y="75785"/>
                  <a:pt x="1969367" y="169271"/>
                </a:cubicBezTo>
                <a:lnTo>
                  <a:pt x="1969367" y="461797"/>
                </a:lnTo>
                <a:cubicBezTo>
                  <a:pt x="1969367" y="555283"/>
                  <a:pt x="1893582" y="631068"/>
                  <a:pt x="1800096" y="631068"/>
                </a:cubicBezTo>
                <a:lnTo>
                  <a:pt x="640829" y="631068"/>
                </a:lnTo>
                <a:lnTo>
                  <a:pt x="169271" y="631068"/>
                </a:lnTo>
                <a:lnTo>
                  <a:pt x="0" y="631068"/>
                </a:lnTo>
                <a:lnTo>
                  <a:pt x="0" y="461797"/>
                </a:lnTo>
                <a:lnTo>
                  <a:pt x="0" y="228683"/>
                </a:lnTo>
                <a:lnTo>
                  <a:pt x="0" y="169271"/>
                </a:lnTo>
                <a:cubicBezTo>
                  <a:pt x="0" y="75785"/>
                  <a:pt x="75785" y="0"/>
                  <a:pt x="169271" y="0"/>
                </a:cubicBezTo>
                <a:close/>
              </a:path>
            </a:pathLst>
          </a:custGeom>
          <a:solidFill>
            <a:schemeClr val="accent2">
              <a:lumMod val="75000"/>
            </a:schemeClr>
          </a:solidFill>
          <a:effectLst>
            <a:outerShdw blurRad="286568" dist="101276" dir="16200000" rotWithShape="0">
              <a:prstClr val="black">
                <a:alpha val="15439"/>
              </a:prstClr>
            </a:outerShdw>
          </a:effectLst>
        </p:spPr>
        <p:txBody>
          <a:bodyPr wrap="square" lIns="720000" tIns="234000" rIns="0" bIns="108000" rtlCol="0" anchor="t">
            <a:noAutofit/>
          </a:bodyPr>
          <a:lstStyle/>
          <a:p>
            <a:pPr>
              <a:lnSpc>
                <a:spcPct val="80000"/>
              </a:lnSpc>
            </a:pPr>
            <a:endParaRPr lang="en-US" sz="1400" noProof="0" dirty="0">
              <a:solidFill>
                <a:schemeClr val="bg1"/>
              </a:solidFill>
              <a:latin typeface="☞NOIR PRO MEDIUM" pitchFamily="2" charset="0"/>
            </a:endParaRPr>
          </a:p>
        </p:txBody>
      </p:sp>
      <p:sp>
        <p:nvSpPr>
          <p:cNvPr id="19" name="TextBox 121">
            <a:extLst>
              <a:ext uri="{FF2B5EF4-FFF2-40B4-BE49-F238E27FC236}">
                <a16:creationId xmlns:a16="http://schemas.microsoft.com/office/drawing/2014/main" id="{ABDAF8EC-3B95-C9D7-0FE9-71A7721CFF9D}"/>
              </a:ext>
            </a:extLst>
          </p:cNvPr>
          <p:cNvSpPr txBox="1"/>
          <p:nvPr/>
        </p:nvSpPr>
        <p:spPr>
          <a:xfrm>
            <a:off x="1738994" y="2111134"/>
            <a:ext cx="10295804" cy="631068"/>
          </a:xfrm>
          <a:prstGeom prst="roundRect">
            <a:avLst>
              <a:gd name="adj" fmla="val 26823"/>
            </a:avLst>
          </a:prstGeom>
          <a:solidFill>
            <a:schemeClr val="accent2"/>
          </a:solidFill>
          <a:effectLst>
            <a:outerShdw blurRad="286568" dist="101276" dir="16200000" rotWithShape="0">
              <a:prstClr val="black">
                <a:alpha val="15439"/>
              </a:prstClr>
            </a:outerShdw>
          </a:effectLst>
        </p:spPr>
        <p:txBody>
          <a:bodyPr wrap="square" lIns="648000" tIns="125999" rIns="0" bIns="108000" rtlCol="0" anchor="t">
            <a:noAutofit/>
          </a:bodyPr>
          <a:lstStyle/>
          <a:p>
            <a:pPr>
              <a:lnSpc>
                <a:spcPct val="80000"/>
              </a:lnSpc>
            </a:pPr>
            <a:endParaRPr lang="en-US" sz="1400" noProof="0" dirty="0">
              <a:solidFill>
                <a:schemeClr val="bg1"/>
              </a:solidFill>
              <a:latin typeface="☞NOIR PRO MEDIUM" pitchFamily="2" charset="0"/>
            </a:endParaRPr>
          </a:p>
        </p:txBody>
      </p:sp>
      <p:pic>
        <p:nvPicPr>
          <p:cNvPr id="43" name="Graphic 42">
            <a:extLst>
              <a:ext uri="{FF2B5EF4-FFF2-40B4-BE49-F238E27FC236}">
                <a16:creationId xmlns:a16="http://schemas.microsoft.com/office/drawing/2014/main" id="{568E0D71-CA53-AF66-00DE-458ABAFFFE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6740" y="2226642"/>
            <a:ext cx="590770" cy="393845"/>
          </a:xfrm>
          <a:prstGeom prst="rect">
            <a:avLst/>
          </a:prstGeom>
          <a:effectLst>
            <a:outerShdw blurRad="237234" sx="102000" sy="102000" algn="ctr" rotWithShape="0">
              <a:schemeClr val="accent4">
                <a:alpha val="0"/>
              </a:schemeClr>
            </a:outerShdw>
          </a:effectLst>
        </p:spPr>
      </p:pic>
      <p:graphicFrame>
        <p:nvGraphicFramePr>
          <p:cNvPr id="48" name="Tabel 47">
            <a:extLst>
              <a:ext uri="{FF2B5EF4-FFF2-40B4-BE49-F238E27FC236}">
                <a16:creationId xmlns:a16="http://schemas.microsoft.com/office/drawing/2014/main" id="{FC0D4C37-D231-E6B4-2BEB-A2CB6974D4EA}"/>
              </a:ext>
            </a:extLst>
          </p:cNvPr>
          <p:cNvGraphicFramePr>
            <a:graphicFrameLocks noGrp="1"/>
          </p:cNvGraphicFramePr>
          <p:nvPr/>
        </p:nvGraphicFramePr>
        <p:xfrm>
          <a:off x="1724258" y="2210220"/>
          <a:ext cx="10295802" cy="457200"/>
        </p:xfrm>
        <a:graphic>
          <a:graphicData uri="http://schemas.openxmlformats.org/drawingml/2006/table">
            <a:tbl>
              <a:tblPr>
                <a:tableStyleId>{5C22544A-7EE6-4342-B048-85BDC9FD1C3A}</a:tableStyleId>
              </a:tblPr>
              <a:tblGrid>
                <a:gridCol w="1143978">
                  <a:extLst>
                    <a:ext uri="{9D8B030D-6E8A-4147-A177-3AD203B41FA5}">
                      <a16:colId xmlns:a16="http://schemas.microsoft.com/office/drawing/2014/main" val="3756218328"/>
                    </a:ext>
                  </a:extLst>
                </a:gridCol>
                <a:gridCol w="1143978">
                  <a:extLst>
                    <a:ext uri="{9D8B030D-6E8A-4147-A177-3AD203B41FA5}">
                      <a16:colId xmlns:a16="http://schemas.microsoft.com/office/drawing/2014/main" val="2899638353"/>
                    </a:ext>
                  </a:extLst>
                </a:gridCol>
                <a:gridCol w="1143978">
                  <a:extLst>
                    <a:ext uri="{9D8B030D-6E8A-4147-A177-3AD203B41FA5}">
                      <a16:colId xmlns:a16="http://schemas.microsoft.com/office/drawing/2014/main" val="3980836888"/>
                    </a:ext>
                  </a:extLst>
                </a:gridCol>
                <a:gridCol w="1143978">
                  <a:extLst>
                    <a:ext uri="{9D8B030D-6E8A-4147-A177-3AD203B41FA5}">
                      <a16:colId xmlns:a16="http://schemas.microsoft.com/office/drawing/2014/main" val="337405862"/>
                    </a:ext>
                  </a:extLst>
                </a:gridCol>
                <a:gridCol w="1143978">
                  <a:extLst>
                    <a:ext uri="{9D8B030D-6E8A-4147-A177-3AD203B41FA5}">
                      <a16:colId xmlns:a16="http://schemas.microsoft.com/office/drawing/2014/main" val="2409438331"/>
                    </a:ext>
                  </a:extLst>
                </a:gridCol>
                <a:gridCol w="1143978">
                  <a:extLst>
                    <a:ext uri="{9D8B030D-6E8A-4147-A177-3AD203B41FA5}">
                      <a16:colId xmlns:a16="http://schemas.microsoft.com/office/drawing/2014/main" val="1015334204"/>
                    </a:ext>
                  </a:extLst>
                </a:gridCol>
                <a:gridCol w="1143978">
                  <a:extLst>
                    <a:ext uri="{9D8B030D-6E8A-4147-A177-3AD203B41FA5}">
                      <a16:colId xmlns:a16="http://schemas.microsoft.com/office/drawing/2014/main" val="1771938756"/>
                    </a:ext>
                  </a:extLst>
                </a:gridCol>
                <a:gridCol w="1143978">
                  <a:extLst>
                    <a:ext uri="{9D8B030D-6E8A-4147-A177-3AD203B41FA5}">
                      <a16:colId xmlns:a16="http://schemas.microsoft.com/office/drawing/2014/main" val="2602381078"/>
                    </a:ext>
                  </a:extLst>
                </a:gridCol>
                <a:gridCol w="1143978">
                  <a:extLst>
                    <a:ext uri="{9D8B030D-6E8A-4147-A177-3AD203B41FA5}">
                      <a16:colId xmlns:a16="http://schemas.microsoft.com/office/drawing/2014/main" val="1643199352"/>
                    </a:ext>
                  </a:extLst>
                </a:gridCol>
              </a:tblGrid>
              <a:tr h="370840">
                <a:tc>
                  <a:txBody>
                    <a:bodyPr/>
                    <a:lstStyle/>
                    <a:p>
                      <a:pPr algn="ctr"/>
                      <a:r>
                        <a:rPr lang="en-US" sz="1200" b="0" i="0" noProof="0" dirty="0">
                          <a:solidFill>
                            <a:schemeClr val="bg1"/>
                          </a:solidFill>
                          <a:latin typeface="☞NOIR PRO MEDIUM" pitchFamily="2" charset="0"/>
                        </a:rPr>
                        <a:t>Code</a:t>
                      </a:r>
                    </a:p>
                    <a:p>
                      <a:pPr algn="ctr"/>
                      <a:r>
                        <a:rPr lang="en-US" sz="1200" b="0" i="0" noProof="0" dirty="0">
                          <a:solidFill>
                            <a:schemeClr val="bg1"/>
                          </a:solidFill>
                          <a:latin typeface="☞NOIR PRO MEDIUM" pitchFamily="2" charset="0"/>
                        </a:rPr>
                        <a:t>breakdown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 </a:t>
                      </a:r>
                    </a:p>
                    <a:p>
                      <a:pPr algn="ctr"/>
                      <a:r>
                        <a:rPr lang="en-US" sz="1200" b="0" i="0" noProof="0" dirty="0">
                          <a:solidFill>
                            <a:schemeClr val="bg1"/>
                          </a:solidFill>
                          <a:latin typeface="☞NOIR PRO MEDIUM" pitchFamily="2" charset="0"/>
                        </a:rPr>
                        <a:t>adjacency</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cohesion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Communication</a:t>
                      </a:r>
                    </a:p>
                    <a:p>
                      <a:pPr algn="ctr"/>
                      <a:r>
                        <a:rPr lang="en-US" sz="1200" b="0" i="0" noProof="0" dirty="0">
                          <a:solidFill>
                            <a:schemeClr val="bg1"/>
                          </a:solidFill>
                          <a:latin typeface="☞NOIR PRO MEDIUM" pitchFamily="2" charset="0"/>
                        </a:rPr>
                        <a:t>centralization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Data</a:t>
                      </a:r>
                    </a:p>
                    <a:p>
                      <a:pPr algn="ctr"/>
                      <a:r>
                        <a:rPr lang="en-US" sz="1200" b="0" i="0" noProof="0" dirty="0">
                          <a:solidFill>
                            <a:schemeClr val="bg1"/>
                          </a:solidFill>
                          <a:latin typeface="☞NOIR PRO MEDIUM" pitchFamily="2" charset="0"/>
                        </a:rPr>
                        <a:t>coupling</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Bounded</a:t>
                      </a:r>
                    </a:p>
                    <a:p>
                      <a:pPr algn="ctr"/>
                      <a:r>
                        <a:rPr lang="en-US" sz="1200" b="0" i="0" noProof="0" dirty="0">
                          <a:solidFill>
                            <a:schemeClr val="bg1"/>
                          </a:solidFill>
                          <a:latin typeface="☞NOIR PRO MEDIUM" pitchFamily="2" charset="0"/>
                        </a:rPr>
                        <a:t>evolution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Knowledge</a:t>
                      </a:r>
                    </a:p>
                    <a:p>
                      <a:pPr algn="ctr"/>
                      <a:r>
                        <a:rPr lang="en-US" sz="1200" b="0" i="0" noProof="0" dirty="0">
                          <a:solidFill>
                            <a:schemeClr val="bg1"/>
                          </a:solidFill>
                          <a:latin typeface="☞NOIR PRO MEDIUM" pitchFamily="2" charset="0"/>
                        </a:rPr>
                        <a:t>distribution</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r>
                        <a:rPr lang="en-US" sz="1200" b="0" i="0" noProof="0" dirty="0">
                          <a:solidFill>
                            <a:schemeClr val="bg1"/>
                          </a:solidFill>
                          <a:latin typeface="☞NOIR PRO MEDIUM" pitchFamily="2" charset="0"/>
                        </a:rPr>
                        <a:t>Component</a:t>
                      </a:r>
                    </a:p>
                    <a:p>
                      <a:pPr algn="ctr"/>
                      <a:r>
                        <a:rPr lang="en-US" sz="1200" b="0" i="0" noProof="0" dirty="0">
                          <a:solidFill>
                            <a:schemeClr val="bg1"/>
                          </a:solidFill>
                          <a:latin typeface="☞NOIR PRO MEDIUM" pitchFamily="2" charset="0"/>
                        </a:rPr>
                        <a:t>freshness</a:t>
                      </a:r>
                    </a:p>
                  </a:txBody>
                  <a:tcPr marL="19440" marR="1944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99627965"/>
                  </a:ext>
                </a:extLst>
              </a:tr>
            </a:tbl>
          </a:graphicData>
        </a:graphic>
      </p:graphicFrame>
      <p:sp>
        <p:nvSpPr>
          <p:cNvPr id="52" name="Ovaal 51">
            <a:extLst>
              <a:ext uri="{FF2B5EF4-FFF2-40B4-BE49-F238E27FC236}">
                <a16:creationId xmlns:a16="http://schemas.microsoft.com/office/drawing/2014/main" id="{9E752103-7BCC-D47D-0E41-3D3118080490}"/>
              </a:ext>
            </a:extLst>
          </p:cNvPr>
          <p:cNvSpPr/>
          <p:nvPr/>
        </p:nvSpPr>
        <p:spPr>
          <a:xfrm>
            <a:off x="399461" y="1502952"/>
            <a:ext cx="354604" cy="354604"/>
          </a:xfrm>
          <a:prstGeom prst="ellipse">
            <a:avLst/>
          </a:prstGeom>
          <a:gradFill>
            <a:gsLst>
              <a:gs pos="19000">
                <a:srgbClr val="E98C36"/>
              </a:gs>
              <a:gs pos="53000">
                <a:srgbClr val="F9C716"/>
              </a:gs>
            </a:gsLst>
            <a:lin ang="2700000" scaled="0"/>
          </a:gradFill>
          <a:ln>
            <a:noFill/>
          </a:ln>
          <a:effectLst>
            <a:outerShdw blurRad="216637" dist="38100" dir="5400000" algn="t" rotWithShape="0">
              <a:schemeClr val="accent4">
                <a:alpha val="14645"/>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pic>
        <p:nvPicPr>
          <p:cNvPr id="56" name="Graphic 55">
            <a:extLst>
              <a:ext uri="{FF2B5EF4-FFF2-40B4-BE49-F238E27FC236}">
                <a16:creationId xmlns:a16="http://schemas.microsoft.com/office/drawing/2014/main" id="{E447C6ED-5A30-ACDA-F05F-C9EE4524BE8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9035" y="1523454"/>
            <a:ext cx="295455" cy="293586"/>
          </a:xfrm>
          <a:prstGeom prst="rect">
            <a:avLst/>
          </a:prstGeom>
        </p:spPr>
      </p:pic>
      <p:sp>
        <p:nvSpPr>
          <p:cNvPr id="10" name="Ovaal 9">
            <a:extLst>
              <a:ext uri="{FF2B5EF4-FFF2-40B4-BE49-F238E27FC236}">
                <a16:creationId xmlns:a16="http://schemas.microsoft.com/office/drawing/2014/main" id="{EEC047B5-4675-87BB-C77D-525A9C15C89C}"/>
              </a:ext>
            </a:extLst>
          </p:cNvPr>
          <p:cNvSpPr/>
          <p:nvPr/>
        </p:nvSpPr>
        <p:spPr>
          <a:xfrm>
            <a:off x="2218728"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1" name="Ovaal 10">
            <a:extLst>
              <a:ext uri="{FF2B5EF4-FFF2-40B4-BE49-F238E27FC236}">
                <a16:creationId xmlns:a16="http://schemas.microsoft.com/office/drawing/2014/main" id="{B27E223E-7F96-98A3-1BCE-3C7E3476061A}"/>
              </a:ext>
            </a:extLst>
          </p:cNvPr>
          <p:cNvSpPr/>
          <p:nvPr/>
        </p:nvSpPr>
        <p:spPr>
          <a:xfrm>
            <a:off x="5654945"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2" name="Ovaal 11">
            <a:extLst>
              <a:ext uri="{FF2B5EF4-FFF2-40B4-BE49-F238E27FC236}">
                <a16:creationId xmlns:a16="http://schemas.microsoft.com/office/drawing/2014/main" id="{0490248B-B552-3119-224F-718F14ACB6C5}"/>
              </a:ext>
            </a:extLst>
          </p:cNvPr>
          <p:cNvSpPr/>
          <p:nvPr/>
        </p:nvSpPr>
        <p:spPr>
          <a:xfrm>
            <a:off x="6797392" y="288102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38" name="Ovaal 11">
            <a:extLst>
              <a:ext uri="{FF2B5EF4-FFF2-40B4-BE49-F238E27FC236}">
                <a16:creationId xmlns:a16="http://schemas.microsoft.com/office/drawing/2014/main" id="{6874EC91-042A-605C-8D6E-0521908AC107}"/>
              </a:ext>
            </a:extLst>
          </p:cNvPr>
          <p:cNvSpPr/>
          <p:nvPr/>
        </p:nvSpPr>
        <p:spPr>
          <a:xfrm>
            <a:off x="6797394" y="334365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39" name="Ovaal 10">
            <a:extLst>
              <a:ext uri="{FF2B5EF4-FFF2-40B4-BE49-F238E27FC236}">
                <a16:creationId xmlns:a16="http://schemas.microsoft.com/office/drawing/2014/main" id="{7E0F3336-7E00-3017-BF4A-E0D62E8C679F}"/>
              </a:ext>
            </a:extLst>
          </p:cNvPr>
          <p:cNvSpPr/>
          <p:nvPr/>
        </p:nvSpPr>
        <p:spPr>
          <a:xfrm>
            <a:off x="4512500" y="334475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0" name="Ovaal 10">
            <a:extLst>
              <a:ext uri="{FF2B5EF4-FFF2-40B4-BE49-F238E27FC236}">
                <a16:creationId xmlns:a16="http://schemas.microsoft.com/office/drawing/2014/main" id="{4CBA9FF2-A29A-B056-CCF4-3E8F6BF1E2B9}"/>
              </a:ext>
            </a:extLst>
          </p:cNvPr>
          <p:cNvSpPr/>
          <p:nvPr/>
        </p:nvSpPr>
        <p:spPr>
          <a:xfrm>
            <a:off x="3374154" y="33472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1" name="Ovaal 11">
            <a:extLst>
              <a:ext uri="{FF2B5EF4-FFF2-40B4-BE49-F238E27FC236}">
                <a16:creationId xmlns:a16="http://schemas.microsoft.com/office/drawing/2014/main" id="{BC564ED3-A53F-4681-0C82-114FB291ABF6}"/>
              </a:ext>
            </a:extLst>
          </p:cNvPr>
          <p:cNvSpPr/>
          <p:nvPr/>
        </p:nvSpPr>
        <p:spPr>
          <a:xfrm>
            <a:off x="7951314" y="33472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2" name="Ovaal 11">
            <a:extLst>
              <a:ext uri="{FF2B5EF4-FFF2-40B4-BE49-F238E27FC236}">
                <a16:creationId xmlns:a16="http://schemas.microsoft.com/office/drawing/2014/main" id="{498A5593-0A46-DE2F-22E7-1DCB40AE2D00}"/>
              </a:ext>
            </a:extLst>
          </p:cNvPr>
          <p:cNvSpPr/>
          <p:nvPr/>
        </p:nvSpPr>
        <p:spPr>
          <a:xfrm>
            <a:off x="9090244" y="3349541"/>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8" name="Ovaal 11">
            <a:extLst>
              <a:ext uri="{FF2B5EF4-FFF2-40B4-BE49-F238E27FC236}">
                <a16:creationId xmlns:a16="http://schemas.microsoft.com/office/drawing/2014/main" id="{9CC9673A-F89B-12EB-21B8-75E30C9D2080}"/>
              </a:ext>
            </a:extLst>
          </p:cNvPr>
          <p:cNvSpPr/>
          <p:nvPr/>
        </p:nvSpPr>
        <p:spPr>
          <a:xfrm>
            <a:off x="6793863" y="381479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49" name="Ovaal 10">
            <a:extLst>
              <a:ext uri="{FF2B5EF4-FFF2-40B4-BE49-F238E27FC236}">
                <a16:creationId xmlns:a16="http://schemas.microsoft.com/office/drawing/2014/main" id="{828AC1A7-9160-FEB7-DB79-3435941438F6}"/>
              </a:ext>
            </a:extLst>
          </p:cNvPr>
          <p:cNvSpPr/>
          <p:nvPr/>
        </p:nvSpPr>
        <p:spPr>
          <a:xfrm>
            <a:off x="4508969" y="3815895"/>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0" name="Ovaal 10">
            <a:extLst>
              <a:ext uri="{FF2B5EF4-FFF2-40B4-BE49-F238E27FC236}">
                <a16:creationId xmlns:a16="http://schemas.microsoft.com/office/drawing/2014/main" id="{61B86929-CAFC-4B95-0C1C-51AC05D784F0}"/>
              </a:ext>
            </a:extLst>
          </p:cNvPr>
          <p:cNvSpPr/>
          <p:nvPr/>
        </p:nvSpPr>
        <p:spPr>
          <a:xfrm>
            <a:off x="3370623" y="38184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1" name="Ovaal 11">
            <a:extLst>
              <a:ext uri="{FF2B5EF4-FFF2-40B4-BE49-F238E27FC236}">
                <a16:creationId xmlns:a16="http://schemas.microsoft.com/office/drawing/2014/main" id="{C9115110-8ADA-848B-D863-F06FB80DED4F}"/>
              </a:ext>
            </a:extLst>
          </p:cNvPr>
          <p:cNvSpPr/>
          <p:nvPr/>
        </p:nvSpPr>
        <p:spPr>
          <a:xfrm>
            <a:off x="7947783" y="3818437"/>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6" name="Ovaal 9">
            <a:extLst>
              <a:ext uri="{FF2B5EF4-FFF2-40B4-BE49-F238E27FC236}">
                <a16:creationId xmlns:a16="http://schemas.microsoft.com/office/drawing/2014/main" id="{9BDEE888-167D-966F-C1F2-B5417B5DA84B}"/>
              </a:ext>
            </a:extLst>
          </p:cNvPr>
          <p:cNvSpPr/>
          <p:nvPr/>
        </p:nvSpPr>
        <p:spPr>
          <a:xfrm>
            <a:off x="2215199" y="4275894"/>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7" name="Ovaal 10">
            <a:extLst>
              <a:ext uri="{FF2B5EF4-FFF2-40B4-BE49-F238E27FC236}">
                <a16:creationId xmlns:a16="http://schemas.microsoft.com/office/drawing/2014/main" id="{A8E55C29-424F-C86E-9059-BB74D2141A3C}"/>
              </a:ext>
            </a:extLst>
          </p:cNvPr>
          <p:cNvSpPr/>
          <p:nvPr/>
        </p:nvSpPr>
        <p:spPr>
          <a:xfrm>
            <a:off x="5651416" y="4281950"/>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59" name="Ovaal 10">
            <a:extLst>
              <a:ext uri="{FF2B5EF4-FFF2-40B4-BE49-F238E27FC236}">
                <a16:creationId xmlns:a16="http://schemas.microsoft.com/office/drawing/2014/main" id="{1C67472D-7DB0-3A78-43FA-FFD2DD48FC01}"/>
              </a:ext>
            </a:extLst>
          </p:cNvPr>
          <p:cNvSpPr/>
          <p:nvPr/>
        </p:nvSpPr>
        <p:spPr>
          <a:xfrm>
            <a:off x="4508969" y="4276992"/>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0" name="Ovaal 10">
            <a:extLst>
              <a:ext uri="{FF2B5EF4-FFF2-40B4-BE49-F238E27FC236}">
                <a16:creationId xmlns:a16="http://schemas.microsoft.com/office/drawing/2014/main" id="{1FC6962A-C121-CBE7-BDBD-17AB17923A72}"/>
              </a:ext>
            </a:extLst>
          </p:cNvPr>
          <p:cNvSpPr/>
          <p:nvPr/>
        </p:nvSpPr>
        <p:spPr>
          <a:xfrm>
            <a:off x="3370623" y="427347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2" name="Ovaal 11">
            <a:extLst>
              <a:ext uri="{FF2B5EF4-FFF2-40B4-BE49-F238E27FC236}">
                <a16:creationId xmlns:a16="http://schemas.microsoft.com/office/drawing/2014/main" id="{1F2D0029-FADC-9339-9382-49C8069FF25F}"/>
              </a:ext>
            </a:extLst>
          </p:cNvPr>
          <p:cNvSpPr/>
          <p:nvPr/>
        </p:nvSpPr>
        <p:spPr>
          <a:xfrm>
            <a:off x="9086713"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3" name="Ovaal 11">
            <a:extLst>
              <a:ext uri="{FF2B5EF4-FFF2-40B4-BE49-F238E27FC236}">
                <a16:creationId xmlns:a16="http://schemas.microsoft.com/office/drawing/2014/main" id="{6E7AABD6-937F-DAFB-B1F0-EE0A04634B74}"/>
              </a:ext>
            </a:extLst>
          </p:cNvPr>
          <p:cNvSpPr/>
          <p:nvPr/>
        </p:nvSpPr>
        <p:spPr>
          <a:xfrm>
            <a:off x="10236612"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4" name="Ovaal 11">
            <a:extLst>
              <a:ext uri="{FF2B5EF4-FFF2-40B4-BE49-F238E27FC236}">
                <a16:creationId xmlns:a16="http://schemas.microsoft.com/office/drawing/2014/main" id="{1A485405-125F-7FAC-A51E-ADEA50ADBF11}"/>
              </a:ext>
            </a:extLst>
          </p:cNvPr>
          <p:cNvSpPr/>
          <p:nvPr/>
        </p:nvSpPr>
        <p:spPr>
          <a:xfrm>
            <a:off x="11375001" y="4281783"/>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5" name="Ovaal 11">
            <a:extLst>
              <a:ext uri="{FF2B5EF4-FFF2-40B4-BE49-F238E27FC236}">
                <a16:creationId xmlns:a16="http://schemas.microsoft.com/office/drawing/2014/main" id="{A8F5F29E-A2FB-9091-E6B6-74785EEC2691}"/>
              </a:ext>
            </a:extLst>
          </p:cNvPr>
          <p:cNvSpPr/>
          <p:nvPr/>
        </p:nvSpPr>
        <p:spPr>
          <a:xfrm>
            <a:off x="10236613" y="473886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6" name="Ovaal 11">
            <a:extLst>
              <a:ext uri="{FF2B5EF4-FFF2-40B4-BE49-F238E27FC236}">
                <a16:creationId xmlns:a16="http://schemas.microsoft.com/office/drawing/2014/main" id="{2B5D5729-583E-8BF0-5AC8-486005BA6A0F}"/>
              </a:ext>
            </a:extLst>
          </p:cNvPr>
          <p:cNvSpPr/>
          <p:nvPr/>
        </p:nvSpPr>
        <p:spPr>
          <a:xfrm>
            <a:off x="11375002" y="4738868"/>
            <a:ext cx="157941" cy="157941"/>
          </a:xfrm>
          <a:prstGeom prst="ellipse">
            <a:avLst/>
          </a:prstGeom>
          <a:gradFill>
            <a:gsLst>
              <a:gs pos="23000">
                <a:srgbClr val="F8C818"/>
              </a:gs>
              <a:gs pos="61000">
                <a:srgbClr val="E98C36"/>
              </a:gs>
            </a:gsLst>
            <a:lin ang="2700000" scaled="0"/>
          </a:gradFill>
          <a:ln w="12700">
            <a:gradFill>
              <a:gsLst>
                <a:gs pos="16000">
                  <a:schemeClr val="accent4">
                    <a:lumMod val="20000"/>
                    <a:lumOff val="80000"/>
                  </a:schemeClr>
                </a:gs>
                <a:gs pos="58000">
                  <a:srgbClr val="E98C36"/>
                </a:gs>
              </a:gsLst>
              <a:lin ang="2700000" scaled="0"/>
            </a:gradFill>
          </a:ln>
          <a:effectLst>
            <a:outerShdw blurRad="158021" sx="102000" sy="102000" algn="ctr" rotWithShape="0">
              <a:prstClr val="black">
                <a:alpha val="2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7" name="Afgeronde rechthoek 4">
            <a:extLst>
              <a:ext uri="{FF2B5EF4-FFF2-40B4-BE49-F238E27FC236}">
                <a16:creationId xmlns:a16="http://schemas.microsoft.com/office/drawing/2014/main" id="{6512E9E4-9B95-7954-3745-5B7DFC710C19}"/>
              </a:ext>
            </a:extLst>
          </p:cNvPr>
          <p:cNvSpPr/>
          <p:nvPr/>
        </p:nvSpPr>
        <p:spPr>
          <a:xfrm>
            <a:off x="3234047" y="3252689"/>
            <a:ext cx="6112511"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8" name="Afgeronde rechthoek 4">
            <a:extLst>
              <a:ext uri="{FF2B5EF4-FFF2-40B4-BE49-F238E27FC236}">
                <a16:creationId xmlns:a16="http://schemas.microsoft.com/office/drawing/2014/main" id="{F27BC448-4468-EA9E-A482-26966DD5E0A7}"/>
              </a:ext>
            </a:extLst>
          </p:cNvPr>
          <p:cNvSpPr/>
          <p:nvPr/>
        </p:nvSpPr>
        <p:spPr>
          <a:xfrm>
            <a:off x="3234047" y="3727474"/>
            <a:ext cx="4995554"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89" name="Afgeronde rechthoek 4">
            <a:extLst>
              <a:ext uri="{FF2B5EF4-FFF2-40B4-BE49-F238E27FC236}">
                <a16:creationId xmlns:a16="http://schemas.microsoft.com/office/drawing/2014/main" id="{DCBB745F-1E7A-DCD4-F9CA-B9BE6C18EB8A}"/>
              </a:ext>
            </a:extLst>
          </p:cNvPr>
          <p:cNvSpPr/>
          <p:nvPr/>
        </p:nvSpPr>
        <p:spPr>
          <a:xfrm>
            <a:off x="2079450" y="4184931"/>
            <a:ext cx="9597669"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90" name="Afgeronde rechthoek 4">
            <a:extLst>
              <a:ext uri="{FF2B5EF4-FFF2-40B4-BE49-F238E27FC236}">
                <a16:creationId xmlns:a16="http://schemas.microsoft.com/office/drawing/2014/main" id="{8FDE29E0-E140-7AE4-ABB5-5DF38D348344}"/>
              </a:ext>
            </a:extLst>
          </p:cNvPr>
          <p:cNvSpPr/>
          <p:nvPr/>
        </p:nvSpPr>
        <p:spPr>
          <a:xfrm>
            <a:off x="10137228" y="4644690"/>
            <a:ext cx="1539891" cy="339865"/>
          </a:xfrm>
          <a:prstGeom prst="roundRect">
            <a:avLst>
              <a:gd name="adj" fmla="val 50000"/>
            </a:avLst>
          </a:prstGeom>
          <a:gradFill>
            <a:gsLst>
              <a:gs pos="20000">
                <a:schemeClr val="accent4">
                  <a:alpha val="10000"/>
                </a:schemeClr>
              </a:gs>
              <a:gs pos="0">
                <a:schemeClr val="accent4">
                  <a:alpha val="30170"/>
                </a:schemeClr>
              </a:gs>
            </a:gsLst>
            <a:lin ang="4200000" scaled="0"/>
          </a:gra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Tree>
    <p:extLst>
      <p:ext uri="{BB962C8B-B14F-4D97-AF65-F5344CB8AC3E}">
        <p14:creationId xmlns:p14="http://schemas.microsoft.com/office/powerpoint/2010/main" val="42785375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6B8A-7C00-C575-7457-191C7FD7CFAD}"/>
            </a:ext>
          </a:extLst>
        </p:cNvPr>
        <p:cNvGrpSpPr/>
        <p:nvPr/>
      </p:nvGrpSpPr>
      <p:grpSpPr>
        <a:xfrm>
          <a:off x="0" y="0"/>
          <a:ext cx="0" cy="0"/>
          <a:chOff x="0" y="0"/>
          <a:chExt cx="0" cy="0"/>
        </a:xfrm>
      </p:grpSpPr>
      <p:grpSp>
        <p:nvGrpSpPr>
          <p:cNvPr id="68" name="Groep 6">
            <a:extLst>
              <a:ext uri="{FF2B5EF4-FFF2-40B4-BE49-F238E27FC236}">
                <a16:creationId xmlns:a16="http://schemas.microsoft.com/office/drawing/2014/main" id="{6B0DEB51-B2FE-F834-8777-2603B3D20B39}"/>
              </a:ext>
            </a:extLst>
          </p:cNvPr>
          <p:cNvGrpSpPr/>
          <p:nvPr/>
        </p:nvGrpSpPr>
        <p:grpSpPr>
          <a:xfrm>
            <a:off x="134319" y="1137285"/>
            <a:ext cx="11923362" cy="1426530"/>
            <a:chOff x="134319" y="1137285"/>
            <a:chExt cx="11923362" cy="1426530"/>
          </a:xfrm>
        </p:grpSpPr>
        <p:sp>
          <p:nvSpPr>
            <p:cNvPr id="69" name="Rechthoek 25">
              <a:extLst>
                <a:ext uri="{FF2B5EF4-FFF2-40B4-BE49-F238E27FC236}">
                  <a16:creationId xmlns:a16="http://schemas.microsoft.com/office/drawing/2014/main" id="{F62F3BBE-F027-D806-FFCD-85040BCE7D01}"/>
                </a:ext>
              </a:extLst>
            </p:cNvPr>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0" name="Afgeronde rechthoek 36">
              <a:extLst>
                <a:ext uri="{FF2B5EF4-FFF2-40B4-BE49-F238E27FC236}">
                  <a16:creationId xmlns:a16="http://schemas.microsoft.com/office/drawing/2014/main" id="{E1A4E865-37F0-9A34-FD7D-835BA918DD1E}"/>
                </a:ext>
              </a:extLst>
            </p:cNvPr>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72" name="TextBox 39">
              <a:extLst>
                <a:ext uri="{FF2B5EF4-FFF2-40B4-BE49-F238E27FC236}">
                  <a16:creationId xmlns:a16="http://schemas.microsoft.com/office/drawing/2014/main" id="{E0DB69D7-1842-B942-7F31-5E79154351F4}"/>
                </a:ext>
              </a:extLst>
            </p:cNvPr>
            <p:cNvSpPr txBox="1"/>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77" name="Afgeronde rechthoek 2">
              <a:extLst>
                <a:ext uri="{FF2B5EF4-FFF2-40B4-BE49-F238E27FC236}">
                  <a16:creationId xmlns:a16="http://schemas.microsoft.com/office/drawing/2014/main" id="{4E632430-34C6-9115-5659-8CA345289B29}"/>
                </a:ext>
              </a:extLst>
            </p:cNvPr>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79" name="Rechte verbindingslijn 8">
              <a:extLst>
                <a:ext uri="{FF2B5EF4-FFF2-40B4-BE49-F238E27FC236}">
                  <a16:creationId xmlns:a16="http://schemas.microsoft.com/office/drawing/2014/main" id="{DF949A42-8A7E-EEDC-FDCB-2F42B36E3D8F}"/>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1" name="Rechte verbindingslijn 9">
              <a:extLst>
                <a:ext uri="{FF2B5EF4-FFF2-40B4-BE49-F238E27FC236}">
                  <a16:creationId xmlns:a16="http://schemas.microsoft.com/office/drawing/2014/main" id="{82321C5C-F1A3-1ADC-CFDB-1BE9EE1CFE45}"/>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2" name="Rechte verbindingslijn 10">
              <a:extLst>
                <a:ext uri="{FF2B5EF4-FFF2-40B4-BE49-F238E27FC236}">
                  <a16:creationId xmlns:a16="http://schemas.microsoft.com/office/drawing/2014/main" id="{E108268E-41B0-FD95-ED4E-7897ADD92B47}"/>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83" name="Rechte verbindingslijn 12">
              <a:extLst>
                <a:ext uri="{FF2B5EF4-FFF2-40B4-BE49-F238E27FC236}">
                  <a16:creationId xmlns:a16="http://schemas.microsoft.com/office/drawing/2014/main" id="{03CDD57C-F5C9-5D96-0FF3-F3D5249E2A9E}"/>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84" name="Rechthoek 14">
              <a:extLst>
                <a:ext uri="{FF2B5EF4-FFF2-40B4-BE49-F238E27FC236}">
                  <a16:creationId xmlns:a16="http://schemas.microsoft.com/office/drawing/2014/main" id="{7663298D-4D08-EA75-E570-301709FB63B5}"/>
                </a:ext>
              </a:extLst>
            </p:cNvPr>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85" name="Afgeronde rechthoek 18">
              <a:extLst>
                <a:ext uri="{FF2B5EF4-FFF2-40B4-BE49-F238E27FC236}">
                  <a16:creationId xmlns:a16="http://schemas.microsoft.com/office/drawing/2014/main" id="{A5FAAF41-C124-ED48-3B06-0E05FE2716BD}"/>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86" name="Afgeronde rechthoek 19">
              <a:extLst>
                <a:ext uri="{FF2B5EF4-FFF2-40B4-BE49-F238E27FC236}">
                  <a16:creationId xmlns:a16="http://schemas.microsoft.com/office/drawing/2014/main" id="{498A98D2-8FFB-F176-FF97-11B1FF459B19}"/>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87" name="Afgeronde rechthoek 20">
              <a:extLst>
                <a:ext uri="{FF2B5EF4-FFF2-40B4-BE49-F238E27FC236}">
                  <a16:creationId xmlns:a16="http://schemas.microsoft.com/office/drawing/2014/main" id="{7F5F2E8F-73B0-A7E0-AAF4-9EE5770CF8D5}"/>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88" name="Afgeronde rechthoek 21">
              <a:extLst>
                <a:ext uri="{FF2B5EF4-FFF2-40B4-BE49-F238E27FC236}">
                  <a16:creationId xmlns:a16="http://schemas.microsoft.com/office/drawing/2014/main" id="{CE4A8CD8-E211-19E8-2A9B-E2339DFE182C}"/>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89" name="Afgeronde rechthoek 22">
              <a:extLst>
                <a:ext uri="{FF2B5EF4-FFF2-40B4-BE49-F238E27FC236}">
                  <a16:creationId xmlns:a16="http://schemas.microsoft.com/office/drawing/2014/main" id="{91EA6B1C-419C-984B-628F-BF569F9E6635}"/>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90" name="Afgeronde rechthoek 23">
              <a:extLst>
                <a:ext uri="{FF2B5EF4-FFF2-40B4-BE49-F238E27FC236}">
                  <a16:creationId xmlns:a16="http://schemas.microsoft.com/office/drawing/2014/main" id="{57F1BCDC-2201-676E-E672-58D1F045E3EC}"/>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91" name="Rectangle 29">
              <a:extLst>
                <a:ext uri="{FF2B5EF4-FFF2-40B4-BE49-F238E27FC236}">
                  <a16:creationId xmlns:a16="http://schemas.microsoft.com/office/drawing/2014/main" id="{8F2CF3F5-6DDD-DD26-B94B-228E7E2A9207}"/>
                </a:ext>
              </a:extLst>
            </p:cNvPr>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2" name="Rectangle 34">
              <a:extLst>
                <a:ext uri="{FF2B5EF4-FFF2-40B4-BE49-F238E27FC236}">
                  <a16:creationId xmlns:a16="http://schemas.microsoft.com/office/drawing/2014/main" id="{A9B6994F-DDB5-543C-0A4C-09D790753C2A}"/>
                </a:ext>
              </a:extLst>
            </p:cNvPr>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3" name="Rectangle 35">
              <a:extLst>
                <a:ext uri="{FF2B5EF4-FFF2-40B4-BE49-F238E27FC236}">
                  <a16:creationId xmlns:a16="http://schemas.microsoft.com/office/drawing/2014/main" id="{CDFCB27B-9C34-D648-B912-48313CC5A18A}"/>
                </a:ext>
              </a:extLst>
            </p:cNvPr>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94" name="Rectangle 36">
              <a:extLst>
                <a:ext uri="{FF2B5EF4-FFF2-40B4-BE49-F238E27FC236}">
                  <a16:creationId xmlns:a16="http://schemas.microsoft.com/office/drawing/2014/main" id="{D6D645DA-F400-D23F-2E6A-8F7B3B74EB03}"/>
                </a:ext>
              </a:extLst>
            </p:cNvPr>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95" name="Rectangle 37">
              <a:extLst>
                <a:ext uri="{FF2B5EF4-FFF2-40B4-BE49-F238E27FC236}">
                  <a16:creationId xmlns:a16="http://schemas.microsoft.com/office/drawing/2014/main" id="{02A52E32-90C2-9F1D-5BEC-07FB7A0CC76C}"/>
                </a:ext>
              </a:extLst>
            </p:cNvPr>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96" name="Rechte verbindingslijn 77">
              <a:extLst>
                <a:ext uri="{FF2B5EF4-FFF2-40B4-BE49-F238E27FC236}">
                  <a16:creationId xmlns:a16="http://schemas.microsoft.com/office/drawing/2014/main" id="{A6E6830D-28D0-4E29-B40C-0F125AB5CEB2}"/>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97" name="Rechte verbindingslijn 79">
              <a:extLst>
                <a:ext uri="{FF2B5EF4-FFF2-40B4-BE49-F238E27FC236}">
                  <a16:creationId xmlns:a16="http://schemas.microsoft.com/office/drawing/2014/main" id="{E3D5E980-DCCD-CC53-AEBE-BD8A28D28CDF}"/>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98" name="Graphic 97">
              <a:extLst>
                <a:ext uri="{FF2B5EF4-FFF2-40B4-BE49-F238E27FC236}">
                  <a16:creationId xmlns:a16="http://schemas.microsoft.com/office/drawing/2014/main" id="{6184C160-E2F7-3EE1-80A1-FA0E7C453FAF}"/>
                </a:ext>
              </a:extLst>
            </p:cNvPr>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99" name="Rechte verbindingslijn 27">
              <a:extLst>
                <a:ext uri="{FF2B5EF4-FFF2-40B4-BE49-F238E27FC236}">
                  <a16:creationId xmlns:a16="http://schemas.microsoft.com/office/drawing/2014/main" id="{D4B51BB0-9CB9-13BD-8469-038BBA75B4CA}"/>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100" name="Graphic 99">
              <a:extLst>
                <a:ext uri="{FF2B5EF4-FFF2-40B4-BE49-F238E27FC236}">
                  <a16:creationId xmlns:a16="http://schemas.microsoft.com/office/drawing/2014/main" id="{00092586-1408-3B9B-0915-DD60B92E3ACB}"/>
                </a:ext>
              </a:extLst>
            </p:cNvPr>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2" name="Tijdelijke aanduiding voor tekst 1">
            <a:extLst>
              <a:ext uri="{FF2B5EF4-FFF2-40B4-BE49-F238E27FC236}">
                <a16:creationId xmlns:a16="http://schemas.microsoft.com/office/drawing/2014/main" id="{C9023B7C-A473-4E6D-F108-E3D1F0A95D94}"/>
              </a:ext>
            </a:extLst>
          </p:cNvPr>
          <p:cNvSpPr>
            <a:spLocks noGrp="1"/>
          </p:cNvSpPr>
          <p:nvPr>
            <p:ph type="body" sz="quarter" idx="12"/>
          </p:nvPr>
        </p:nvSpPr>
        <p:spPr>
          <a:xfrm>
            <a:off x="381000" y="129609"/>
            <a:ext cx="3096535" cy="228145"/>
          </a:xfrm>
        </p:spPr>
        <p:txBody>
          <a:bodyPr/>
          <a:lstStyle/>
          <a:p>
            <a:r>
              <a:rPr lang="en-US" noProof="0" dirty="0"/>
              <a:t>Key findings – Architecture quality</a:t>
            </a:r>
          </a:p>
        </p:txBody>
      </p:sp>
      <p:sp>
        <p:nvSpPr>
          <p:cNvPr id="4" name="Tijdelijke aanduiding voor voettekst 3">
            <a:extLst>
              <a:ext uri="{FF2B5EF4-FFF2-40B4-BE49-F238E27FC236}">
                <a16:creationId xmlns:a16="http://schemas.microsoft.com/office/drawing/2014/main" id="{5D74ABEF-BBA7-7EB8-0A5E-BB2FB1DE2F0D}"/>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5278C1DA-0A09-03B2-12F4-1C97F1DE4444}"/>
              </a:ext>
            </a:extLst>
          </p:cNvPr>
          <p:cNvSpPr>
            <a:spLocks noGrp="1"/>
          </p:cNvSpPr>
          <p:nvPr>
            <p:ph type="sldNum" sz="quarter" idx="15"/>
          </p:nvPr>
        </p:nvSpPr>
        <p:spPr/>
        <p:txBody>
          <a:bodyPr/>
          <a:lstStyle/>
          <a:p>
            <a:fld id="{E242BD21-9B61-2246-BCB1-4BE5E1BEBE1C}" type="slidenum">
              <a:rPr lang="en-US" noProof="0" smtClean="0"/>
              <a:pPr/>
              <a:t>15</a:t>
            </a:fld>
            <a:endParaRPr lang="en-US" noProof="0" dirty="0"/>
          </a:p>
        </p:txBody>
      </p:sp>
      <p:sp>
        <p:nvSpPr>
          <p:cNvPr id="53" name="Titel 52">
            <a:extLst>
              <a:ext uri="{FF2B5EF4-FFF2-40B4-BE49-F238E27FC236}">
                <a16:creationId xmlns:a16="http://schemas.microsoft.com/office/drawing/2014/main" id="{096AE361-6DBC-B794-EDAB-4DC17958C495}"/>
              </a:ext>
            </a:extLst>
          </p:cNvPr>
          <p:cNvSpPr>
            <a:spLocks noGrp="1"/>
          </p:cNvSpPr>
          <p:nvPr>
            <p:ph type="title"/>
          </p:nvPr>
        </p:nvSpPr>
        <p:spPr>
          <a:xfrm>
            <a:off x="154800" y="440112"/>
            <a:ext cx="11880000" cy="710067"/>
          </a:xfrm>
        </p:spPr>
        <p:txBody>
          <a:bodyPr/>
          <a:lstStyle/>
          <a:p>
            <a:r>
              <a:rPr lang="en-US" noProof="0" dirty="0"/>
              <a:t>Integrationtest-kafka scores at market average (2.6 </a:t>
            </a:r>
            <a:r>
              <a:rPr lang="en-US" noProof="0" dirty="0">
                <a:latin typeface="Calibri" panose="020F0502020204030204" pitchFamily="34" charset="0"/>
                <a:cs typeface="Calibri" panose="020F0502020204030204" pitchFamily="34" charset="0"/>
              </a:rPr>
              <a:t>★</a:t>
            </a:r>
            <a:r>
              <a:rPr lang="en-US" noProof="0" dirty="0"/>
              <a:t>) for Architecture Quality</a:t>
            </a:r>
          </a:p>
        </p:txBody>
      </p:sp>
      <p:cxnSp>
        <p:nvCxnSpPr>
          <p:cNvPr id="47" name="Rechte verbindingslijn 46">
            <a:extLst>
              <a:ext uri="{FF2B5EF4-FFF2-40B4-BE49-F238E27FC236}">
                <a16:creationId xmlns:a16="http://schemas.microsoft.com/office/drawing/2014/main" id="{25670B74-994D-55A0-AD07-98A248D48DB6}"/>
              </a:ext>
            </a:extLst>
          </p:cNvPr>
          <p:cNvCxnSpPr>
            <a:cxnSpLocks/>
          </p:cNvCxnSpPr>
          <p:nvPr/>
        </p:nvCxnSpPr>
        <p:spPr>
          <a:xfrm>
            <a:off x="8234879" y="2821727"/>
            <a:ext cx="0" cy="2897755"/>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4DBF2D50-43B3-9D1D-1C7D-6BB92C13BCD3}"/>
              </a:ext>
            </a:extLst>
          </p:cNvPr>
          <p:cNvSpPr txBox="1">
            <a:spLocks noGrp="1" noRot="1" noMove="1" noResize="1" noEditPoints="1" noAdjustHandles="1" noChangeArrowheads="1" noChangeShapeType="1"/>
          </p:cNvSpPr>
          <p:nvPr/>
        </p:nvSpPr>
        <p:spPr>
          <a:xfrm>
            <a:off x="8395675"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EC064487-82CA-6298-4D63-838846DA7153}"/>
              </a:ext>
            </a:extLst>
          </p:cNvPr>
          <p:cNvGraphicFramePr>
            <a:graphicFrameLocks noGrp="1"/>
          </p:cNvGraphicFramePr>
          <p:nvPr>
            <p:extLst>
              <p:ext uri="{D42A27DB-BD31-4B8C-83A1-F6EECF244321}">
                <p14:modId xmlns:p14="http://schemas.microsoft.com/office/powerpoint/2010/main" val="4151534412"/>
              </p:ext>
            </p:extLst>
          </p:nvPr>
        </p:nvGraphicFramePr>
        <p:xfrm>
          <a:off x="8395675" y="3035953"/>
          <a:ext cx="3292327" cy="3857544"/>
        </p:xfrm>
        <a:graphic>
          <a:graphicData uri="http://schemas.openxmlformats.org/drawingml/2006/table">
            <a:tbl>
              <a:tblPr>
                <a:tableStyleId>{5940675A-B579-460E-94D1-54222C63F5DA}</a:tableStyleId>
              </a:tblPr>
              <a:tblGrid>
                <a:gridCol w="2046681">
                  <a:extLst>
                    <a:ext uri="{9D8B030D-6E8A-4147-A177-3AD203B41FA5}">
                      <a16:colId xmlns:a16="http://schemas.microsoft.com/office/drawing/2014/main" val="20000"/>
                    </a:ext>
                  </a:extLst>
                </a:gridCol>
                <a:gridCol w="817445">
                  <a:extLst>
                    <a:ext uri="{9D8B030D-6E8A-4147-A177-3AD203B41FA5}">
                      <a16:colId xmlns:a16="http://schemas.microsoft.com/office/drawing/2014/main" val="335839943"/>
                    </a:ext>
                  </a:extLst>
                </a:gridCol>
                <a:gridCol w="428201">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Code breakdown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2.1</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adjacency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1.8</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cohesion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Communication centralization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Data coupling</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3.5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733660516"/>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Bounded evolution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4.6</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552530004"/>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Knowledge distribution</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8207179"/>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Component 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kern="1200"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kern="1200"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2.3</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71855687"/>
                  </a:ext>
                </a:extLst>
              </a:tr>
            </a:tbl>
          </a:graphicData>
        </a:graphic>
      </p:graphicFrame>
      <p:graphicFrame>
        <p:nvGraphicFramePr>
          <p:cNvPr id="74" name="Table 3">
            <a:extLst>
              <a:ext uri="{FF2B5EF4-FFF2-40B4-BE49-F238E27FC236}">
                <a16:creationId xmlns:a16="http://schemas.microsoft.com/office/drawing/2014/main" id="{823BDAA0-459C-E350-9690-A1457832995E}"/>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A05C33E1-20E4-89ED-347A-3028FC9719E4}"/>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Architecture quality</a:t>
            </a:r>
          </a:p>
        </p:txBody>
      </p:sp>
      <p:sp>
        <p:nvSpPr>
          <p:cNvPr id="76" name="TextBox 39">
            <a:extLst>
              <a:ext uri="{FF2B5EF4-FFF2-40B4-BE49-F238E27FC236}">
                <a16:creationId xmlns:a16="http://schemas.microsoft.com/office/drawing/2014/main" id="{627BA5DB-ADE1-55DF-349E-456F831C4234}"/>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a:t>
            </a:r>
            <a:r>
              <a:rPr lang="en-US" sz="800" noProof="0" dirty="0" err="1">
                <a:solidFill>
                  <a:srgbClr val="152F73"/>
                </a:solidFill>
                <a:latin typeface="Azeret Mono" pitchFamily="2" charset="77"/>
                <a:cs typeface="Azeret Mono" pitchFamily="2" charset="77"/>
              </a:rPr>
              <a:t>15 March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A90CCEF1-0D7F-A990-DCAA-3B1F056EDCF7}"/>
              </a:ext>
            </a:extLst>
          </p:cNvPr>
          <p:cNvGrpSpPr/>
          <p:nvPr/>
        </p:nvGrpSpPr>
        <p:grpSpPr>
          <a:xfrm>
            <a:off x="4753468" y="1466322"/>
            <a:ext cx="913712" cy="884878"/>
            <a:chOff x="5633468" y="1730647"/>
            <a:chExt cx="913712" cy="884878"/>
          </a:xfrm>
        </p:grpSpPr>
        <p:sp>
          <p:nvSpPr>
            <p:cNvPr id="71" name="TextBox 42">
              <a:extLst>
                <a:ext uri="{FF2B5EF4-FFF2-40B4-BE49-F238E27FC236}">
                  <a16:creationId xmlns:a16="http://schemas.microsoft.com/office/drawing/2014/main" id="{83DAF973-8321-71A3-7FE1-2C44138B02F1}"/>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EE0ABF83-8B60-6866-F885-2186595DE31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4CE8562A-8EBE-7476-822E-7617D83FB982}"/>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2.6</a:t>
              </a:r>
              <a:endParaRPr lang="en-US" sz="1000" noProof="0" dirty="0">
                <a:solidFill>
                  <a:schemeClr val="tx1"/>
                </a:solidFill>
                <a:latin typeface="☞NOIR PRO MEDIUM" pitchFamily="2" charset="0"/>
              </a:endParaRPr>
            </a:p>
          </p:txBody>
        </p:sp>
      </p:grpSp>
      <p:sp>
        <p:nvSpPr>
          <p:cNvPr id="16" name="Hexagon 15">
            <a:extLst>
              <a:ext uri="{FF2B5EF4-FFF2-40B4-BE49-F238E27FC236}">
                <a16:creationId xmlns:a16="http://schemas.microsoft.com/office/drawing/2014/main" id="{ED0ADA17-128F-6A3D-D2F9-7B6FDC4001CE}"/>
              </a:ext>
            </a:extLst>
          </p:cNvPr>
          <p:cNvSpPr/>
          <p:nvPr/>
        </p:nvSpPr>
        <p:spPr>
          <a:xfrm>
            <a:off x="707921" y="3519047"/>
            <a:ext cx="1427142" cy="1299028"/>
          </a:xfrm>
          <a:prstGeom prst="hexagon">
            <a:avLst/>
          </a:prstGeom>
          <a:solidFill>
            <a:srgbClr val="E8993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b="1" noProof="0" dirty="0">
                <a:solidFill>
                  <a:schemeClr val="bg1"/>
                </a:solidFill>
              </a:rPr>
              <a:t>Knowledge</a:t>
            </a:r>
          </a:p>
          <a:p>
            <a:pPr algn="ctr">
              <a:defRPr/>
            </a:pPr>
            <a:r>
              <a:rPr kumimoji="0" lang="en-US" sz="1200" b="0" i="0" u="none" strike="noStrike" kern="1200" cap="none" spc="0" normalizeH="0" baseline="0" noProof="0" dirty="0">
                <a:ln>
                  <a:noFill/>
                </a:ln>
                <a:solidFill>
                  <a:srgbClr val="FFFFFF"/>
                </a:solidFill>
                <a:effectLst/>
                <a:uLnTx/>
                <a:uFillTx/>
                <a:latin typeface="Calibri" panose="020F0502020204030204"/>
                <a:ea typeface="+mn-ea"/>
                <a:cs typeface="+mn-cs"/>
              </a:rPr>
              <a:t>2.3 ★</a:t>
            </a:r>
            <a:endParaRPr kumimoji="0" lang="en-US" sz="1050" u="none" strike="noStrike" kern="1200" cap="none" spc="0" normalizeH="0" baseline="0" noProof="0" dirty="0">
              <a:ln>
                <a:noFill/>
              </a:ln>
              <a:solidFill>
                <a:srgbClr val="FFFFFF"/>
              </a:solidFill>
              <a:effectLst/>
              <a:uLnTx/>
              <a:uFillTx/>
              <a:latin typeface="Sigsterren" pitchFamily="2" charset="0"/>
            </a:endParaRPr>
          </a:p>
        </p:txBody>
      </p:sp>
      <p:sp>
        <p:nvSpPr>
          <p:cNvPr id="17" name="Hexagon 16">
            <a:extLst>
              <a:ext uri="{FF2B5EF4-FFF2-40B4-BE49-F238E27FC236}">
                <a16:creationId xmlns:a16="http://schemas.microsoft.com/office/drawing/2014/main" id="{5E3E2333-CF2E-CB39-4395-42A9EB95BD8E}"/>
              </a:ext>
            </a:extLst>
          </p:cNvPr>
          <p:cNvSpPr/>
          <p:nvPr/>
        </p:nvSpPr>
        <p:spPr>
          <a:xfrm>
            <a:off x="1862482" y="2869533"/>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900" noProof="0" dirty="0">
                <a:solidFill>
                  <a:srgbClr val="1E354B"/>
                </a:solidFill>
              </a:rPr>
              <a:t>Communication</a:t>
            </a:r>
          </a:p>
          <a:p>
            <a:pPr algn="ctr">
              <a:defRPr/>
            </a:pPr>
            <a:r>
              <a:rPr lang="en-US" sz="1200" noProof="0" dirty="0">
                <a:solidFill>
                  <a:srgbClr val="1E354B"/>
                </a:solidFill>
                <a:latin typeface="Calibri" panose="020F0502020204030204"/>
              </a:rPr>
              <a:t>2.8</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25" name="Hexagon 24">
            <a:extLst>
              <a:ext uri="{FF2B5EF4-FFF2-40B4-BE49-F238E27FC236}">
                <a16:creationId xmlns:a16="http://schemas.microsoft.com/office/drawing/2014/main" id="{7A06B6EF-AB98-D5CE-88A2-E77A3B25B548}"/>
              </a:ext>
            </a:extLst>
          </p:cNvPr>
          <p:cNvSpPr/>
          <p:nvPr/>
        </p:nvSpPr>
        <p:spPr>
          <a:xfrm>
            <a:off x="1862482" y="421297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Structure</a:t>
            </a:r>
          </a:p>
          <a:p>
            <a:pPr algn="ctr"/>
            <a:r>
              <a:rPr lang="en-US" sz="1200" noProof="0" dirty="0">
                <a:solidFill>
                  <a:srgbClr val="1E354B"/>
                </a:solidFill>
              </a:rPr>
              <a:t>2.7 ★</a:t>
            </a:r>
            <a:endParaRPr lang="en-US" sz="1050" noProof="0" dirty="0">
              <a:solidFill>
                <a:srgbClr val="1E354B"/>
              </a:solidFill>
              <a:latin typeface="Sigsterren" pitchFamily="2" charset="0"/>
            </a:endParaRPr>
          </a:p>
        </p:txBody>
      </p:sp>
      <p:sp>
        <p:nvSpPr>
          <p:cNvPr id="29" name="Hexagon 28">
            <a:extLst>
              <a:ext uri="{FF2B5EF4-FFF2-40B4-BE49-F238E27FC236}">
                <a16:creationId xmlns:a16="http://schemas.microsoft.com/office/drawing/2014/main" id="{FDF57ABA-B6E0-13E7-A935-32521C040FF3}"/>
              </a:ext>
            </a:extLst>
          </p:cNvPr>
          <p:cNvSpPr/>
          <p:nvPr/>
        </p:nvSpPr>
        <p:spPr>
          <a:xfrm>
            <a:off x="707921" y="487919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Evolution</a:t>
            </a:r>
          </a:p>
          <a:p>
            <a:pPr algn="ctr">
              <a:defRPr/>
            </a:pP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2.6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0" name="Hexagon 29">
            <a:extLst>
              <a:ext uri="{FF2B5EF4-FFF2-40B4-BE49-F238E27FC236}">
                <a16:creationId xmlns:a16="http://schemas.microsoft.com/office/drawing/2014/main" id="{B1275457-DED3-801E-77EE-D83D1FE14B37}"/>
              </a:ext>
            </a:extLst>
          </p:cNvPr>
          <p:cNvSpPr/>
          <p:nvPr/>
        </p:nvSpPr>
        <p:spPr>
          <a:xfrm>
            <a:off x="3034403" y="3519047"/>
            <a:ext cx="1427142" cy="1299028"/>
          </a:xfrm>
          <a:prstGeom prst="hexagon">
            <a:avLst/>
          </a:prstGeom>
          <a:solidFill>
            <a:srgbClr val="E9C34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Data Access</a:t>
            </a:r>
          </a:p>
          <a:p>
            <a:pPr algn="ctr">
              <a:defRPr/>
            </a:pPr>
            <a:r>
              <a:rPr lang="en-US" sz="1200" noProof="0" dirty="0">
                <a:solidFill>
                  <a:srgbClr val="1E354B"/>
                </a:solidFill>
                <a:latin typeface="Calibri" panose="020F0502020204030204"/>
              </a:rPr>
              <a:t>2.5</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1" name="Hexagon 30">
            <a:extLst>
              <a:ext uri="{FF2B5EF4-FFF2-40B4-BE49-F238E27FC236}">
                <a16:creationId xmlns:a16="http://schemas.microsoft.com/office/drawing/2014/main" id="{37FCEF89-149E-5604-15A3-6B3D61BA84D3}"/>
              </a:ext>
            </a:extLst>
          </p:cNvPr>
          <p:cNvSpPr/>
          <p:nvPr/>
        </p:nvSpPr>
        <p:spPr>
          <a:xfrm>
            <a:off x="3017043" y="4879197"/>
            <a:ext cx="1427142" cy="1299028"/>
          </a:xfrm>
          <a:prstGeom prst="hexagon">
            <a:avLst/>
          </a:prstGeom>
          <a:solidFill>
            <a:srgbClr val="91909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100" noProof="0" dirty="0">
                <a:solidFill>
                  <a:srgbClr val="1E354B"/>
                </a:solidFill>
              </a:rPr>
              <a:t>Technology Stack</a:t>
            </a:r>
          </a:p>
          <a:p>
            <a:pPr algn="ctr">
              <a:defRPr/>
            </a:pPr>
            <a:r>
              <a:rPr lang="en-US" sz="1200" noProof="0" dirty="0">
                <a:solidFill>
                  <a:srgbClr val="1E354B"/>
                </a:solidFill>
                <a:latin typeface="Calibri" panose="020F0502020204030204"/>
              </a:rPr>
              <a:t>N/A</a:t>
            </a:r>
            <a:r>
              <a:rPr kumimoji="0" lang="en-US" sz="1200" b="0" i="0" u="none" strike="noStrike" kern="1200" cap="none" spc="0" normalizeH="0" baseline="0" noProof="0" dirty="0">
                <a:ln>
                  <a:noFill/>
                </a:ln>
                <a:solidFill>
                  <a:srgbClr val="1E354B"/>
                </a:solidFill>
                <a:effectLst/>
                <a:uLnTx/>
                <a:uFillTx/>
                <a:latin typeface="Calibri" panose="020F0502020204030204"/>
                <a:ea typeface="+mn-ea"/>
                <a:cs typeface="+mn-cs"/>
              </a:rPr>
              <a:t> ★</a:t>
            </a:r>
            <a:endParaRPr kumimoji="0" lang="en-US" sz="1050" u="none" strike="noStrike" kern="1200" cap="none" spc="0" normalizeH="0" baseline="0" noProof="0" dirty="0">
              <a:ln>
                <a:noFill/>
              </a:ln>
              <a:solidFill>
                <a:srgbClr val="1E354B"/>
              </a:solidFill>
              <a:effectLst/>
              <a:uLnTx/>
              <a:uFillTx/>
              <a:latin typeface="Sigsterren" pitchFamily="2" charset="0"/>
            </a:endParaRPr>
          </a:p>
        </p:txBody>
      </p:sp>
      <p:sp>
        <p:nvSpPr>
          <p:cNvPr id="39" name="TextBox 38">
            <a:extLst>
              <a:ext uri="{FF2B5EF4-FFF2-40B4-BE49-F238E27FC236}">
                <a16:creationId xmlns:a16="http://schemas.microsoft.com/office/drawing/2014/main" id="{750F924A-2375-295D-4FA1-E0595583258E}"/>
              </a:ext>
            </a:extLst>
          </p:cNvPr>
          <p:cNvSpPr txBox="1"/>
          <p:nvPr/>
        </p:nvSpPr>
        <p:spPr>
          <a:xfrm>
            <a:off x="4651513" y="3050651"/>
            <a:ext cx="3288794" cy="830997"/>
          </a:xfrm>
          <a:prstGeom prst="rect">
            <a:avLst/>
          </a:prstGeom>
          <a:noFill/>
        </p:spPr>
        <p:txBody>
          <a:bodyPr wrap="square">
            <a:spAutoFit/>
          </a:bodyPr>
          <a:lstStyle/>
          <a:p>
            <a:r>
              <a:rPr lang="en-US" sz="1600" noProof="0" dirty="0" err="1"/>
              <a:t>The system's low score in Component Coupling constrains architecture, constraining evolution and imposing high-impact changes, impeding system adaptability.</a:t>
            </a:r>
            <a:endParaRPr lang="en-US" sz="1600" noProof="0" dirty="0"/>
          </a:p>
          <a:p>
            <a:br>
              <a:rPr lang="en-US" sz="1600" noProof="0" dirty="0"/>
            </a:br>
            <a:r>
              <a:rPr lang="en-US" sz="1600" noProof="0" dirty="0" err="1"/>
              <a:t>The system's high score in Bounded Evolution signifies limited updates for components, preventing excessive dependencies and knowledge centralization, and promoting a more balanced and adaptable system.</a:t>
            </a:r>
            <a:endParaRPr lang="en-US" sz="2400" noProof="0" dirty="0"/>
          </a:p>
        </p:txBody>
      </p:sp>
    </p:spTree>
    <p:extLst>
      <p:ext uri="{BB962C8B-B14F-4D97-AF65-F5344CB8AC3E}">
        <p14:creationId xmlns:p14="http://schemas.microsoft.com/office/powerpoint/2010/main" val="1110005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83691-EEF8-B68C-5A5F-30410C866211}"/>
            </a:ext>
          </a:extLst>
        </p:cNvPr>
        <p:cNvGrpSpPr/>
        <p:nvPr/>
      </p:nvGrpSpPr>
      <p:grpSpPr>
        <a:xfrm>
          <a:off x="0" y="0"/>
          <a:ext cx="0" cy="0"/>
          <a:chOff x="0" y="0"/>
          <a:chExt cx="0" cy="0"/>
        </a:xfrm>
      </p:grpSpPr>
      <p:sp>
        <p:nvSpPr>
          <p:cNvPr id="92" name="Oval 91">
            <a:extLst>
              <a:ext uri="{FF2B5EF4-FFF2-40B4-BE49-F238E27FC236}">
                <a16:creationId xmlns:a16="http://schemas.microsoft.com/office/drawing/2014/main" id="{B6C70F8F-27F3-4CF3-FECD-439D34C6752D}"/>
              </a:ext>
            </a:extLst>
          </p:cNvPr>
          <p:cNvSpPr>
            <a:spLocks noGrp="1" noRot="1" noMove="1" noResize="1" noEditPoints="1" noAdjustHandles="1" noChangeArrowheads="1" noChangeShapeType="1"/>
          </p:cNvSpPr>
          <p:nvPr/>
        </p:nvSpPr>
        <p:spPr>
          <a:xfrm>
            <a:off x="3385191" y="1063763"/>
            <a:ext cx="5340638" cy="5340638"/>
          </a:xfrm>
          <a:prstGeom prst="ellipse">
            <a:avLst/>
          </a:prstGeom>
          <a:gradFill>
            <a:gsLst>
              <a:gs pos="0">
                <a:schemeClr val="accent3">
                  <a:alpha val="15000"/>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65" name="Oval 64">
            <a:extLst>
              <a:ext uri="{FF2B5EF4-FFF2-40B4-BE49-F238E27FC236}">
                <a16:creationId xmlns:a16="http://schemas.microsoft.com/office/drawing/2014/main" id="{95C27F98-D0CE-D5B9-C55D-97BBC5A5BFF2}"/>
              </a:ext>
            </a:extLst>
          </p:cNvPr>
          <p:cNvSpPr>
            <a:spLocks noGrp="1" noRot="1" noMove="1" noResize="1" noEditPoints="1" noAdjustHandles="1" noChangeArrowheads="1" noChangeShapeType="1"/>
          </p:cNvSpPr>
          <p:nvPr/>
        </p:nvSpPr>
        <p:spPr>
          <a:xfrm>
            <a:off x="4004388" y="1634792"/>
            <a:ext cx="4180824" cy="4180824"/>
          </a:xfrm>
          <a:prstGeom prst="ellipse">
            <a:avLst/>
          </a:prstGeom>
          <a:gradFill>
            <a:gsLst>
              <a:gs pos="0">
                <a:schemeClr val="accent3">
                  <a:alpha val="30871"/>
                </a:schemeClr>
              </a:gs>
              <a:gs pos="43000">
                <a:schemeClr val="accent3">
                  <a:alpha val="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99C9D0E3-9C9E-5F23-111D-96C14386A39D}"/>
              </a:ext>
            </a:extLst>
          </p:cNvPr>
          <p:cNvSpPr txBox="1">
            <a:spLocks noGrp="1" noRot="1" noMove="1" noResize="1" noEditPoints="1" noAdjustHandles="1" noChangeArrowheads="1" noChangeShapeType="1"/>
          </p:cNvSpPr>
          <p:nvPr/>
        </p:nvSpPr>
        <p:spPr>
          <a:xfrm>
            <a:off x="4420303" y="2076017"/>
            <a:ext cx="3351394" cy="3317250"/>
          </a:xfrm>
          <a:prstGeom prst="rect">
            <a:avLst/>
          </a:prstGeom>
          <a:noFill/>
        </p:spPr>
        <p:txBody>
          <a:bodyPr wrap="none" lIns="90000" rtlCol="0" anchor="t">
            <a:prstTxWarp prst="textArchUp">
              <a:avLst>
                <a:gd name="adj" fmla="val 9056230"/>
              </a:avLst>
            </a:prstTxWarp>
            <a:spAutoFit/>
          </a:bodyPr>
          <a:lstStyle/>
          <a:p>
            <a:pPr marL="0" marR="0" lvl="0" indent="0" algn="ctr" defTabSz="914400" rtl="0" eaLnBrk="1" fontAlgn="auto" latinLnBrk="0" hangingPunct="1">
              <a:lnSpc>
                <a:spcPct val="113000"/>
              </a:lnSpc>
              <a:spcBef>
                <a:spcPts val="0"/>
              </a:spcBef>
              <a:spcAft>
                <a:spcPts val="0"/>
              </a:spcAft>
              <a:buClrTx/>
              <a:buSzTx/>
              <a:buFontTx/>
              <a:buNone/>
              <a:tabLst/>
              <a:defRPr/>
            </a:pPr>
            <a:r>
              <a:rPr kumimoji="0" lang="en-US" sz="1800" b="0" i="0" u="none" strike="noStrike" kern="1200" cap="none" spc="0" normalizeH="0" baseline="0" noProof="0" dirty="0">
                <a:ln>
                  <a:noFill/>
                </a:ln>
                <a:gradFill>
                  <a:gsLst>
                    <a:gs pos="43000">
                      <a:srgbClr val="FFFFFF"/>
                    </a:gs>
                    <a:gs pos="9000">
                      <a:srgbClr val="88ADF5">
                        <a:lumMod val="60000"/>
                        <a:lumOff val="40000"/>
                      </a:srgbClr>
                    </a:gs>
                  </a:gsLst>
                  <a:lin ang="9600000" scaled="0"/>
                </a:gradFill>
                <a:effectLst>
                  <a:outerShdw blurRad="113571" dist="44478" dir="16200000" rotWithShape="0">
                    <a:prstClr val="black">
                      <a:alpha val="40000"/>
                    </a:prstClr>
                  </a:outerShdw>
                </a:effectLst>
                <a:uLnTx/>
                <a:uFillTx/>
                <a:latin typeface="Noir Pro Semi Bold" pitchFamily="2" charset="0"/>
                <a:ea typeface="+mn-ea"/>
                <a:cs typeface="+mn-cs"/>
              </a:rPr>
              <a:t>Open Source Health</a:t>
            </a:r>
          </a:p>
        </p:txBody>
      </p:sp>
      <p:sp>
        <p:nvSpPr>
          <p:cNvPr id="63" name="Text Placeholder 62">
            <a:extLst>
              <a:ext uri="{FF2B5EF4-FFF2-40B4-BE49-F238E27FC236}">
                <a16:creationId xmlns:a16="http://schemas.microsoft.com/office/drawing/2014/main" id="{4470666D-AB22-177C-6C7A-D16FF6FB971C}"/>
              </a:ext>
            </a:extLst>
          </p:cNvPr>
          <p:cNvSpPr>
            <a:spLocks noGrp="1" noRot="1" noMove="1" noResize="1" noEditPoints="1" noAdjustHandles="1" noChangeArrowheads="1" noChangeShapeType="1"/>
          </p:cNvSpPr>
          <p:nvPr>
            <p:ph type="body" sz="quarter" idx="12"/>
          </p:nvPr>
        </p:nvSpPr>
        <p:spPr>
          <a:xfrm>
            <a:off x="381600" y="129568"/>
            <a:ext cx="1663129" cy="228209"/>
          </a:xfrm>
        </p:spPr>
        <p:txBody>
          <a:bodyPr/>
          <a:lstStyle/>
          <a:p>
            <a:r>
              <a:rPr lang="en-US" noProof="0" dirty="0"/>
              <a:t>Model Introduction</a:t>
            </a:r>
          </a:p>
        </p:txBody>
      </p:sp>
      <p:sp>
        <p:nvSpPr>
          <p:cNvPr id="4" name="Tijdelijke aanduiding voor voettekst 3">
            <a:extLst>
              <a:ext uri="{FF2B5EF4-FFF2-40B4-BE49-F238E27FC236}">
                <a16:creationId xmlns:a16="http://schemas.microsoft.com/office/drawing/2014/main" id="{B5F5EE4F-BA36-EEBF-BA2F-29E8865194E5}"/>
              </a:ext>
            </a:extLst>
          </p:cNvPr>
          <p:cNvSpPr>
            <a:spLocks noGrp="1" noRot="1" noMove="1" noResize="1" noEditPoints="1" noAdjustHandles="1" noChangeArrowheads="1" noChangeShapeType="1"/>
          </p:cNvSpPr>
          <p:nvPr>
            <p:ph type="ftr" sz="quarter" idx="1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Confidential</a:t>
            </a:r>
          </a:p>
        </p:txBody>
      </p:sp>
      <p:sp>
        <p:nvSpPr>
          <p:cNvPr id="5" name="Tijdelijke aanduiding voor dianummer 4">
            <a:extLst>
              <a:ext uri="{FF2B5EF4-FFF2-40B4-BE49-F238E27FC236}">
                <a16:creationId xmlns:a16="http://schemas.microsoft.com/office/drawing/2014/main" id="{35FAE676-1E79-98D7-3514-335462A7999D}"/>
              </a:ext>
            </a:extLst>
          </p:cNvPr>
          <p:cNvSpPr>
            <a:spLocks noGrp="1" noRot="1" noMove="1" noResize="1" noEditPoints="1" noAdjustHandles="1" noChangeArrowheads="1" noChangeShapeType="1"/>
          </p:cNvSpPr>
          <p:nvPr>
            <p:ph type="sldNum" sz="quarter" idx="15"/>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E242BD21-9B61-2246-BCB1-4BE5E1BEBE1C}" type="slidenum">
              <a:rPr kumimoji="0" lang="en-US" sz="900" b="0" i="0" u="none" strike="noStrike" kern="1200" cap="none" spc="10" normalizeH="0" baseline="0" noProof="0" smtClean="0">
                <a:ln>
                  <a:noFill/>
                </a:ln>
                <a:solidFill>
                  <a:srgbClr val="FFFFFF"/>
                </a:solidFill>
                <a:effectLst/>
                <a:uLnTx/>
                <a:uFillTx/>
                <a:latin typeface="Azeret Mono" pitchFamily="2" charset="77"/>
                <a:ea typeface="+mn-ea"/>
                <a:cs typeface="Azeret Mono" pitchFamily="2" charset="77"/>
              </a:rPr>
              <a:pPr marL="0" marR="0" lvl="0" indent="0" algn="ctr"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10" normalizeH="0" baseline="0" noProof="0" dirty="0">
              <a:ln>
                <a:noFill/>
              </a:ln>
              <a:solidFill>
                <a:srgbClr val="FFFFFF"/>
              </a:solidFill>
              <a:effectLst/>
              <a:uLnTx/>
              <a:uFillTx/>
              <a:latin typeface="Azeret Mono" pitchFamily="2" charset="77"/>
              <a:ea typeface="+mn-ea"/>
              <a:cs typeface="Azeret Mono" pitchFamily="2" charset="77"/>
            </a:endParaRPr>
          </a:p>
        </p:txBody>
      </p:sp>
      <p:sp>
        <p:nvSpPr>
          <p:cNvPr id="70" name="Title 69">
            <a:extLst>
              <a:ext uri="{FF2B5EF4-FFF2-40B4-BE49-F238E27FC236}">
                <a16:creationId xmlns:a16="http://schemas.microsoft.com/office/drawing/2014/main" id="{3EF7774A-211E-088E-C9B6-6A86C440503F}"/>
              </a:ext>
            </a:extLst>
          </p:cNvPr>
          <p:cNvSpPr>
            <a:spLocks noGrp="1" noRot="1" noMove="1" noResize="1" noEditPoints="1" noAdjustHandles="1" noChangeArrowheads="1" noChangeShapeType="1"/>
          </p:cNvSpPr>
          <p:nvPr>
            <p:ph type="title"/>
          </p:nvPr>
        </p:nvSpPr>
        <p:spPr/>
        <p:txBody>
          <a:bodyPr/>
          <a:lstStyle/>
          <a:p>
            <a:r>
              <a:rPr lang="en-US" noProof="0" dirty="0"/>
              <a:t>SIG assesses the use of Open Source and IP in five key areas</a:t>
            </a:r>
          </a:p>
        </p:txBody>
      </p:sp>
      <p:sp>
        <p:nvSpPr>
          <p:cNvPr id="8" name="Oval 7">
            <a:extLst>
              <a:ext uri="{FF2B5EF4-FFF2-40B4-BE49-F238E27FC236}">
                <a16:creationId xmlns:a16="http://schemas.microsoft.com/office/drawing/2014/main" id="{29F3FDDD-3858-C838-0AD0-612548D292DE}"/>
              </a:ext>
            </a:extLst>
          </p:cNvPr>
          <p:cNvSpPr>
            <a:spLocks noGrp="1" noRot="1" noMove="1" noResize="1" noEditPoints="1" noAdjustHandles="1" noChangeArrowheads="1" noChangeShapeType="1"/>
          </p:cNvSpPr>
          <p:nvPr/>
        </p:nvSpPr>
        <p:spPr>
          <a:xfrm>
            <a:off x="4673297" y="2304400"/>
            <a:ext cx="2849490" cy="2849490"/>
          </a:xfrm>
          <a:prstGeom prst="ellipse">
            <a:avLst/>
          </a:prstGeom>
          <a:solidFill>
            <a:schemeClr val="accent3">
              <a:alpha val="25678"/>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9" name="Oval 8">
            <a:extLst>
              <a:ext uri="{FF2B5EF4-FFF2-40B4-BE49-F238E27FC236}">
                <a16:creationId xmlns:a16="http://schemas.microsoft.com/office/drawing/2014/main" id="{D533F8D7-DBCC-1E52-6611-0BE5FFCA74B9}"/>
              </a:ext>
            </a:extLst>
          </p:cNvPr>
          <p:cNvSpPr>
            <a:spLocks noGrp="1" noRot="1" noMove="1" noResize="1" noEditPoints="1" noAdjustHandles="1" noChangeArrowheads="1" noChangeShapeType="1"/>
          </p:cNvSpPr>
          <p:nvPr/>
        </p:nvSpPr>
        <p:spPr>
          <a:xfrm>
            <a:off x="5029556" y="2660659"/>
            <a:ext cx="2136972" cy="2136972"/>
          </a:xfrm>
          <a:prstGeom prst="ellipse">
            <a:avLst/>
          </a:prstGeom>
          <a:gradFill>
            <a:gsLst>
              <a:gs pos="23000">
                <a:schemeClr val="accent3">
                  <a:lumMod val="60000"/>
                  <a:lumOff val="40000"/>
                  <a:alpha val="33841"/>
                </a:schemeClr>
              </a:gs>
              <a:gs pos="61000">
                <a:schemeClr val="accent3">
                  <a:lumMod val="60000"/>
                  <a:lumOff val="40000"/>
                  <a:alpha val="16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C63A583D-6BE0-A8F1-39D1-114B3FDEE8C6}"/>
              </a:ext>
            </a:extLst>
          </p:cNvPr>
          <p:cNvSpPr>
            <a:spLocks noGrp="1" noRot="1" noMove="1" noResize="1" noEditPoints="1" noAdjustHandles="1" noChangeArrowheads="1" noChangeShapeType="1"/>
          </p:cNvSpPr>
          <p:nvPr/>
        </p:nvSpPr>
        <p:spPr>
          <a:xfrm>
            <a:off x="5326438" y="2957541"/>
            <a:ext cx="1543208" cy="1543208"/>
          </a:xfrm>
          <a:prstGeom prst="ellipse">
            <a:avLst/>
          </a:prstGeom>
          <a:gradFill>
            <a:gsLst>
              <a:gs pos="23000">
                <a:schemeClr val="bg1"/>
              </a:gs>
              <a:gs pos="61000">
                <a:schemeClr val="accent3">
                  <a:lumMod val="40000"/>
                  <a:lumOff val="60000"/>
                  <a:alpha val="29000"/>
                </a:schemeClr>
              </a:gs>
            </a:gsLst>
            <a:lin ang="2700000" scaled="0"/>
          </a:gradFill>
          <a:ln w="12700">
            <a:solidFill>
              <a:schemeClr val="accent3">
                <a:alpha val="21000"/>
              </a:schemeClr>
            </a:solid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18" name="Oval 17">
            <a:extLst>
              <a:ext uri="{FF2B5EF4-FFF2-40B4-BE49-F238E27FC236}">
                <a16:creationId xmlns:a16="http://schemas.microsoft.com/office/drawing/2014/main" id="{28E6CC9E-A042-4D41-4D82-5012869DD8F0}"/>
              </a:ext>
            </a:extLst>
          </p:cNvPr>
          <p:cNvSpPr>
            <a:spLocks noGrp="1" noRot="1" noMove="1" noResize="1" noEditPoints="1" noAdjustHandles="1" noChangeArrowheads="1" noChangeShapeType="1"/>
          </p:cNvSpPr>
          <p:nvPr/>
        </p:nvSpPr>
        <p:spPr>
          <a:xfrm>
            <a:off x="5568436" y="2929751"/>
            <a:ext cx="80980" cy="8098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6E013D36-4866-963A-B984-D0771F1F8F91}"/>
              </a:ext>
            </a:extLst>
          </p:cNvPr>
          <p:cNvSpPr>
            <a:spLocks noGrp="1" noRot="1" noMove="1" noResize="1" noEditPoints="1" noAdjustHandles="1" noChangeArrowheads="1" noChangeShapeType="1"/>
          </p:cNvSpPr>
          <p:nvPr/>
        </p:nvSpPr>
        <p:spPr>
          <a:xfrm>
            <a:off x="5366019" y="4285002"/>
            <a:ext cx="53706" cy="5370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761F8860-D3BD-ADF7-947C-66743FAA2346}"/>
              </a:ext>
            </a:extLst>
          </p:cNvPr>
          <p:cNvSpPr>
            <a:spLocks noGrp="1" noRot="1" noMove="1" noResize="1" noEditPoints="1" noAdjustHandles="1" noChangeArrowheads="1" noChangeShapeType="1"/>
          </p:cNvSpPr>
          <p:nvPr/>
        </p:nvSpPr>
        <p:spPr>
          <a:xfrm>
            <a:off x="5569297" y="3200400"/>
            <a:ext cx="1057490" cy="1057490"/>
          </a:xfrm>
          <a:prstGeom prst="ellipse">
            <a:avLst/>
          </a:prstGeom>
          <a:gradFill>
            <a:gsLst>
              <a:gs pos="21000">
                <a:schemeClr val="tx2"/>
              </a:gs>
              <a:gs pos="55000">
                <a:schemeClr val="tx2"/>
              </a:gs>
              <a:gs pos="97000">
                <a:schemeClr val="accent1"/>
              </a:gs>
            </a:gsLst>
            <a:lin ang="150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cxnSp>
        <p:nvCxnSpPr>
          <p:cNvPr id="48" name="Straight Connector 47">
            <a:extLst>
              <a:ext uri="{FF2B5EF4-FFF2-40B4-BE49-F238E27FC236}">
                <a16:creationId xmlns:a16="http://schemas.microsoft.com/office/drawing/2014/main" id="{4EEE0137-8821-1C78-1860-272D52AD6A69}"/>
              </a:ext>
            </a:extLst>
          </p:cNvPr>
          <p:cNvCxnSpPr>
            <a:cxnSpLocks noGrp="1" noRot="1" noMove="1" noResize="1" noEditPoints="1" noAdjustHandles="1" noChangeArrowheads="1" noChangeShapeType="1"/>
          </p:cNvCxnSpPr>
          <p:nvPr/>
        </p:nvCxnSpPr>
        <p:spPr>
          <a:xfrm>
            <a:off x="6096000" y="4363444"/>
            <a:ext cx="0" cy="263379"/>
          </a:xfrm>
          <a:prstGeom prst="line">
            <a:avLst/>
          </a:prstGeom>
          <a:ln w="9525">
            <a:solidFill>
              <a:schemeClr val="accent1">
                <a:alpha val="80000"/>
              </a:schemeClr>
            </a:solidFill>
            <a:prstDash val="solid"/>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D035F2BD-9708-0AD0-BD3B-D333B7293EE0}"/>
              </a:ext>
            </a:extLst>
          </p:cNvPr>
          <p:cNvSpPr>
            <a:spLocks noGrp="1" noRot="1" noMove="1" noResize="1" noEditPoints="1" noAdjustHandles="1" noChangeArrowheads="1" noChangeShapeType="1"/>
          </p:cNvSpPr>
          <p:nvPr/>
        </p:nvSpPr>
        <p:spPr>
          <a:xfrm>
            <a:off x="6060913" y="4603426"/>
            <a:ext cx="70174" cy="7017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2A041D92-70F1-8E69-18DA-1A12061BCB4D}"/>
              </a:ext>
            </a:extLst>
          </p:cNvPr>
          <p:cNvSpPr>
            <a:spLocks noGrp="1" noRot="1" noMove="1" noResize="1" noEditPoints="1" noAdjustHandles="1" noChangeArrowheads="1" noChangeShapeType="1"/>
          </p:cNvSpPr>
          <p:nvPr/>
        </p:nvSpPr>
        <p:spPr>
          <a:xfrm>
            <a:off x="6040908" y="4313883"/>
            <a:ext cx="112242" cy="112242"/>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72" name="Content Placeholder 70">
            <a:extLst>
              <a:ext uri="{FF2B5EF4-FFF2-40B4-BE49-F238E27FC236}">
                <a16:creationId xmlns:a16="http://schemas.microsoft.com/office/drawing/2014/main" id="{D5037DEE-D3A7-543A-B3E5-6F22ECB1E9B3}"/>
              </a:ext>
            </a:extLst>
          </p:cNvPr>
          <p:cNvSpPr txBox="1">
            <a:spLocks noGrp="1" noRot="1" noMove="1" noResize="1" noEditPoints="1" noAdjustHandles="1" noChangeArrowheads="1" noChangeShapeType="1"/>
          </p:cNvSpPr>
          <p:nvPr/>
        </p:nvSpPr>
        <p:spPr>
          <a:xfrm>
            <a:off x="8148338" y="1411200"/>
            <a:ext cx="3650085" cy="4842000"/>
          </a:xfrm>
          <a:prstGeom prst="rect">
            <a:avLst/>
          </a:prstGeom>
        </p:spPr>
        <p:txBody>
          <a:bodyPr vert="horz" lIns="216000" tIns="0" rIns="91440" bIns="72000" rtlCol="0" anchor="ctr">
            <a:noAutofit/>
          </a:bodyPr>
          <a:lstStyle>
            <a:lvl1pPr marL="0" indent="0" algn="l" defTabSz="914400" rtl="0" eaLnBrk="1" latinLnBrk="0" hangingPunct="1">
              <a:lnSpc>
                <a:spcPct val="114000"/>
              </a:lnSpc>
              <a:spcBef>
                <a:spcPts val="0"/>
              </a:spcBef>
              <a:spcAft>
                <a:spcPts val="600"/>
              </a:spcAft>
              <a:buClr>
                <a:srgbClr val="F8C716"/>
              </a:buClr>
              <a:buFont typeface="Arial" panose="020B0604020202020204" pitchFamily="34" charset="0"/>
              <a:buNone/>
              <a:tabLst/>
              <a:defRPr lang="en-US" sz="1600" kern="120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1" i="0" u="none" strike="noStrike" kern="1200" cap="none" spc="0" normalizeH="0" baseline="0" noProof="0" dirty="0">
                <a:ln>
                  <a:noFill/>
                </a:ln>
                <a:solidFill>
                  <a:srgbClr val="FFFFFF"/>
                </a:solidFill>
                <a:effectLst/>
                <a:uLnTx/>
                <a:uFillTx/>
                <a:latin typeface="Azeret Mono" pitchFamily="2" charset="77"/>
                <a:ea typeface="+mn-ea"/>
                <a:cs typeface="Azeret Mono" pitchFamily="2" charset="77"/>
              </a:rPr>
              <a:t>Open Source Health (OSH)</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systems in scope are assessed for risks resulting from the use of open source software.</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The key sources for this check are configuration files of common dependency management systems (e.g. </a:t>
            </a:r>
            <a:r>
              <a:rPr kumimoji="0" lang="en-US" sz="1200" b="0" i="0" u="none" strike="noStrike" kern="1200" cap="none" spc="0" normalizeH="0" baseline="0" noProof="0" dirty="0" err="1">
                <a:ln>
                  <a:noFill/>
                </a:ln>
                <a:solidFill>
                  <a:srgbClr val="88ADF5"/>
                </a:solidFill>
                <a:effectLst/>
                <a:uLnTx/>
                <a:uFillTx/>
                <a:latin typeface="Azeret Mono" pitchFamily="2" charset="77"/>
                <a:ea typeface="+mn-ea"/>
                <a:cs typeface="Azeret Mono" pitchFamily="2" charset="77"/>
              </a:rPr>
              <a:t>Nuget</a:t>
            </a: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 Maven, and </a:t>
            </a:r>
            <a:r>
              <a:rPr kumimoji="0" lang="en-US" sz="1200" b="0" i="0" u="none" strike="noStrike" kern="1200" cap="none" spc="0" normalizeH="0" baseline="0" noProof="0" dirty="0" err="1">
                <a:ln>
                  <a:noFill/>
                </a:ln>
                <a:solidFill>
                  <a:srgbClr val="88ADF5"/>
                </a:solidFill>
                <a:effectLst/>
                <a:uLnTx/>
                <a:uFillTx/>
                <a:latin typeface="Azeret Mono" pitchFamily="2" charset="77"/>
                <a:ea typeface="+mn-ea"/>
                <a:cs typeface="Azeret Mono" pitchFamily="2" charset="77"/>
              </a:rPr>
              <a:t>NPM</a:t>
            </a: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r>
              <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rPr>
              <a:t>This information is used to uncover risks related to known vulnerabilities, freshness, license usage, activity and management</a:t>
            </a:r>
          </a:p>
          <a:p>
            <a:pPr marL="0" marR="0" lvl="0" indent="0" algn="l" defTabSz="914400" rtl="0" eaLnBrk="1" fontAlgn="auto" latinLnBrk="0" hangingPunct="1">
              <a:lnSpc>
                <a:spcPct val="150000"/>
              </a:lnSpc>
              <a:spcBef>
                <a:spcPts val="0"/>
              </a:spcBef>
              <a:spcAft>
                <a:spcPts val="600"/>
              </a:spcAft>
              <a:buClr>
                <a:srgbClr val="F8C716"/>
              </a:buClr>
              <a:buSzTx/>
              <a:buFont typeface="Arial" panose="020B0604020202020204" pitchFamily="34" charset="0"/>
              <a:buNone/>
              <a:tabLst/>
              <a:defRPr/>
            </a:pPr>
            <a:endParaRPr kumimoji="0" lang="en-US" sz="1200" b="0" i="0" u="none" strike="noStrike" kern="1200" cap="none" spc="0" normalizeH="0" baseline="0" noProof="0" dirty="0">
              <a:ln>
                <a:noFill/>
              </a:ln>
              <a:solidFill>
                <a:srgbClr val="88ADF5"/>
              </a:solidFill>
              <a:effectLst/>
              <a:uLnTx/>
              <a:uFillTx/>
              <a:latin typeface="Azeret Mono" pitchFamily="2" charset="77"/>
              <a:ea typeface="+mn-ea"/>
              <a:cs typeface="Azeret Mono" pitchFamily="2" charset="77"/>
            </a:endParaRPr>
          </a:p>
        </p:txBody>
      </p:sp>
      <p:sp>
        <p:nvSpPr>
          <p:cNvPr id="78" name="Arc 77">
            <a:extLst>
              <a:ext uri="{FF2B5EF4-FFF2-40B4-BE49-F238E27FC236}">
                <a16:creationId xmlns:a16="http://schemas.microsoft.com/office/drawing/2014/main" id="{AE202C74-D8C9-84F4-7CCF-66BFEFFF7D22}"/>
              </a:ext>
            </a:extLst>
          </p:cNvPr>
          <p:cNvSpPr>
            <a:spLocks noGrp="1" noRot="1" noMove="1" noResize="1" noEditPoints="1" noAdjustHandles="1" noChangeArrowheads="1" noChangeShapeType="1"/>
          </p:cNvSpPr>
          <p:nvPr/>
        </p:nvSpPr>
        <p:spPr>
          <a:xfrm>
            <a:off x="4403883" y="2031167"/>
            <a:ext cx="3381834" cy="3405830"/>
          </a:xfrm>
          <a:prstGeom prst="arc">
            <a:avLst>
              <a:gd name="adj1" fmla="val 18941193"/>
              <a:gd name="adj2" fmla="val 13132678"/>
            </a:avLst>
          </a:prstGeom>
          <a:ln w="12700">
            <a:gradFill>
              <a:gsLst>
                <a:gs pos="98000">
                  <a:schemeClr val="bg1">
                    <a:alpha val="0"/>
                  </a:schemeClr>
                </a:gs>
                <a:gs pos="68000">
                  <a:schemeClr val="bg1">
                    <a:alpha val="29485"/>
                  </a:schemeClr>
                </a:gs>
                <a:gs pos="8000">
                  <a:schemeClr val="accent3"/>
                </a:gs>
                <a:gs pos="18000">
                  <a:schemeClr val="accent3">
                    <a:alpha val="4500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99" name="Arc 98">
            <a:extLst>
              <a:ext uri="{FF2B5EF4-FFF2-40B4-BE49-F238E27FC236}">
                <a16:creationId xmlns:a16="http://schemas.microsoft.com/office/drawing/2014/main" id="{86B057A7-8157-80A0-0AA7-9BDCD7BBB467}"/>
              </a:ext>
            </a:extLst>
          </p:cNvPr>
          <p:cNvSpPr>
            <a:spLocks noGrp="1" noRot="1" noMove="1" noResize="1" noEditPoints="1" noAdjustHandles="1" noChangeArrowheads="1" noChangeShapeType="1"/>
          </p:cNvSpPr>
          <p:nvPr/>
        </p:nvSpPr>
        <p:spPr>
          <a:xfrm>
            <a:off x="5176684" y="2825556"/>
            <a:ext cx="1850921" cy="1820186"/>
          </a:xfrm>
          <a:prstGeom prst="arc">
            <a:avLst>
              <a:gd name="adj1" fmla="val 5508426"/>
              <a:gd name="adj2" fmla="val 14121050"/>
            </a:avLst>
          </a:prstGeom>
          <a:ln w="9525">
            <a:gradFill>
              <a:gsLst>
                <a:gs pos="0">
                  <a:schemeClr val="accent1">
                    <a:alpha val="90000"/>
                  </a:schemeClr>
                </a:gs>
                <a:gs pos="99000">
                  <a:schemeClr val="accent1">
                    <a:alpha val="0"/>
                  </a:schemeClr>
                </a:gs>
              </a:gsLst>
              <a:lin ang="5400000" scaled="1"/>
            </a:gra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25FF9DAC-CBE3-1B3F-9290-7F5D371A5401}"/>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2"/>
              </a:ext>
            </a:extLst>
          </a:blip>
          <a:srcRect/>
          <a:stretch/>
        </p:blipFill>
        <p:spPr>
          <a:xfrm>
            <a:off x="5900476" y="1504866"/>
            <a:ext cx="403047" cy="345174"/>
          </a:xfrm>
          <a:prstGeom prst="rect">
            <a:avLst/>
          </a:prstGeom>
        </p:spPr>
      </p:pic>
      <p:pic>
        <p:nvPicPr>
          <p:cNvPr id="79" name="Graphic 78">
            <a:extLst>
              <a:ext uri="{FF2B5EF4-FFF2-40B4-BE49-F238E27FC236}">
                <a16:creationId xmlns:a16="http://schemas.microsoft.com/office/drawing/2014/main" id="{488B6BB2-C968-8F30-797C-D8BF8F77ADF9}"/>
              </a:ext>
            </a:extLst>
          </p:cNvPr>
          <p:cNvPicPr>
            <a:picLocks noGrp="1" noRot="1" noChangeAspect="1" noMove="1" noResize="1" noEditPoints="1" noAdjustHandles="1" noChangeArrowheads="1" noChangeShapeType="1" noCrop="1"/>
          </p:cNvPicPr>
          <p:nvPr/>
        </p:nvPicPr>
        <p:blipFill>
          <a:blip>
            <a:extLst>
              <a:ext uri="{96DAC541-7B7A-43D3-8B79-37D633B846F1}">
                <asvg:svgBlip xmlns:asvg="http://schemas.microsoft.com/office/drawing/2016/SVG/main" r:embed="rId3"/>
              </a:ext>
            </a:extLst>
          </a:blip>
          <a:stretch>
            <a:fillRect/>
          </a:stretch>
        </p:blipFill>
        <p:spPr>
          <a:xfrm>
            <a:off x="5740162" y="3488675"/>
            <a:ext cx="709276" cy="472846"/>
          </a:xfrm>
          <a:prstGeom prst="rect">
            <a:avLst/>
          </a:prstGeom>
          <a:effectLst/>
        </p:spPr>
      </p:pic>
      <p:sp>
        <p:nvSpPr>
          <p:cNvPr id="11" name="Oval 43">
            <a:extLst>
              <a:ext uri="{FF2B5EF4-FFF2-40B4-BE49-F238E27FC236}">
                <a16:creationId xmlns:a16="http://schemas.microsoft.com/office/drawing/2014/main" id="{72B4FB6F-6763-191D-367B-6D9493FDE909}"/>
              </a:ext>
            </a:extLst>
          </p:cNvPr>
          <p:cNvSpPr>
            <a:spLocks noGrp="1" noRot="1" noMove="1" noResize="1" noEditPoints="1" noAdjustHandles="1" noChangeArrowheads="1" noChangeShapeType="1"/>
          </p:cNvSpPr>
          <p:nvPr/>
        </p:nvSpPr>
        <p:spPr>
          <a:xfrm>
            <a:off x="5569297" y="3200400"/>
            <a:ext cx="1057490" cy="1057490"/>
          </a:xfrm>
          <a:prstGeom prst="ellipse">
            <a:avLst/>
          </a:prstGeom>
          <a:gradFill>
            <a:gsLst>
              <a:gs pos="21000">
                <a:schemeClr val="tx2">
                  <a:alpha val="0"/>
                </a:schemeClr>
              </a:gs>
              <a:gs pos="55000">
                <a:schemeClr val="accent1">
                  <a:alpha val="14976"/>
                </a:schemeClr>
              </a:gs>
              <a:gs pos="100000">
                <a:schemeClr val="accent1"/>
              </a:gs>
            </a:gsLst>
            <a:lin ang="15000000" scaled="0"/>
          </a:gradFill>
          <a:ln w="9525">
            <a:gradFill>
              <a:gsLst>
                <a:gs pos="8000">
                  <a:schemeClr val="accent3">
                    <a:lumMod val="20000"/>
                    <a:lumOff val="80000"/>
                    <a:alpha val="52718"/>
                  </a:schemeClr>
                </a:gs>
                <a:gs pos="24000">
                  <a:schemeClr val="accent3">
                    <a:alpha val="49000"/>
                  </a:schemeClr>
                </a:gs>
                <a:gs pos="51000">
                  <a:schemeClr val="accent3">
                    <a:alpha val="0"/>
                  </a:schemeClr>
                </a:gs>
              </a:gsLst>
              <a:lin ang="13200000" scaled="0"/>
            </a:gradFill>
          </a:ln>
          <a:effectLst>
            <a:innerShdw blurRad="209594" dist="204382" dir="138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lIns="0" tIns="72000" rIns="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Noir Pro Semi Bold" pitchFamily="2" charset="0"/>
              <a:ea typeface="+mn-ea"/>
              <a:cs typeface="+mn-cs"/>
            </a:endParaRPr>
          </a:p>
        </p:txBody>
      </p:sp>
      <p:sp>
        <p:nvSpPr>
          <p:cNvPr id="31" name="Boog 30">
            <a:extLst>
              <a:ext uri="{FF2B5EF4-FFF2-40B4-BE49-F238E27FC236}">
                <a16:creationId xmlns:a16="http://schemas.microsoft.com/office/drawing/2014/main" id="{2E76718F-E362-2675-C4E3-B79D88D026C1}"/>
              </a:ext>
            </a:extLst>
          </p:cNvPr>
          <p:cNvSpPr>
            <a:spLocks noGrp="1" noRot="1" noChangeAspect="1" noMove="1" noResize="1" noEditPoints="1" noAdjustHandles="1" noChangeArrowheads="1" noChangeShapeType="1"/>
          </p:cNvSpPr>
          <p:nvPr/>
        </p:nvSpPr>
        <p:spPr>
          <a:xfrm>
            <a:off x="3385191" y="1063763"/>
            <a:ext cx="5342400" cy="5342400"/>
          </a:xfrm>
          <a:prstGeom prst="arc">
            <a:avLst>
              <a:gd name="adj1" fmla="val 8266711"/>
              <a:gd name="adj2" fmla="val 12416581"/>
            </a:avLst>
          </a:prstGeom>
          <a:ln w="12700">
            <a:gradFill>
              <a:gsLst>
                <a:gs pos="83000">
                  <a:schemeClr val="accent3"/>
                </a:gs>
                <a:gs pos="16000">
                  <a:schemeClr val="accent3"/>
                </a:gs>
                <a:gs pos="0">
                  <a:schemeClr val="accent3">
                    <a:alpha val="0"/>
                  </a:schemeClr>
                </a:gs>
                <a:gs pos="100000">
                  <a:schemeClr val="accent3">
                    <a:alpha val="0"/>
                  </a:schemeClr>
                </a:gs>
              </a:gsLst>
              <a:lin ang="5400000" scaled="1"/>
            </a:gradFill>
            <a:prstDash val="solid"/>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20202"/>
              </a:solidFill>
              <a:effectLst/>
              <a:uLnTx/>
              <a:uFillTx/>
              <a:latin typeface="Calibri" panose="020F0502020204030204"/>
              <a:ea typeface="+mn-ea"/>
              <a:cs typeface="+mn-cs"/>
            </a:endParaRPr>
          </a:p>
        </p:txBody>
      </p:sp>
      <p:sp>
        <p:nvSpPr>
          <p:cNvPr id="2" name="Tekstvak 1">
            <a:extLst>
              <a:ext uri="{FF2B5EF4-FFF2-40B4-BE49-F238E27FC236}">
                <a16:creationId xmlns:a16="http://schemas.microsoft.com/office/drawing/2014/main" id="{DE8DECA9-24CF-753A-9E3D-ED81D7412706}"/>
              </a:ext>
            </a:extLst>
          </p:cNvPr>
          <p:cNvSpPr txBox="1">
            <a:spLocks noGrp="1" noRot="1" noMove="1" noResize="1" noEditPoints="1" noAdjustHandles="1" noChangeArrowheads="1" noChangeShapeType="1"/>
          </p:cNvSpPr>
          <p:nvPr/>
        </p:nvSpPr>
        <p:spPr>
          <a:xfrm>
            <a:off x="773951" y="2467036"/>
            <a:ext cx="2725576" cy="357277"/>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88ADF5"/>
                </a:solidFill>
                <a:effectLst>
                  <a:outerShdw blurRad="229337" sx="102000" sy="102000" algn="ctr" rotWithShape="0">
                    <a:srgbClr val="1763FF">
                      <a:alpha val="20000"/>
                    </a:srgbClr>
                  </a:outerShdw>
                </a:effectLst>
                <a:uLnTx/>
                <a:uFillTx/>
                <a:latin typeface="☞NOIR PRO MEDIUM" pitchFamily="2" charset="0"/>
                <a:ea typeface="+mn-ea"/>
                <a:cs typeface="+mn-cs"/>
              </a:rPr>
              <a:t>Model sub-characteristics</a:t>
            </a:r>
          </a:p>
        </p:txBody>
      </p:sp>
      <p:sp>
        <p:nvSpPr>
          <p:cNvPr id="29" name="Ovaal 28">
            <a:extLst>
              <a:ext uri="{FF2B5EF4-FFF2-40B4-BE49-F238E27FC236}">
                <a16:creationId xmlns:a16="http://schemas.microsoft.com/office/drawing/2014/main" id="{FB20B4AB-9225-343C-3039-7D6D4668EBFC}"/>
              </a:ext>
            </a:extLst>
          </p:cNvPr>
          <p:cNvSpPr>
            <a:spLocks noGrp="1" noRot="1" noMove="1" noResize="1" noEditPoints="1" noAdjustHandles="1" noChangeArrowheads="1" noChangeShapeType="1"/>
          </p:cNvSpPr>
          <p:nvPr/>
        </p:nvSpPr>
        <p:spPr>
          <a:xfrm>
            <a:off x="3385191" y="3111240"/>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0" name="Ovaal 29">
            <a:extLst>
              <a:ext uri="{FF2B5EF4-FFF2-40B4-BE49-F238E27FC236}">
                <a16:creationId xmlns:a16="http://schemas.microsoft.com/office/drawing/2014/main" id="{2E5481D9-8C0E-A2F0-820F-EC973CFB7F55}"/>
              </a:ext>
            </a:extLst>
          </p:cNvPr>
          <p:cNvSpPr>
            <a:spLocks noGrp="1" noRot="1" noMove="1" noResize="1" noEditPoints="1" noAdjustHandles="1" noChangeArrowheads="1" noChangeShapeType="1"/>
          </p:cNvSpPr>
          <p:nvPr/>
        </p:nvSpPr>
        <p:spPr>
          <a:xfrm>
            <a:off x="3323073" y="3590288"/>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2" name="Ovaal 31">
            <a:extLst>
              <a:ext uri="{FF2B5EF4-FFF2-40B4-BE49-F238E27FC236}">
                <a16:creationId xmlns:a16="http://schemas.microsoft.com/office/drawing/2014/main" id="{F992DA66-29D9-1466-1F41-2D8827291212}"/>
              </a:ext>
            </a:extLst>
          </p:cNvPr>
          <p:cNvSpPr>
            <a:spLocks noGrp="1" noRot="1" noMove="1" noResize="1" noEditPoints="1" noAdjustHandles="1" noChangeArrowheads="1" noChangeShapeType="1"/>
          </p:cNvSpPr>
          <p:nvPr/>
        </p:nvSpPr>
        <p:spPr>
          <a:xfrm>
            <a:off x="3364103" y="4093669"/>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6" name="Ovaal 35">
            <a:extLst>
              <a:ext uri="{FF2B5EF4-FFF2-40B4-BE49-F238E27FC236}">
                <a16:creationId xmlns:a16="http://schemas.microsoft.com/office/drawing/2014/main" id="{B435B4C7-661B-FDF9-E7D5-7747088120FF}"/>
              </a:ext>
            </a:extLst>
          </p:cNvPr>
          <p:cNvSpPr>
            <a:spLocks noGrp="1" noRot="1" noMove="1" noResize="1" noEditPoints="1" noAdjustHandles="1" noChangeArrowheads="1" noChangeShapeType="1"/>
          </p:cNvSpPr>
          <p:nvPr/>
        </p:nvSpPr>
        <p:spPr>
          <a:xfrm>
            <a:off x="3496656" y="4588574"/>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7" name="Ovaal 36">
            <a:extLst>
              <a:ext uri="{FF2B5EF4-FFF2-40B4-BE49-F238E27FC236}">
                <a16:creationId xmlns:a16="http://schemas.microsoft.com/office/drawing/2014/main" id="{FCBA4432-7F01-F84E-2492-55FE1ECE0C9D}"/>
              </a:ext>
            </a:extLst>
          </p:cNvPr>
          <p:cNvSpPr>
            <a:spLocks noGrp="1" noRot="1" noMove="1" noResize="1" noEditPoints="1" noAdjustHandles="1" noChangeArrowheads="1" noChangeShapeType="1"/>
          </p:cNvSpPr>
          <p:nvPr/>
        </p:nvSpPr>
        <p:spPr>
          <a:xfrm>
            <a:off x="3728666" y="5089348"/>
            <a:ext cx="114336" cy="11433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
        <p:nvSpPr>
          <p:cNvPr id="38" name="Tekstvak 37">
            <a:extLst>
              <a:ext uri="{FF2B5EF4-FFF2-40B4-BE49-F238E27FC236}">
                <a16:creationId xmlns:a16="http://schemas.microsoft.com/office/drawing/2014/main" id="{10D3DB77-BAAE-D993-38A8-5175851EB1D3}"/>
              </a:ext>
            </a:extLst>
          </p:cNvPr>
          <p:cNvSpPr txBox="1">
            <a:spLocks noGrp="1" noRot="1" noMove="1" noResize="1" noEditPoints="1" noAdjustHandles="1" noChangeArrowheads="1" noChangeShapeType="1"/>
          </p:cNvSpPr>
          <p:nvPr/>
        </p:nvSpPr>
        <p:spPr>
          <a:xfrm>
            <a:off x="1754462" y="2957541"/>
            <a:ext cx="1573016"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Vulnerabilities</a:t>
            </a:r>
          </a:p>
        </p:txBody>
      </p:sp>
      <p:sp>
        <p:nvSpPr>
          <p:cNvPr id="39" name="Tekstvak 38">
            <a:extLst>
              <a:ext uri="{FF2B5EF4-FFF2-40B4-BE49-F238E27FC236}">
                <a16:creationId xmlns:a16="http://schemas.microsoft.com/office/drawing/2014/main" id="{7E259356-0193-A86A-4CEE-5A1813E29242}"/>
              </a:ext>
            </a:extLst>
          </p:cNvPr>
          <p:cNvSpPr txBox="1">
            <a:spLocks noGrp="1" noRot="1" noMove="1" noResize="1" noEditPoints="1" noAdjustHandles="1" noChangeArrowheads="1" noChangeShapeType="1"/>
          </p:cNvSpPr>
          <p:nvPr/>
        </p:nvSpPr>
        <p:spPr>
          <a:xfrm>
            <a:off x="880462" y="3456782"/>
            <a:ext cx="2390547"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Dependency freshness</a:t>
            </a:r>
          </a:p>
        </p:txBody>
      </p:sp>
      <p:sp>
        <p:nvSpPr>
          <p:cNvPr id="40" name="Tekstvak 39">
            <a:extLst>
              <a:ext uri="{FF2B5EF4-FFF2-40B4-BE49-F238E27FC236}">
                <a16:creationId xmlns:a16="http://schemas.microsoft.com/office/drawing/2014/main" id="{5F0DC96E-F7E0-F74E-E1F1-46E5AC30F48C}"/>
              </a:ext>
            </a:extLst>
          </p:cNvPr>
          <p:cNvSpPr txBox="1">
            <a:spLocks noGrp="1" noRot="1" noMove="1" noResize="1" noEditPoints="1" noAdjustHandles="1" noChangeArrowheads="1" noChangeShapeType="1"/>
          </p:cNvSpPr>
          <p:nvPr/>
        </p:nvSpPr>
        <p:spPr>
          <a:xfrm>
            <a:off x="1997335" y="3956023"/>
            <a:ext cx="1313329"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License Use</a:t>
            </a:r>
          </a:p>
        </p:txBody>
      </p:sp>
      <p:sp>
        <p:nvSpPr>
          <p:cNvPr id="41" name="Tekstvak 40">
            <a:extLst>
              <a:ext uri="{FF2B5EF4-FFF2-40B4-BE49-F238E27FC236}">
                <a16:creationId xmlns:a16="http://schemas.microsoft.com/office/drawing/2014/main" id="{F793CE3A-19AA-C87F-F0EE-2C1B9143E48E}"/>
              </a:ext>
            </a:extLst>
          </p:cNvPr>
          <p:cNvSpPr txBox="1">
            <a:spLocks noGrp="1" noRot="1" noMove="1" noResize="1" noEditPoints="1" noAdjustHandles="1" noChangeArrowheads="1" noChangeShapeType="1"/>
          </p:cNvSpPr>
          <p:nvPr/>
        </p:nvSpPr>
        <p:spPr>
          <a:xfrm>
            <a:off x="2515749" y="4455264"/>
            <a:ext cx="898151"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Activity</a:t>
            </a:r>
          </a:p>
        </p:txBody>
      </p:sp>
      <p:sp>
        <p:nvSpPr>
          <p:cNvPr id="43" name="Tekstvak 42">
            <a:extLst>
              <a:ext uri="{FF2B5EF4-FFF2-40B4-BE49-F238E27FC236}">
                <a16:creationId xmlns:a16="http://schemas.microsoft.com/office/drawing/2014/main" id="{27320431-995A-9BDB-9C53-5D7D2B38AA23}"/>
              </a:ext>
            </a:extLst>
          </p:cNvPr>
          <p:cNvSpPr txBox="1">
            <a:spLocks noGrp="1" noRot="1" noMove="1" noResize="1" noEditPoints="1" noAdjustHandles="1" noChangeArrowheads="1" noChangeShapeType="1"/>
          </p:cNvSpPr>
          <p:nvPr/>
        </p:nvSpPr>
        <p:spPr>
          <a:xfrm>
            <a:off x="2171116" y="4954505"/>
            <a:ext cx="1464012" cy="357214"/>
          </a:xfrm>
          <a:prstGeom prst="rect">
            <a:avLst/>
          </a:prstGeom>
          <a:noFill/>
        </p:spPr>
        <p:txBody>
          <a:bodyPr wrap="none" lIns="90000" rtlCol="0" anchor="t">
            <a:spAutoFit/>
          </a:bodyPr>
          <a:lstStyle/>
          <a:p>
            <a:pPr marL="0" marR="0" lvl="0" indent="0" algn="r" defTabSz="914400" rtl="0" eaLnBrk="1" fontAlgn="auto" latinLnBrk="0" hangingPunct="1">
              <a:lnSpc>
                <a:spcPct val="113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NOIR PRO MEDIUM" pitchFamily="2" charset="0"/>
                <a:ea typeface="+mn-ea"/>
                <a:cs typeface="+mn-cs"/>
              </a:rPr>
              <a:t>Management</a:t>
            </a:r>
          </a:p>
        </p:txBody>
      </p:sp>
    </p:spTree>
    <p:extLst>
      <p:ext uri="{BB962C8B-B14F-4D97-AF65-F5344CB8AC3E}">
        <p14:creationId xmlns:p14="http://schemas.microsoft.com/office/powerpoint/2010/main" val="1150897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7657C-97FB-B1AA-E71A-0A0A45FB21D7}"/>
            </a:ext>
          </a:extLst>
        </p:cNvPr>
        <p:cNvGrpSpPr/>
        <p:nvPr/>
      </p:nvGrpSpPr>
      <p:grpSpPr>
        <a:xfrm>
          <a:off x="0" y="0"/>
          <a:ext cx="0" cy="0"/>
          <a:chOff x="0" y="0"/>
          <a:chExt cx="0" cy="0"/>
        </a:xfrm>
      </p:grpSpPr>
      <p:grpSp>
        <p:nvGrpSpPr>
          <p:cNvPr id="12" name="Groep 6">
            <a:extLst>
              <a:ext uri="{FF2B5EF4-FFF2-40B4-BE49-F238E27FC236}">
                <a16:creationId xmlns:a16="http://schemas.microsoft.com/office/drawing/2014/main" id="{4CE14A0A-B8B6-7D0D-3564-33C85D8F48B0}"/>
              </a:ext>
            </a:extLst>
          </p:cNvPr>
          <p:cNvGrpSpPr/>
          <p:nvPr/>
        </p:nvGrpSpPr>
        <p:grpSpPr>
          <a:xfrm>
            <a:off x="134319" y="1137285"/>
            <a:ext cx="11923362" cy="1426530"/>
            <a:chOff x="134319" y="1137285"/>
            <a:chExt cx="11923362" cy="1426530"/>
          </a:xfrm>
        </p:grpSpPr>
        <p:sp>
          <p:nvSpPr>
            <p:cNvPr id="14" name="Rechthoek 25">
              <a:extLst>
                <a:ext uri="{FF2B5EF4-FFF2-40B4-BE49-F238E27FC236}">
                  <a16:creationId xmlns:a16="http://schemas.microsoft.com/office/drawing/2014/main" id="{6024112E-385A-46B2-9146-3B430094ECEE}"/>
                </a:ext>
              </a:extLst>
            </p:cNvPr>
            <p:cNvSpPr/>
            <p:nvPr/>
          </p:nvSpPr>
          <p:spPr>
            <a:xfrm>
              <a:off x="4900832" y="2202282"/>
              <a:ext cx="2383616" cy="361533"/>
            </a:xfrm>
            <a:prstGeom prst="rect">
              <a:avLst/>
            </a:prstGeom>
            <a:gradFill>
              <a:gsLst>
                <a:gs pos="89000">
                  <a:schemeClr val="accent3">
                    <a:lumMod val="40000"/>
                    <a:lumOff val="60000"/>
                  </a:schemeClr>
                </a:gs>
                <a:gs pos="40000">
                  <a:schemeClr val="accent3">
                    <a:lumMod val="20000"/>
                    <a:lumOff val="80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6" name="Afgeronde rechthoek 36">
              <a:extLst>
                <a:ext uri="{FF2B5EF4-FFF2-40B4-BE49-F238E27FC236}">
                  <a16:creationId xmlns:a16="http://schemas.microsoft.com/office/drawing/2014/main" id="{D5AF62F9-2731-16DA-3D50-41C5C6913927}"/>
                </a:ext>
              </a:extLst>
            </p:cNvPr>
            <p:cNvSpPr/>
            <p:nvPr/>
          </p:nvSpPr>
          <p:spPr>
            <a:xfrm>
              <a:off x="154799" y="1137285"/>
              <a:ext cx="11875047" cy="1426530"/>
            </a:xfrm>
            <a:prstGeom prst="roundRect">
              <a:avLst>
                <a:gd name="adj" fmla="val 8464"/>
              </a:avLst>
            </a:prstGeom>
            <a:gradFill>
              <a:gsLst>
                <a:gs pos="89000">
                  <a:schemeClr val="accent3">
                    <a:lumMod val="20000"/>
                    <a:lumOff val="80000"/>
                  </a:schemeClr>
                </a:gs>
                <a:gs pos="60000">
                  <a:schemeClr val="accent3">
                    <a:lumMod val="20000"/>
                    <a:lumOff val="80000"/>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17" name="TextBox 39">
              <a:extLst>
                <a:ext uri="{FF2B5EF4-FFF2-40B4-BE49-F238E27FC236}">
                  <a16:creationId xmlns:a16="http://schemas.microsoft.com/office/drawing/2014/main" id="{5F9B5B7F-C4FB-ED20-5174-E893C3E53456}"/>
                </a:ext>
              </a:extLst>
            </p:cNvPr>
            <p:cNvSpPr txBox="1"/>
            <p:nvPr/>
          </p:nvSpPr>
          <p:spPr>
            <a:xfrm>
              <a:off x="4900832" y="2291359"/>
              <a:ext cx="2378985" cy="246221"/>
            </a:xfrm>
            <a:prstGeom prst="rect">
              <a:avLst/>
            </a:prstGeom>
            <a:noFill/>
          </p:spPr>
          <p:txBody>
            <a:bodyPr wrap="square" rtlCol="0" anchor="ctr">
              <a:spAutoFit/>
            </a:bodyPr>
            <a:lstStyle/>
            <a:p>
              <a:pPr algn="ctr"/>
              <a:r>
                <a:rPr lang="en-US" sz="1000" noProof="0" dirty="0">
                  <a:solidFill>
                    <a:schemeClr val="accent1"/>
                  </a:solidFill>
                  <a:latin typeface="☞NOIR PRO MEDIUM" pitchFamily="2" charset="0"/>
                </a:rPr>
                <a:t>Market average</a:t>
              </a:r>
            </a:p>
          </p:txBody>
        </p:sp>
        <p:sp>
          <p:nvSpPr>
            <p:cNvPr id="25" name="Afgeronde rechthoek 2">
              <a:extLst>
                <a:ext uri="{FF2B5EF4-FFF2-40B4-BE49-F238E27FC236}">
                  <a16:creationId xmlns:a16="http://schemas.microsoft.com/office/drawing/2014/main" id="{4BA3C8BC-C5A7-3237-B1EA-EEA17EC91199}"/>
                </a:ext>
              </a:extLst>
            </p:cNvPr>
            <p:cNvSpPr/>
            <p:nvPr/>
          </p:nvSpPr>
          <p:spPr>
            <a:xfrm>
              <a:off x="154800" y="1918860"/>
              <a:ext cx="11875046" cy="353488"/>
            </a:xfrm>
            <a:prstGeom prst="roundRect">
              <a:avLst>
                <a:gd name="adj" fmla="val 34390"/>
              </a:avLst>
            </a:prstGeom>
            <a:gradFill>
              <a:gsLst>
                <a:gs pos="50000">
                  <a:schemeClr val="accent2"/>
                </a:gs>
                <a:gs pos="100000">
                  <a:schemeClr val="accent1"/>
                </a:gs>
                <a:gs pos="0">
                  <a:schemeClr val="accent3">
                    <a:lumMod val="20000"/>
                    <a:lumOff val="80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cxnSp>
          <p:nvCxnSpPr>
            <p:cNvPr id="29" name="Rechte verbindingslijn 8">
              <a:extLst>
                <a:ext uri="{FF2B5EF4-FFF2-40B4-BE49-F238E27FC236}">
                  <a16:creationId xmlns:a16="http://schemas.microsoft.com/office/drawing/2014/main" id="{A3239A47-7688-AC30-090B-A22E630FC15C}"/>
                </a:ext>
              </a:extLst>
            </p:cNvPr>
            <p:cNvCxnSpPr/>
            <p:nvPr/>
          </p:nvCxnSpPr>
          <p:spPr>
            <a:xfrm>
              <a:off x="2529808"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0" name="Rechte verbindingslijn 9">
              <a:extLst>
                <a:ext uri="{FF2B5EF4-FFF2-40B4-BE49-F238E27FC236}">
                  <a16:creationId xmlns:a16="http://schemas.microsoft.com/office/drawing/2014/main" id="{AB03C8D2-A77E-F86D-699F-61EEAF3A6F6D}"/>
                </a:ext>
              </a:extLst>
            </p:cNvPr>
            <p:cNvCxnSpPr/>
            <p:nvPr/>
          </p:nvCxnSpPr>
          <p:spPr>
            <a:xfrm>
              <a:off x="4904817"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1" name="Rechte verbindingslijn 10">
              <a:extLst>
                <a:ext uri="{FF2B5EF4-FFF2-40B4-BE49-F238E27FC236}">
                  <a16:creationId xmlns:a16="http://schemas.microsoft.com/office/drawing/2014/main" id="{A14CB0E1-CAAE-D4CC-52AE-D4F8F65D414D}"/>
                </a:ext>
              </a:extLst>
            </p:cNvPr>
            <p:cNvCxnSpPr/>
            <p:nvPr/>
          </p:nvCxnSpPr>
          <p:spPr>
            <a:xfrm>
              <a:off x="7279826" y="1856867"/>
              <a:ext cx="0" cy="415481"/>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cxnSp>
          <p:nvCxnSpPr>
            <p:cNvPr id="39" name="Rechte verbindingslijn 12">
              <a:extLst>
                <a:ext uri="{FF2B5EF4-FFF2-40B4-BE49-F238E27FC236}">
                  <a16:creationId xmlns:a16="http://schemas.microsoft.com/office/drawing/2014/main" id="{0A8A6778-B9CF-3E87-C97E-26A24A41A976}"/>
                </a:ext>
              </a:extLst>
            </p:cNvPr>
            <p:cNvCxnSpPr/>
            <p:nvPr/>
          </p:nvCxnSpPr>
          <p:spPr>
            <a:xfrm>
              <a:off x="9654835" y="1856867"/>
              <a:ext cx="0" cy="453325"/>
            </a:xfrm>
            <a:prstGeom prst="line">
              <a:avLst/>
            </a:prstGeom>
            <a:ln w="25400">
              <a:solidFill>
                <a:schemeClr val="bg1"/>
              </a:solidFill>
              <a:prstDash val="solid"/>
            </a:ln>
          </p:spPr>
          <p:style>
            <a:lnRef idx="1">
              <a:schemeClr val="accent1"/>
            </a:lnRef>
            <a:fillRef idx="0">
              <a:schemeClr val="accent1"/>
            </a:fillRef>
            <a:effectRef idx="0">
              <a:schemeClr val="accent1"/>
            </a:effectRef>
            <a:fontRef idx="minor">
              <a:schemeClr val="tx1"/>
            </a:fontRef>
          </p:style>
        </p:cxnSp>
        <p:sp>
          <p:nvSpPr>
            <p:cNvPr id="40" name="Rechthoek 14">
              <a:extLst>
                <a:ext uri="{FF2B5EF4-FFF2-40B4-BE49-F238E27FC236}">
                  <a16:creationId xmlns:a16="http://schemas.microsoft.com/office/drawing/2014/main" id="{1A9FF113-390D-B765-CB3B-9A27EC9E0043}"/>
                </a:ext>
              </a:extLst>
            </p:cNvPr>
            <p:cNvSpPr/>
            <p:nvPr/>
          </p:nvSpPr>
          <p:spPr>
            <a:xfrm>
              <a:off x="134319" y="1914033"/>
              <a:ext cx="11923362" cy="299225"/>
            </a:xfrm>
            <a:prstGeom prst="rect">
              <a:avLst/>
            </a:prstGeom>
            <a:gradFill>
              <a:gsLst>
                <a:gs pos="53000">
                  <a:schemeClr val="bg1">
                    <a:alpha val="15000"/>
                  </a:schemeClr>
                </a:gs>
                <a:gs pos="15000">
                  <a:schemeClr val="bg1">
                    <a:alpha val="0"/>
                  </a:schemeClr>
                </a:gs>
              </a:gsLst>
              <a:lin ang="5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
          <p:nvSpPr>
            <p:cNvPr id="41" name="Afgeronde rechthoek 18">
              <a:extLst>
                <a:ext uri="{FF2B5EF4-FFF2-40B4-BE49-F238E27FC236}">
                  <a16:creationId xmlns:a16="http://schemas.microsoft.com/office/drawing/2014/main" id="{60755CF8-D102-5653-00B8-BE78247EA5F1}"/>
                </a:ext>
              </a:extLst>
            </p:cNvPr>
            <p:cNvSpPr/>
            <p:nvPr/>
          </p:nvSpPr>
          <p:spPr>
            <a:xfrm>
              <a:off x="2443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1.5</a:t>
              </a:r>
            </a:p>
          </p:txBody>
        </p:sp>
        <p:sp>
          <p:nvSpPr>
            <p:cNvPr id="42" name="Afgeronde rechthoek 19">
              <a:extLst>
                <a:ext uri="{FF2B5EF4-FFF2-40B4-BE49-F238E27FC236}">
                  <a16:creationId xmlns:a16="http://schemas.microsoft.com/office/drawing/2014/main" id="{DEE64A5D-4E01-5524-F799-1F6F1ECA090D}"/>
                </a:ext>
              </a:extLst>
            </p:cNvPr>
            <p:cNvSpPr/>
            <p:nvPr/>
          </p:nvSpPr>
          <p:spPr>
            <a:xfrm>
              <a:off x="481444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2.5</a:t>
              </a:r>
            </a:p>
          </p:txBody>
        </p:sp>
        <p:sp>
          <p:nvSpPr>
            <p:cNvPr id="43" name="Afgeronde rechthoek 20">
              <a:extLst>
                <a:ext uri="{FF2B5EF4-FFF2-40B4-BE49-F238E27FC236}">
                  <a16:creationId xmlns:a16="http://schemas.microsoft.com/office/drawing/2014/main" id="{BEBD6C4E-1E55-C06A-BBF3-8958FF7D7C43}"/>
                </a:ext>
              </a:extLst>
            </p:cNvPr>
            <p:cNvSpPr/>
            <p:nvPr/>
          </p:nvSpPr>
          <p:spPr>
            <a:xfrm>
              <a:off x="7196406"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3.5</a:t>
              </a:r>
            </a:p>
          </p:txBody>
        </p:sp>
        <p:sp>
          <p:nvSpPr>
            <p:cNvPr id="44" name="Afgeronde rechthoek 21">
              <a:extLst>
                <a:ext uri="{FF2B5EF4-FFF2-40B4-BE49-F238E27FC236}">
                  <a16:creationId xmlns:a16="http://schemas.microsoft.com/office/drawing/2014/main" id="{51CB4841-8577-D508-2FD2-5FE829BE9E20}"/>
                </a:ext>
              </a:extLst>
            </p:cNvPr>
            <p:cNvSpPr/>
            <p:nvPr/>
          </p:nvSpPr>
          <p:spPr>
            <a:xfrm>
              <a:off x="9571414"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4.5</a:t>
              </a:r>
            </a:p>
          </p:txBody>
        </p:sp>
        <p:sp>
          <p:nvSpPr>
            <p:cNvPr id="45" name="Afgeronde rechthoek 22">
              <a:extLst>
                <a:ext uri="{FF2B5EF4-FFF2-40B4-BE49-F238E27FC236}">
                  <a16:creationId xmlns:a16="http://schemas.microsoft.com/office/drawing/2014/main" id="{424AEB5C-E6BC-5C31-CBB0-CB678E021394}"/>
                </a:ext>
              </a:extLst>
            </p:cNvPr>
            <p:cNvSpPr/>
            <p:nvPr/>
          </p:nvSpPr>
          <p:spPr>
            <a:xfrm>
              <a:off x="222970"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0.5</a:t>
              </a:r>
            </a:p>
          </p:txBody>
        </p:sp>
        <p:sp>
          <p:nvSpPr>
            <p:cNvPr id="46" name="Afgeronde rechthoek 23">
              <a:extLst>
                <a:ext uri="{FF2B5EF4-FFF2-40B4-BE49-F238E27FC236}">
                  <a16:creationId xmlns:a16="http://schemas.microsoft.com/office/drawing/2014/main" id="{B28E507D-44A0-F88A-01F1-566B0FAD0FC8}"/>
                </a:ext>
              </a:extLst>
            </p:cNvPr>
            <p:cNvSpPr/>
            <p:nvPr/>
          </p:nvSpPr>
          <p:spPr>
            <a:xfrm>
              <a:off x="11787157" y="1992404"/>
              <a:ext cx="172786" cy="172784"/>
            </a:xfrm>
            <a:prstGeom prst="roundRect">
              <a:avLst>
                <a:gd name="adj" fmla="val 2765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108000" tIns="72000" rIns="108000" bIns="72000" rtlCol="0" anchor="ctr"/>
            <a:lstStyle/>
            <a:p>
              <a:pPr algn="ctr"/>
              <a:r>
                <a:rPr lang="en-US" sz="800" noProof="0" dirty="0">
                  <a:solidFill>
                    <a:schemeClr val="accent1"/>
                  </a:solidFill>
                  <a:latin typeface="☞NOIR PRO MEDIUM" pitchFamily="2" charset="0"/>
                </a:rPr>
                <a:t>5.5</a:t>
              </a:r>
            </a:p>
          </p:txBody>
        </p:sp>
        <p:sp>
          <p:nvSpPr>
            <p:cNvPr id="48" name="Rectangle 29">
              <a:extLst>
                <a:ext uri="{FF2B5EF4-FFF2-40B4-BE49-F238E27FC236}">
                  <a16:creationId xmlns:a16="http://schemas.microsoft.com/office/drawing/2014/main" id="{5AA3918E-C243-8940-15ED-6DCB20D268B1}"/>
                </a:ext>
              </a:extLst>
            </p:cNvPr>
            <p:cNvSpPr/>
            <p:nvPr/>
          </p:nvSpPr>
          <p:spPr>
            <a:xfrm>
              <a:off x="160766" y="1922220"/>
              <a:ext cx="23740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49" name="Rectangle 34">
              <a:extLst>
                <a:ext uri="{FF2B5EF4-FFF2-40B4-BE49-F238E27FC236}">
                  <a16:creationId xmlns:a16="http://schemas.microsoft.com/office/drawing/2014/main" id="{2B7654F3-F274-18DB-3333-74D092A89FB0}"/>
                </a:ext>
              </a:extLst>
            </p:cNvPr>
            <p:cNvSpPr/>
            <p:nvPr/>
          </p:nvSpPr>
          <p:spPr>
            <a:xfrm>
              <a:off x="2534850" y="1919492"/>
              <a:ext cx="2365984"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51" name="Rectangle 35">
              <a:extLst>
                <a:ext uri="{FF2B5EF4-FFF2-40B4-BE49-F238E27FC236}">
                  <a16:creationId xmlns:a16="http://schemas.microsoft.com/office/drawing/2014/main" id="{ED200687-7BC1-C02E-D320-49D6FB896F25}"/>
                </a:ext>
              </a:extLst>
            </p:cNvPr>
            <p:cNvSpPr/>
            <p:nvPr/>
          </p:nvSpPr>
          <p:spPr>
            <a:xfrm>
              <a:off x="4900833" y="1916764"/>
              <a:ext cx="2381966" cy="276999"/>
            </a:xfrm>
            <a:prstGeom prst="rect">
              <a:avLst/>
            </a:prstGeom>
          </p:spPr>
          <p:txBody>
            <a:bodyPr wrap="square" anchor="ctr">
              <a:spAutoFit/>
            </a:bodyPr>
            <a:lstStyle/>
            <a:p>
              <a:pPr algn="ctr"/>
              <a:r>
                <a:rPr lang="en-US" sz="1200" noProof="0" dirty="0">
                  <a:solidFill>
                    <a:schemeClr val="bg1"/>
                  </a:solidFill>
                  <a:cs typeface="Sigsterren"/>
                </a:rPr>
                <a:t>★★★☆☆</a:t>
              </a:r>
              <a:endParaRPr lang="en-US" sz="1200" noProof="0" dirty="0">
                <a:solidFill>
                  <a:schemeClr val="bg1"/>
                </a:solidFill>
              </a:endParaRPr>
            </a:p>
          </p:txBody>
        </p:sp>
        <p:sp>
          <p:nvSpPr>
            <p:cNvPr id="52" name="Rectangle 36">
              <a:extLst>
                <a:ext uri="{FF2B5EF4-FFF2-40B4-BE49-F238E27FC236}">
                  <a16:creationId xmlns:a16="http://schemas.microsoft.com/office/drawing/2014/main" id="{50A96A4F-95C3-61B9-5011-65B391A77225}"/>
                </a:ext>
              </a:extLst>
            </p:cNvPr>
            <p:cNvSpPr/>
            <p:nvPr/>
          </p:nvSpPr>
          <p:spPr>
            <a:xfrm>
              <a:off x="7284448" y="1925283"/>
              <a:ext cx="2376000" cy="276999"/>
            </a:xfrm>
            <a:prstGeom prst="rect">
              <a:avLst/>
            </a:prstGeom>
          </p:spPr>
          <p:txBody>
            <a:bodyPr wrap="square" anchor="ctr">
              <a:spAutoFit/>
            </a:bodyPr>
            <a:lstStyle/>
            <a:p>
              <a:pPr algn="ctr"/>
              <a:r>
                <a:rPr lang="en-US" sz="1200" dirty="0">
                  <a:solidFill>
                    <a:schemeClr val="bg1"/>
                  </a:solidFill>
                  <a:cs typeface="Sigsterren"/>
                </a:rPr>
                <a:t>★★★★☆</a:t>
              </a:r>
              <a:endParaRPr lang="en-US" sz="1200" dirty="0">
                <a:solidFill>
                  <a:schemeClr val="bg1"/>
                </a:solidFill>
              </a:endParaRPr>
            </a:p>
          </p:txBody>
        </p:sp>
        <p:sp>
          <p:nvSpPr>
            <p:cNvPr id="55" name="Rectangle 37">
              <a:extLst>
                <a:ext uri="{FF2B5EF4-FFF2-40B4-BE49-F238E27FC236}">
                  <a16:creationId xmlns:a16="http://schemas.microsoft.com/office/drawing/2014/main" id="{367A8A67-3457-4FA2-A363-B3F14A43072E}"/>
                </a:ext>
              </a:extLst>
            </p:cNvPr>
            <p:cNvSpPr/>
            <p:nvPr/>
          </p:nvSpPr>
          <p:spPr>
            <a:xfrm>
              <a:off x="9660447" y="1925283"/>
              <a:ext cx="2369404" cy="276999"/>
            </a:xfrm>
            <a:prstGeom prst="rect">
              <a:avLst/>
            </a:prstGeom>
          </p:spPr>
          <p:txBody>
            <a:bodyPr wrap="square" anchor="ctr">
              <a:spAutoFit/>
            </a:bodyPr>
            <a:lstStyle/>
            <a:p>
              <a:pPr algn="ctr"/>
              <a:r>
                <a:rPr lang="en-US" sz="1200" dirty="0">
                  <a:solidFill>
                    <a:schemeClr val="bg1"/>
                  </a:solidFill>
                  <a:cs typeface="Sigsterren"/>
                </a:rPr>
                <a:t>★★★★★</a:t>
              </a:r>
              <a:endParaRPr lang="en-US" sz="1200" noProof="0" dirty="0">
                <a:solidFill>
                  <a:schemeClr val="bg1"/>
                </a:solidFill>
              </a:endParaRPr>
            </a:p>
          </p:txBody>
        </p:sp>
        <p:cxnSp>
          <p:nvCxnSpPr>
            <p:cNvPr id="56" name="Rechte verbindingslijn 77">
              <a:extLst>
                <a:ext uri="{FF2B5EF4-FFF2-40B4-BE49-F238E27FC236}">
                  <a16:creationId xmlns:a16="http://schemas.microsoft.com/office/drawing/2014/main" id="{BA782917-279D-CB2D-D97E-3910DF4196B4}"/>
                </a:ext>
              </a:extLst>
            </p:cNvPr>
            <p:cNvCxnSpPr/>
            <p:nvPr/>
          </p:nvCxnSpPr>
          <p:spPr>
            <a:xfrm>
              <a:off x="4906583"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cxnSp>
          <p:nvCxnSpPr>
            <p:cNvPr id="57" name="Rechte verbindingslijn 79">
              <a:extLst>
                <a:ext uri="{FF2B5EF4-FFF2-40B4-BE49-F238E27FC236}">
                  <a16:creationId xmlns:a16="http://schemas.microsoft.com/office/drawing/2014/main" id="{2667CBF8-AB62-D99D-BA51-142C08F5CF79}"/>
                </a:ext>
              </a:extLst>
            </p:cNvPr>
            <p:cNvCxnSpPr/>
            <p:nvPr/>
          </p:nvCxnSpPr>
          <p:spPr>
            <a:xfrm>
              <a:off x="7279817" y="2280314"/>
              <a:ext cx="0" cy="283501"/>
            </a:xfrm>
            <a:prstGeom prst="line">
              <a:avLst/>
            </a:prstGeom>
            <a:ln w="9525">
              <a:gradFill>
                <a:gsLst>
                  <a:gs pos="0">
                    <a:schemeClr val="accent3"/>
                  </a:gs>
                  <a:gs pos="85000">
                    <a:schemeClr val="accent3">
                      <a:alpha val="0"/>
                    </a:schemeClr>
                  </a:gs>
                </a:gsLst>
                <a:lin ang="5400000" scaled="1"/>
              </a:gradFill>
              <a:prstDash val="sysDot"/>
            </a:ln>
          </p:spPr>
          <p:style>
            <a:lnRef idx="1">
              <a:schemeClr val="accent1"/>
            </a:lnRef>
            <a:fillRef idx="0">
              <a:schemeClr val="accent1"/>
            </a:fillRef>
            <a:effectRef idx="0">
              <a:schemeClr val="accent1"/>
            </a:effectRef>
            <a:fontRef idx="minor">
              <a:schemeClr val="tx1"/>
            </a:fontRef>
          </p:style>
        </p:cxnSp>
        <p:pic>
          <p:nvPicPr>
            <p:cNvPr id="58" name="Graphic 57">
              <a:extLst>
                <a:ext uri="{FF2B5EF4-FFF2-40B4-BE49-F238E27FC236}">
                  <a16:creationId xmlns:a16="http://schemas.microsoft.com/office/drawing/2014/main" id="{E2BAF064-7635-1B45-EA75-1067691D05F4}"/>
                </a:ext>
              </a:extLst>
            </p:cNvPr>
            <p:cNvPicPr/>
            <p:nvPr/>
          </p:nvPicPr>
          <p:blipFill>
            <a:blip>
              <a:extLst>
                <a:ext uri="{96DAC541-7B7A-43D3-8B79-37D633B846F1}">
                  <asvg:svgBlip xmlns:asvg="http://schemas.microsoft.com/office/drawing/2016/SVG/main" r:embed="rId2"/>
                </a:ext>
              </a:extLst>
            </a:blip>
            <a:stretch>
              <a:fillRect/>
            </a:stretch>
          </p:blipFill>
          <p:spPr>
            <a:xfrm>
              <a:off x="363416" y="2285629"/>
              <a:ext cx="270098" cy="228966"/>
            </a:xfrm>
            <a:prstGeom prst="rect">
              <a:avLst/>
            </a:prstGeom>
          </p:spPr>
        </p:pic>
        <p:cxnSp>
          <p:nvCxnSpPr>
            <p:cNvPr id="59" name="Rechte verbindingslijn 27">
              <a:extLst>
                <a:ext uri="{FF2B5EF4-FFF2-40B4-BE49-F238E27FC236}">
                  <a16:creationId xmlns:a16="http://schemas.microsoft.com/office/drawing/2014/main" id="{2DD03688-C2CE-72C7-2E9D-3FF562749A55}"/>
                </a:ext>
              </a:extLst>
            </p:cNvPr>
            <p:cNvCxnSpPr/>
            <p:nvPr/>
          </p:nvCxnSpPr>
          <p:spPr>
            <a:xfrm>
              <a:off x="709721" y="2346696"/>
              <a:ext cx="0" cy="135023"/>
            </a:xfrm>
            <a:prstGeom prst="line">
              <a:avLst/>
            </a:prstGeom>
            <a:ln w="9525">
              <a:solidFill>
                <a:schemeClr val="accent1"/>
              </a:solidFill>
              <a:prstDash val="sysDot"/>
            </a:ln>
          </p:spPr>
          <p:style>
            <a:lnRef idx="1">
              <a:schemeClr val="accent1"/>
            </a:lnRef>
            <a:fillRef idx="0">
              <a:schemeClr val="accent1"/>
            </a:fillRef>
            <a:effectRef idx="0">
              <a:schemeClr val="accent1"/>
            </a:effectRef>
            <a:fontRef idx="minor">
              <a:schemeClr val="tx1"/>
            </a:fontRef>
          </p:style>
        </p:cxnSp>
        <p:pic>
          <p:nvPicPr>
            <p:cNvPr id="60" name="Graphic 59">
              <a:extLst>
                <a:ext uri="{FF2B5EF4-FFF2-40B4-BE49-F238E27FC236}">
                  <a16:creationId xmlns:a16="http://schemas.microsoft.com/office/drawing/2014/main" id="{E7C1EB5F-382D-9F3C-AD26-C3E7BE7E26CB}"/>
                </a:ext>
              </a:extLst>
            </p:cNvPr>
            <p:cNvPicPr/>
            <p:nvPr/>
          </p:nvPicPr>
          <p:blipFill>
            <a:blip>
              <a:extLst>
                <a:ext uri="{96DAC541-7B7A-43D3-8B79-37D633B846F1}">
                  <asvg:svgBlip xmlns:asvg="http://schemas.microsoft.com/office/drawing/2016/SVG/main" r:embed="rId3"/>
                </a:ext>
              </a:extLst>
            </a:blip>
            <a:stretch>
              <a:fillRect/>
            </a:stretch>
          </p:blipFill>
          <p:spPr>
            <a:xfrm>
              <a:off x="11764650" y="2307999"/>
              <a:ext cx="217800" cy="216422"/>
            </a:xfrm>
            <a:prstGeom prst="rect">
              <a:avLst/>
            </a:prstGeom>
          </p:spPr>
        </p:pic>
      </p:grpSp>
      <p:sp>
        <p:nvSpPr>
          <p:cNvPr id="2" name="Tijdelijke aanduiding voor tekst 1">
            <a:extLst>
              <a:ext uri="{FF2B5EF4-FFF2-40B4-BE49-F238E27FC236}">
                <a16:creationId xmlns:a16="http://schemas.microsoft.com/office/drawing/2014/main" id="{3AC69A2C-A802-2564-B045-52FACE4578A8}"/>
              </a:ext>
            </a:extLst>
          </p:cNvPr>
          <p:cNvSpPr>
            <a:spLocks noGrp="1"/>
          </p:cNvSpPr>
          <p:nvPr>
            <p:ph type="body" sz="quarter" idx="12"/>
          </p:nvPr>
        </p:nvSpPr>
        <p:spPr>
          <a:xfrm>
            <a:off x="381000" y="129609"/>
            <a:ext cx="2927899" cy="228145"/>
          </a:xfrm>
        </p:spPr>
        <p:txBody>
          <a:bodyPr/>
          <a:lstStyle/>
          <a:p>
            <a:r>
              <a:rPr lang="en-US" noProof="0" dirty="0"/>
              <a:t>Key findings – Open Source and IP</a:t>
            </a:r>
          </a:p>
        </p:txBody>
      </p:sp>
      <p:sp>
        <p:nvSpPr>
          <p:cNvPr id="54" name="Tijdelijke aanduiding voor inhoud 53">
            <a:extLst>
              <a:ext uri="{FF2B5EF4-FFF2-40B4-BE49-F238E27FC236}">
                <a16:creationId xmlns:a16="http://schemas.microsoft.com/office/drawing/2014/main" id="{92F6EBB4-2CFF-E11E-C500-7D4D087C5FD3}"/>
              </a:ext>
            </a:extLst>
          </p:cNvPr>
          <p:cNvSpPr>
            <a:spLocks noGrp="1"/>
          </p:cNvSpPr>
          <p:nvPr>
            <p:ph sz="quarter" idx="13"/>
          </p:nvPr>
        </p:nvSpPr>
        <p:spPr>
          <a:xfrm>
            <a:off x="154799" y="2738112"/>
            <a:ext cx="8090297" cy="3525887"/>
          </a:xfrm>
        </p:spPr>
        <p:txBody>
          <a:bodyPr/>
          <a:lstStyle/>
          <a:p>
            <a:r>
              <a:rPr lang="en-US" sz="1400" noProof="0" dirty="0" err="1"/>
              <a:t>1% of dependencies (1 in total) used in the system contain one or more known vulnerabilities.</a:t>
            </a:r>
            <a:endParaRPr lang="en-US" sz="1400" noProof="0" dirty="0"/>
          </a:p>
          <a:p>
            <a:r>
              <a:rPr lang="en-US" sz="1400" noProof="0" dirty="0" err="1"/>
              <a:t>All dependencies in the system use relatively liberal open-source licenses.</a:t>
            </a:r>
            <a:endParaRPr lang="en-US" sz="1400" noProof="0" dirty="0"/>
          </a:p>
          <a:p>
            <a:r>
              <a:rPr lang="en-US" sz="1400" noProof="0" dirty="0" err="1"/>
              <a:t>1% of dependencies (1 in total) used in the system have not been updated for over 2 years.</a:t>
            </a:r>
            <a:endParaRPr lang="en-US" sz="1400" noProof="0" dirty="0"/>
          </a:p>
          <a:p>
            <a:r>
              <a:rPr lang="en-US" sz="1400" noProof="0" dirty="0" err="1"/>
              <a:t>All dependencies in the system are managed by a package manager.</a:t>
            </a:r>
            <a:endParaRPr lang="en-US" sz="1400" noProof="0" dirty="0"/>
          </a:p>
        </p:txBody>
      </p:sp>
      <p:sp>
        <p:nvSpPr>
          <p:cNvPr id="4" name="Tijdelijke aanduiding voor voettekst 3">
            <a:extLst>
              <a:ext uri="{FF2B5EF4-FFF2-40B4-BE49-F238E27FC236}">
                <a16:creationId xmlns:a16="http://schemas.microsoft.com/office/drawing/2014/main" id="{4F31452C-B3D9-1038-BB21-62811C472580}"/>
              </a:ext>
            </a:extLst>
          </p:cNvPr>
          <p:cNvSpPr>
            <a:spLocks noGrp="1"/>
          </p:cNvSpPr>
          <p:nvPr>
            <p:ph type="ftr" sz="quarter" idx="14"/>
          </p:nvPr>
        </p:nvSpPr>
        <p:spPr/>
        <p:txBody>
          <a:bodyPr/>
          <a:lstStyle/>
          <a:p>
            <a:r>
              <a:rPr lang="en-US" noProof="0" dirty="0"/>
              <a:t>Confidential</a:t>
            </a:r>
          </a:p>
        </p:txBody>
      </p:sp>
      <p:sp>
        <p:nvSpPr>
          <p:cNvPr id="5" name="Tijdelijke aanduiding voor dianummer 4">
            <a:extLst>
              <a:ext uri="{FF2B5EF4-FFF2-40B4-BE49-F238E27FC236}">
                <a16:creationId xmlns:a16="http://schemas.microsoft.com/office/drawing/2014/main" id="{39F0A056-8E36-38AE-2AC7-E82BB91DEF6E}"/>
              </a:ext>
            </a:extLst>
          </p:cNvPr>
          <p:cNvSpPr>
            <a:spLocks noGrp="1"/>
          </p:cNvSpPr>
          <p:nvPr>
            <p:ph type="sldNum" sz="quarter" idx="15"/>
          </p:nvPr>
        </p:nvSpPr>
        <p:spPr/>
        <p:txBody>
          <a:bodyPr/>
          <a:lstStyle/>
          <a:p>
            <a:fld id="{E242BD21-9B61-2246-BCB1-4BE5E1BEBE1C}" type="slidenum">
              <a:rPr lang="en-US" noProof="0" smtClean="0"/>
              <a:pPr/>
              <a:t>17</a:t>
            </a:fld>
            <a:endParaRPr lang="en-US" noProof="0" dirty="0"/>
          </a:p>
        </p:txBody>
      </p:sp>
      <p:sp>
        <p:nvSpPr>
          <p:cNvPr id="53" name="Titel 52">
            <a:extLst>
              <a:ext uri="{FF2B5EF4-FFF2-40B4-BE49-F238E27FC236}">
                <a16:creationId xmlns:a16="http://schemas.microsoft.com/office/drawing/2014/main" id="{C627CDF4-44FD-FE7F-BEB6-F93F1653279A}"/>
              </a:ext>
            </a:extLst>
          </p:cNvPr>
          <p:cNvSpPr>
            <a:spLocks noGrp="1"/>
          </p:cNvSpPr>
          <p:nvPr>
            <p:ph type="title"/>
          </p:nvPr>
        </p:nvSpPr>
        <p:spPr/>
        <p:txBody>
          <a:bodyPr/>
          <a:lstStyle/>
          <a:p>
            <a:r>
              <a:rPr lang="en-US" noProof="0" dirty="0" err="1"/>
              <a:t>Integrationtest-kafka rates market average in Open-Source health</a:t>
            </a:r>
          </a:p>
        </p:txBody>
      </p:sp>
      <p:cxnSp>
        <p:nvCxnSpPr>
          <p:cNvPr id="47" name="Rechte verbindingslijn 46">
            <a:extLst>
              <a:ext uri="{FF2B5EF4-FFF2-40B4-BE49-F238E27FC236}">
                <a16:creationId xmlns:a16="http://schemas.microsoft.com/office/drawing/2014/main" id="{071C9F9A-A1FA-AA10-D877-152A912912CC}"/>
              </a:ext>
            </a:extLst>
          </p:cNvPr>
          <p:cNvCxnSpPr>
            <a:cxnSpLocks noGrp="1" noRot="1" noMove="1" noResize="1" noEditPoints="1" noAdjustHandles="1" noChangeArrowheads="1" noChangeShapeType="1"/>
          </p:cNvCxnSpPr>
          <p:nvPr/>
        </p:nvCxnSpPr>
        <p:spPr>
          <a:xfrm>
            <a:off x="8378314" y="2821727"/>
            <a:ext cx="0" cy="1679328"/>
          </a:xfrm>
          <a:prstGeom prst="line">
            <a:avLst/>
          </a:prstGeom>
          <a:ln w="9525">
            <a:solidFill>
              <a:schemeClr val="bg1">
                <a:lumMod val="65000"/>
              </a:schemeClr>
            </a:solidFill>
            <a:prstDash val="sysDot"/>
          </a:ln>
        </p:spPr>
        <p:style>
          <a:lnRef idx="1">
            <a:schemeClr val="accent1"/>
          </a:lnRef>
          <a:fillRef idx="0">
            <a:schemeClr val="accent1"/>
          </a:fillRef>
          <a:effectRef idx="0">
            <a:schemeClr val="accent1"/>
          </a:effectRef>
          <a:fontRef idx="minor">
            <a:schemeClr val="tx1"/>
          </a:fontRef>
        </p:style>
      </p:cxnSp>
      <p:sp>
        <p:nvSpPr>
          <p:cNvPr id="65" name="TextBox 39">
            <a:extLst>
              <a:ext uri="{FF2B5EF4-FFF2-40B4-BE49-F238E27FC236}">
                <a16:creationId xmlns:a16="http://schemas.microsoft.com/office/drawing/2014/main" id="{0EE68FF8-4CD1-81B5-DCFE-9E07D30C1415}"/>
              </a:ext>
            </a:extLst>
          </p:cNvPr>
          <p:cNvSpPr txBox="1">
            <a:spLocks noGrp="1" noRot="1" noMove="1" noResize="1" noEditPoints="1" noAdjustHandles="1" noChangeArrowheads="1" noChangeShapeType="1"/>
          </p:cNvSpPr>
          <p:nvPr/>
        </p:nvSpPr>
        <p:spPr>
          <a:xfrm>
            <a:off x="8571496" y="2735427"/>
            <a:ext cx="2378985" cy="276999"/>
          </a:xfrm>
          <a:prstGeom prst="rect">
            <a:avLst/>
          </a:prstGeom>
          <a:noFill/>
        </p:spPr>
        <p:txBody>
          <a:bodyPr wrap="square" rtlCol="0" anchor="ctr">
            <a:spAutoFit/>
          </a:bodyPr>
          <a:lstStyle/>
          <a:p>
            <a:r>
              <a:rPr lang="en-US" sz="1200" noProof="0" dirty="0">
                <a:latin typeface="☞NOIR PRO MEDIUM" pitchFamily="2" charset="0"/>
              </a:rPr>
              <a:t>System metric ratings</a:t>
            </a:r>
          </a:p>
        </p:txBody>
      </p:sp>
      <p:graphicFrame>
        <p:nvGraphicFramePr>
          <p:cNvPr id="38" name="Group 52">
            <a:extLst>
              <a:ext uri="{FF2B5EF4-FFF2-40B4-BE49-F238E27FC236}">
                <a16:creationId xmlns:a16="http://schemas.microsoft.com/office/drawing/2014/main" id="{DA65BE2A-A98A-8EBA-0757-212F21D72736}"/>
              </a:ext>
            </a:extLst>
          </p:cNvPr>
          <p:cNvGraphicFramePr>
            <a:graphicFrameLocks noGrp="1"/>
          </p:cNvGraphicFramePr>
          <p:nvPr>
            <p:extLst>
              <p:ext uri="{D42A27DB-BD31-4B8C-83A1-F6EECF244321}">
                <p14:modId xmlns:p14="http://schemas.microsoft.com/office/powerpoint/2010/main" val="2946106464"/>
              </p:ext>
            </p:extLst>
          </p:nvPr>
        </p:nvGraphicFramePr>
        <p:xfrm>
          <a:off x="8571496" y="3035953"/>
          <a:ext cx="3116504" cy="2143080"/>
        </p:xfrm>
        <a:graphic>
          <a:graphicData uri="http://schemas.openxmlformats.org/drawingml/2006/table">
            <a:tbl>
              <a:tblPr>
                <a:tableStyleId>{5940675A-B579-460E-94D1-54222C63F5DA}</a:tableStyleId>
              </a:tblPr>
              <a:tblGrid>
                <a:gridCol w="1863732">
                  <a:extLst>
                    <a:ext uri="{9D8B030D-6E8A-4147-A177-3AD203B41FA5}">
                      <a16:colId xmlns:a16="http://schemas.microsoft.com/office/drawing/2014/main" val="20000"/>
                    </a:ext>
                  </a:extLst>
                </a:gridCol>
                <a:gridCol w="806823">
                  <a:extLst>
                    <a:ext uri="{9D8B030D-6E8A-4147-A177-3AD203B41FA5}">
                      <a16:colId xmlns:a16="http://schemas.microsoft.com/office/drawing/2014/main" val="335839943"/>
                    </a:ext>
                  </a:extLst>
                </a:gridCol>
                <a:gridCol w="445949">
                  <a:extLst>
                    <a:ext uri="{9D8B030D-6E8A-4147-A177-3AD203B41FA5}">
                      <a16:colId xmlns:a16="http://schemas.microsoft.com/office/drawing/2014/main" val="2689889332"/>
                    </a:ext>
                  </a:extLst>
                </a:gridCol>
              </a:tblGrid>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Vulnerability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2.4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08215">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a:ln>
                            <a:noFill/>
                          </a:ln>
                          <a:solidFill>
                            <a:schemeClr val="tx1"/>
                          </a:solidFill>
                          <a:effectLst/>
                          <a:latin typeface="+mn-lt"/>
                          <a:ea typeface="ＭＳ Ｐゴシック" charset="0"/>
                          <a:cs typeface="TheSans B7 Bold"/>
                        </a:rPr>
                        <a:t>License use</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4.5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Freshness</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Management</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5.5</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39936421"/>
                  </a:ext>
                </a:extLst>
              </a:tr>
              <a:tr h="310742">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defRPr/>
                      </a:pPr>
                      <a:r>
                        <a:rPr kumimoji="0" lang="en-US" sz="1200" b="0" i="0" u="none" strike="noStrike" cap="none" normalizeH="0" baseline="0" noProof="0" dirty="0">
                          <a:ln>
                            <a:noFill/>
                          </a:ln>
                          <a:solidFill>
                            <a:schemeClr val="tx1"/>
                          </a:solidFill>
                          <a:effectLst/>
                          <a:latin typeface="+mn-lt"/>
                          <a:ea typeface="ＭＳ Ｐゴシック" charset="0"/>
                          <a:cs typeface="TheSans B7 Bold"/>
                        </a:rPr>
                        <a:t>Activity</a:t>
                      </a: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85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mn-lt"/>
                          <a:ea typeface="ＭＳ Ｐゴシック" charset="0"/>
                          <a:cs typeface="TheSans B7 Bold"/>
                        </a:rPr>
                        <a:t>★☆☆☆☆</a:t>
                      </a:r>
                      <a:endParaRPr kumimoji="0" lang="en-US" sz="1200" b="0" i="0" u="none" strike="noStrike" cap="none" normalizeH="0" baseline="0" noProof="0" dirty="0">
                        <a:ln>
                          <a:noFill/>
                        </a:ln>
                        <a:solidFill>
                          <a:schemeClr val="tx1"/>
                        </a:solidFill>
                        <a:effectLst/>
                        <a:latin typeface="+mn-lt"/>
                        <a:ea typeface="ＭＳ Ｐゴシック" charset="0"/>
                        <a:cs typeface="TheSans B7 Bold"/>
                      </a:endParaRPr>
                    </a:p>
                  </a:txBody>
                  <a:tcPr marB="72000"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tab pos="168275" algn="l"/>
                        </a:tabLst>
                      </a:pPr>
                      <a:r>
                        <a:rPr kumimoji="0" lang="en-US" sz="1200" b="0" i="0" u="none" strike="noStrike" cap="none" normalizeH="0" baseline="0" noProof="0" dirty="0" err="1">
                          <a:ln>
                            <a:noFill/>
                          </a:ln>
                          <a:solidFill>
                            <a:schemeClr val="tx1"/>
                          </a:solidFill>
                          <a:effectLst/>
                          <a:latin typeface="☞NOIR PRO MEDIUM" pitchFamily="2" charset="0"/>
                          <a:ea typeface="ＭＳ Ｐゴシック" charset="0"/>
                          <a:cs typeface="TheSans B7 Bold"/>
                        </a:rPr>
                        <a:t>1.4</a:t>
                      </a:r>
                      <a:endParaRPr kumimoji="0" lang="en-US" sz="1200" b="0" i="0" u="none" strike="noStrike" cap="none" normalizeH="0" baseline="0" noProof="0" dirty="0">
                        <a:ln>
                          <a:noFill/>
                        </a:ln>
                        <a:solidFill>
                          <a:schemeClr val="tx1"/>
                        </a:solidFill>
                        <a:effectLst/>
                        <a:latin typeface="☞NOIR PRO MEDIUM" pitchFamily="2" charset="0"/>
                        <a:ea typeface="ＭＳ Ｐゴシック" charset="0"/>
                        <a:cs typeface="TheSans B7 Bold"/>
                      </a:endParaRPr>
                    </a:p>
                  </a:txBody>
                  <a:tcPr marB="72000" anchor="ctr" horzOverflow="overflow">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067257320"/>
                  </a:ext>
                </a:extLst>
              </a:tr>
            </a:tbl>
          </a:graphicData>
        </a:graphic>
      </p:graphicFrame>
      <p:graphicFrame>
        <p:nvGraphicFramePr>
          <p:cNvPr id="74" name="Table 3">
            <a:extLst>
              <a:ext uri="{FF2B5EF4-FFF2-40B4-BE49-F238E27FC236}">
                <a16:creationId xmlns:a16="http://schemas.microsoft.com/office/drawing/2014/main" id="{D0BD417E-8466-1687-21C5-BCB913951ADD}"/>
              </a:ext>
            </a:extLst>
          </p:cNvPr>
          <p:cNvGraphicFramePr>
            <a:graphicFrameLocks noGrp="1" noDrilldown="1" noMove="1" noResize="1"/>
          </p:cNvGraphicFramePr>
          <p:nvPr/>
        </p:nvGraphicFramePr>
        <p:xfrm>
          <a:off x="154799" y="2234594"/>
          <a:ext cx="11875047" cy="45720"/>
        </p:xfrm>
        <a:graphic>
          <a:graphicData uri="http://schemas.openxmlformats.org/drawingml/2006/table">
            <a:tbl>
              <a:tblPr>
                <a:tableStyleId>{5C22544A-7EE6-4342-B048-85BDC9FD1C3A}</a:tableStyleId>
              </a:tblPr>
              <a:tblGrid>
                <a:gridCol w="237501">
                  <a:extLst>
                    <a:ext uri="{9D8B030D-6E8A-4147-A177-3AD203B41FA5}">
                      <a16:colId xmlns:a16="http://schemas.microsoft.com/office/drawing/2014/main" val="213295414"/>
                    </a:ext>
                  </a:extLst>
                </a:gridCol>
                <a:gridCol w="237501">
                  <a:extLst>
                    <a:ext uri="{9D8B030D-6E8A-4147-A177-3AD203B41FA5}">
                      <a16:colId xmlns:a16="http://schemas.microsoft.com/office/drawing/2014/main" val="903666758"/>
                    </a:ext>
                  </a:extLst>
                </a:gridCol>
                <a:gridCol w="237501">
                  <a:extLst>
                    <a:ext uri="{9D8B030D-6E8A-4147-A177-3AD203B41FA5}">
                      <a16:colId xmlns:a16="http://schemas.microsoft.com/office/drawing/2014/main" val="1885156680"/>
                    </a:ext>
                  </a:extLst>
                </a:gridCol>
                <a:gridCol w="237501">
                  <a:extLst>
                    <a:ext uri="{9D8B030D-6E8A-4147-A177-3AD203B41FA5}">
                      <a16:colId xmlns:a16="http://schemas.microsoft.com/office/drawing/2014/main" val="1495153275"/>
                    </a:ext>
                  </a:extLst>
                </a:gridCol>
                <a:gridCol w="237501">
                  <a:extLst>
                    <a:ext uri="{9D8B030D-6E8A-4147-A177-3AD203B41FA5}">
                      <a16:colId xmlns:a16="http://schemas.microsoft.com/office/drawing/2014/main" val="2657424204"/>
                    </a:ext>
                  </a:extLst>
                </a:gridCol>
                <a:gridCol w="237501">
                  <a:extLst>
                    <a:ext uri="{9D8B030D-6E8A-4147-A177-3AD203B41FA5}">
                      <a16:colId xmlns:a16="http://schemas.microsoft.com/office/drawing/2014/main" val="716304315"/>
                    </a:ext>
                  </a:extLst>
                </a:gridCol>
                <a:gridCol w="237501">
                  <a:extLst>
                    <a:ext uri="{9D8B030D-6E8A-4147-A177-3AD203B41FA5}">
                      <a16:colId xmlns:a16="http://schemas.microsoft.com/office/drawing/2014/main" val="2950638044"/>
                    </a:ext>
                  </a:extLst>
                </a:gridCol>
                <a:gridCol w="237501">
                  <a:extLst>
                    <a:ext uri="{9D8B030D-6E8A-4147-A177-3AD203B41FA5}">
                      <a16:colId xmlns:a16="http://schemas.microsoft.com/office/drawing/2014/main" val="1105443378"/>
                    </a:ext>
                  </a:extLst>
                </a:gridCol>
                <a:gridCol w="237501">
                  <a:extLst>
                    <a:ext uri="{9D8B030D-6E8A-4147-A177-3AD203B41FA5}">
                      <a16:colId xmlns:a16="http://schemas.microsoft.com/office/drawing/2014/main" val="3269029847"/>
                    </a:ext>
                  </a:extLst>
                </a:gridCol>
                <a:gridCol w="237501">
                  <a:extLst>
                    <a:ext uri="{9D8B030D-6E8A-4147-A177-3AD203B41FA5}">
                      <a16:colId xmlns:a16="http://schemas.microsoft.com/office/drawing/2014/main" val="2424136166"/>
                    </a:ext>
                  </a:extLst>
                </a:gridCol>
                <a:gridCol w="237501">
                  <a:extLst>
                    <a:ext uri="{9D8B030D-6E8A-4147-A177-3AD203B41FA5}">
                      <a16:colId xmlns:a16="http://schemas.microsoft.com/office/drawing/2014/main" val="3177950420"/>
                    </a:ext>
                  </a:extLst>
                </a:gridCol>
                <a:gridCol w="237501">
                  <a:extLst>
                    <a:ext uri="{9D8B030D-6E8A-4147-A177-3AD203B41FA5}">
                      <a16:colId xmlns:a16="http://schemas.microsoft.com/office/drawing/2014/main" val="1663229786"/>
                    </a:ext>
                  </a:extLst>
                </a:gridCol>
                <a:gridCol w="237501">
                  <a:extLst>
                    <a:ext uri="{9D8B030D-6E8A-4147-A177-3AD203B41FA5}">
                      <a16:colId xmlns:a16="http://schemas.microsoft.com/office/drawing/2014/main" val="942425598"/>
                    </a:ext>
                  </a:extLst>
                </a:gridCol>
                <a:gridCol w="237501">
                  <a:extLst>
                    <a:ext uri="{9D8B030D-6E8A-4147-A177-3AD203B41FA5}">
                      <a16:colId xmlns:a16="http://schemas.microsoft.com/office/drawing/2014/main" val="1814439937"/>
                    </a:ext>
                  </a:extLst>
                </a:gridCol>
                <a:gridCol w="237501">
                  <a:extLst>
                    <a:ext uri="{9D8B030D-6E8A-4147-A177-3AD203B41FA5}">
                      <a16:colId xmlns:a16="http://schemas.microsoft.com/office/drawing/2014/main" val="3164329391"/>
                    </a:ext>
                  </a:extLst>
                </a:gridCol>
                <a:gridCol w="237501">
                  <a:extLst>
                    <a:ext uri="{9D8B030D-6E8A-4147-A177-3AD203B41FA5}">
                      <a16:colId xmlns:a16="http://schemas.microsoft.com/office/drawing/2014/main" val="3521393928"/>
                    </a:ext>
                  </a:extLst>
                </a:gridCol>
                <a:gridCol w="237501">
                  <a:extLst>
                    <a:ext uri="{9D8B030D-6E8A-4147-A177-3AD203B41FA5}">
                      <a16:colId xmlns:a16="http://schemas.microsoft.com/office/drawing/2014/main" val="3069234948"/>
                    </a:ext>
                  </a:extLst>
                </a:gridCol>
                <a:gridCol w="237501">
                  <a:extLst>
                    <a:ext uri="{9D8B030D-6E8A-4147-A177-3AD203B41FA5}">
                      <a16:colId xmlns:a16="http://schemas.microsoft.com/office/drawing/2014/main" val="2500553852"/>
                    </a:ext>
                  </a:extLst>
                </a:gridCol>
                <a:gridCol w="237501">
                  <a:extLst>
                    <a:ext uri="{9D8B030D-6E8A-4147-A177-3AD203B41FA5}">
                      <a16:colId xmlns:a16="http://schemas.microsoft.com/office/drawing/2014/main" val="2187502831"/>
                    </a:ext>
                  </a:extLst>
                </a:gridCol>
                <a:gridCol w="233731">
                  <a:extLst>
                    <a:ext uri="{9D8B030D-6E8A-4147-A177-3AD203B41FA5}">
                      <a16:colId xmlns:a16="http://schemas.microsoft.com/office/drawing/2014/main" val="3396659716"/>
                    </a:ext>
                  </a:extLst>
                </a:gridCol>
                <a:gridCol w="241272">
                  <a:extLst>
                    <a:ext uri="{9D8B030D-6E8A-4147-A177-3AD203B41FA5}">
                      <a16:colId xmlns:a16="http://schemas.microsoft.com/office/drawing/2014/main" val="2475302107"/>
                    </a:ext>
                  </a:extLst>
                </a:gridCol>
                <a:gridCol w="237501">
                  <a:extLst>
                    <a:ext uri="{9D8B030D-6E8A-4147-A177-3AD203B41FA5}">
                      <a16:colId xmlns:a16="http://schemas.microsoft.com/office/drawing/2014/main" val="3393671400"/>
                    </a:ext>
                  </a:extLst>
                </a:gridCol>
                <a:gridCol w="237501">
                  <a:extLst>
                    <a:ext uri="{9D8B030D-6E8A-4147-A177-3AD203B41FA5}">
                      <a16:colId xmlns:a16="http://schemas.microsoft.com/office/drawing/2014/main" val="2985708332"/>
                    </a:ext>
                  </a:extLst>
                </a:gridCol>
                <a:gridCol w="237501">
                  <a:extLst>
                    <a:ext uri="{9D8B030D-6E8A-4147-A177-3AD203B41FA5}">
                      <a16:colId xmlns:a16="http://schemas.microsoft.com/office/drawing/2014/main" val="3482998259"/>
                    </a:ext>
                  </a:extLst>
                </a:gridCol>
                <a:gridCol w="237501">
                  <a:extLst>
                    <a:ext uri="{9D8B030D-6E8A-4147-A177-3AD203B41FA5}">
                      <a16:colId xmlns:a16="http://schemas.microsoft.com/office/drawing/2014/main" val="4287070680"/>
                    </a:ext>
                  </a:extLst>
                </a:gridCol>
                <a:gridCol w="237501">
                  <a:extLst>
                    <a:ext uri="{9D8B030D-6E8A-4147-A177-3AD203B41FA5}">
                      <a16:colId xmlns:a16="http://schemas.microsoft.com/office/drawing/2014/main" val="1067620793"/>
                    </a:ext>
                  </a:extLst>
                </a:gridCol>
                <a:gridCol w="237501">
                  <a:extLst>
                    <a:ext uri="{9D8B030D-6E8A-4147-A177-3AD203B41FA5}">
                      <a16:colId xmlns:a16="http://schemas.microsoft.com/office/drawing/2014/main" val="631246911"/>
                    </a:ext>
                  </a:extLst>
                </a:gridCol>
                <a:gridCol w="237501">
                  <a:extLst>
                    <a:ext uri="{9D8B030D-6E8A-4147-A177-3AD203B41FA5}">
                      <a16:colId xmlns:a16="http://schemas.microsoft.com/office/drawing/2014/main" val="590436206"/>
                    </a:ext>
                  </a:extLst>
                </a:gridCol>
                <a:gridCol w="237501">
                  <a:extLst>
                    <a:ext uri="{9D8B030D-6E8A-4147-A177-3AD203B41FA5}">
                      <a16:colId xmlns:a16="http://schemas.microsoft.com/office/drawing/2014/main" val="2476769573"/>
                    </a:ext>
                  </a:extLst>
                </a:gridCol>
                <a:gridCol w="234041">
                  <a:extLst>
                    <a:ext uri="{9D8B030D-6E8A-4147-A177-3AD203B41FA5}">
                      <a16:colId xmlns:a16="http://schemas.microsoft.com/office/drawing/2014/main" val="3064695449"/>
                    </a:ext>
                  </a:extLst>
                </a:gridCol>
                <a:gridCol w="240960">
                  <a:extLst>
                    <a:ext uri="{9D8B030D-6E8A-4147-A177-3AD203B41FA5}">
                      <a16:colId xmlns:a16="http://schemas.microsoft.com/office/drawing/2014/main" val="482981876"/>
                    </a:ext>
                  </a:extLst>
                </a:gridCol>
                <a:gridCol w="237501">
                  <a:extLst>
                    <a:ext uri="{9D8B030D-6E8A-4147-A177-3AD203B41FA5}">
                      <a16:colId xmlns:a16="http://schemas.microsoft.com/office/drawing/2014/main" val="3312332019"/>
                    </a:ext>
                  </a:extLst>
                </a:gridCol>
                <a:gridCol w="237501">
                  <a:extLst>
                    <a:ext uri="{9D8B030D-6E8A-4147-A177-3AD203B41FA5}">
                      <a16:colId xmlns:a16="http://schemas.microsoft.com/office/drawing/2014/main" val="4191596387"/>
                    </a:ext>
                  </a:extLst>
                </a:gridCol>
                <a:gridCol w="237501">
                  <a:extLst>
                    <a:ext uri="{9D8B030D-6E8A-4147-A177-3AD203B41FA5}">
                      <a16:colId xmlns:a16="http://schemas.microsoft.com/office/drawing/2014/main" val="3792865137"/>
                    </a:ext>
                  </a:extLst>
                </a:gridCol>
                <a:gridCol w="237501">
                  <a:extLst>
                    <a:ext uri="{9D8B030D-6E8A-4147-A177-3AD203B41FA5}">
                      <a16:colId xmlns:a16="http://schemas.microsoft.com/office/drawing/2014/main" val="4195788290"/>
                    </a:ext>
                  </a:extLst>
                </a:gridCol>
                <a:gridCol w="237501">
                  <a:extLst>
                    <a:ext uri="{9D8B030D-6E8A-4147-A177-3AD203B41FA5}">
                      <a16:colId xmlns:a16="http://schemas.microsoft.com/office/drawing/2014/main" val="2814304402"/>
                    </a:ext>
                  </a:extLst>
                </a:gridCol>
                <a:gridCol w="237501">
                  <a:extLst>
                    <a:ext uri="{9D8B030D-6E8A-4147-A177-3AD203B41FA5}">
                      <a16:colId xmlns:a16="http://schemas.microsoft.com/office/drawing/2014/main" val="207008813"/>
                    </a:ext>
                  </a:extLst>
                </a:gridCol>
                <a:gridCol w="237501">
                  <a:extLst>
                    <a:ext uri="{9D8B030D-6E8A-4147-A177-3AD203B41FA5}">
                      <a16:colId xmlns:a16="http://schemas.microsoft.com/office/drawing/2014/main" val="3849921265"/>
                    </a:ext>
                  </a:extLst>
                </a:gridCol>
                <a:gridCol w="237501">
                  <a:extLst>
                    <a:ext uri="{9D8B030D-6E8A-4147-A177-3AD203B41FA5}">
                      <a16:colId xmlns:a16="http://schemas.microsoft.com/office/drawing/2014/main" val="1765944989"/>
                    </a:ext>
                  </a:extLst>
                </a:gridCol>
                <a:gridCol w="248004">
                  <a:extLst>
                    <a:ext uri="{9D8B030D-6E8A-4147-A177-3AD203B41FA5}">
                      <a16:colId xmlns:a16="http://schemas.microsoft.com/office/drawing/2014/main" val="1071605657"/>
                    </a:ext>
                  </a:extLst>
                </a:gridCol>
                <a:gridCol w="226995">
                  <a:extLst>
                    <a:ext uri="{9D8B030D-6E8A-4147-A177-3AD203B41FA5}">
                      <a16:colId xmlns:a16="http://schemas.microsoft.com/office/drawing/2014/main" val="13612736"/>
                    </a:ext>
                  </a:extLst>
                </a:gridCol>
                <a:gridCol w="237501">
                  <a:extLst>
                    <a:ext uri="{9D8B030D-6E8A-4147-A177-3AD203B41FA5}">
                      <a16:colId xmlns:a16="http://schemas.microsoft.com/office/drawing/2014/main" val="4269870884"/>
                    </a:ext>
                  </a:extLst>
                </a:gridCol>
                <a:gridCol w="237501">
                  <a:extLst>
                    <a:ext uri="{9D8B030D-6E8A-4147-A177-3AD203B41FA5}">
                      <a16:colId xmlns:a16="http://schemas.microsoft.com/office/drawing/2014/main" val="3173781128"/>
                    </a:ext>
                  </a:extLst>
                </a:gridCol>
                <a:gridCol w="237501">
                  <a:extLst>
                    <a:ext uri="{9D8B030D-6E8A-4147-A177-3AD203B41FA5}">
                      <a16:colId xmlns:a16="http://schemas.microsoft.com/office/drawing/2014/main" val="2748546533"/>
                    </a:ext>
                  </a:extLst>
                </a:gridCol>
                <a:gridCol w="237501">
                  <a:extLst>
                    <a:ext uri="{9D8B030D-6E8A-4147-A177-3AD203B41FA5}">
                      <a16:colId xmlns:a16="http://schemas.microsoft.com/office/drawing/2014/main" val="267896039"/>
                    </a:ext>
                  </a:extLst>
                </a:gridCol>
                <a:gridCol w="237501">
                  <a:extLst>
                    <a:ext uri="{9D8B030D-6E8A-4147-A177-3AD203B41FA5}">
                      <a16:colId xmlns:a16="http://schemas.microsoft.com/office/drawing/2014/main" val="3001967019"/>
                    </a:ext>
                  </a:extLst>
                </a:gridCol>
                <a:gridCol w="237501">
                  <a:extLst>
                    <a:ext uri="{9D8B030D-6E8A-4147-A177-3AD203B41FA5}">
                      <a16:colId xmlns:a16="http://schemas.microsoft.com/office/drawing/2014/main" val="772205724"/>
                    </a:ext>
                  </a:extLst>
                </a:gridCol>
                <a:gridCol w="237501">
                  <a:extLst>
                    <a:ext uri="{9D8B030D-6E8A-4147-A177-3AD203B41FA5}">
                      <a16:colId xmlns:a16="http://schemas.microsoft.com/office/drawing/2014/main" val="2110281530"/>
                    </a:ext>
                  </a:extLst>
                </a:gridCol>
                <a:gridCol w="237501">
                  <a:extLst>
                    <a:ext uri="{9D8B030D-6E8A-4147-A177-3AD203B41FA5}">
                      <a16:colId xmlns:a16="http://schemas.microsoft.com/office/drawing/2014/main" val="1001807318"/>
                    </a:ext>
                  </a:extLst>
                </a:gridCol>
                <a:gridCol w="237501">
                  <a:extLst>
                    <a:ext uri="{9D8B030D-6E8A-4147-A177-3AD203B41FA5}">
                      <a16:colId xmlns:a16="http://schemas.microsoft.com/office/drawing/2014/main" val="2932458597"/>
                    </a:ext>
                  </a:extLst>
                </a:gridCol>
              </a:tblGrid>
              <a:tr h="45720">
                <a:tc>
                  <a:txBody>
                    <a:bodyPr/>
                    <a:lstStyle/>
                    <a:p>
                      <a:endParaRPr lang="en-US" sz="100" noProof="0" dirty="0"/>
                    </a:p>
                  </a:txBody>
                  <a:tcPr marL="0" marR="0" marT="0" marB="0">
                    <a:lnL w="635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tc>
                  <a:txBody>
                    <a:bodyPr/>
                    <a:lstStyle/>
                    <a:p>
                      <a:endParaRPr lang="en-US" sz="100" noProof="0" dirty="0"/>
                    </a:p>
                  </a:txBody>
                  <a:tcPr marL="0" marR="0" marT="0" marB="0">
                    <a:lnL w="6350" cap="flat" cmpd="sng" algn="ctr">
                      <a:solidFill>
                        <a:schemeClr val="bg1"/>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noFill/>
                  </a:tcPr>
                </a:tc>
                <a:extLst>
                  <a:ext uri="{0D108BD9-81ED-4DB2-BD59-A6C34878D82A}">
                    <a16:rowId xmlns:a16="http://schemas.microsoft.com/office/drawing/2014/main" val="367578863"/>
                  </a:ext>
                </a:extLst>
              </a:tr>
            </a:tbl>
          </a:graphicData>
        </a:graphic>
      </p:graphicFrame>
      <p:sp>
        <p:nvSpPr>
          <p:cNvPr id="6" name="TextBox 39">
            <a:extLst>
              <a:ext uri="{FF2B5EF4-FFF2-40B4-BE49-F238E27FC236}">
                <a16:creationId xmlns:a16="http://schemas.microsoft.com/office/drawing/2014/main" id="{88BF66FC-97CC-BD90-B24F-F210E66AFE61}"/>
              </a:ext>
            </a:extLst>
          </p:cNvPr>
          <p:cNvSpPr txBox="1">
            <a:spLocks noGrp="1" noRot="1" noMove="1" noResize="1" noEditPoints="1" noAdjustHandles="1" noChangeArrowheads="1" noChangeShapeType="1"/>
          </p:cNvSpPr>
          <p:nvPr/>
        </p:nvSpPr>
        <p:spPr>
          <a:xfrm>
            <a:off x="148831" y="2291359"/>
            <a:ext cx="4665609" cy="246221"/>
          </a:xfrm>
          <a:prstGeom prst="rect">
            <a:avLst/>
          </a:prstGeom>
          <a:noFill/>
        </p:spPr>
        <p:txBody>
          <a:bodyPr wrap="square" lIns="648000" rtlCol="0" anchor="ctr">
            <a:spAutoFit/>
          </a:bodyPr>
          <a:lstStyle/>
          <a:p>
            <a:r>
              <a:rPr lang="en-US" sz="1000" noProof="0" dirty="0">
                <a:solidFill>
                  <a:schemeClr val="accent1"/>
                </a:solidFill>
                <a:latin typeface="☞NOIR PRO MEDIUM" pitchFamily="2" charset="0"/>
              </a:rPr>
              <a:t>Open source health</a:t>
            </a:r>
          </a:p>
        </p:txBody>
      </p:sp>
      <p:sp>
        <p:nvSpPr>
          <p:cNvPr id="76" name="TextBox 39">
            <a:extLst>
              <a:ext uri="{FF2B5EF4-FFF2-40B4-BE49-F238E27FC236}">
                <a16:creationId xmlns:a16="http://schemas.microsoft.com/office/drawing/2014/main" id="{A5AE3144-E72D-C395-031F-513B7A7FDF02}"/>
              </a:ext>
            </a:extLst>
          </p:cNvPr>
          <p:cNvSpPr txBox="1">
            <a:spLocks noGrp="1" noRot="1" noMove="1" noResize="1" noEditPoints="1" noAdjustHandles="1" noChangeArrowheads="1" noChangeShapeType="1"/>
          </p:cNvSpPr>
          <p:nvPr/>
        </p:nvSpPr>
        <p:spPr>
          <a:xfrm>
            <a:off x="7618617" y="2316946"/>
            <a:ext cx="4167117" cy="338554"/>
          </a:xfrm>
          <a:prstGeom prst="rect">
            <a:avLst/>
          </a:prstGeom>
          <a:noFill/>
        </p:spPr>
        <p:txBody>
          <a:bodyPr wrap="square" rtlCol="0">
            <a:spAutoFit/>
          </a:bodyPr>
          <a:lstStyle/>
          <a:p>
            <a:pPr lvl="0" algn="r">
              <a:defRPr/>
            </a:pPr>
            <a:r>
              <a:rPr kumimoji="0" lang="en-US" sz="800" b="0" i="0" u="none" strike="noStrike" kern="1200" cap="none" spc="0" normalizeH="0" baseline="0" noProof="0" dirty="0">
                <a:ln>
                  <a:noFill/>
                </a:ln>
                <a:solidFill>
                  <a:srgbClr val="152F73"/>
                </a:solidFill>
                <a:effectLst/>
                <a:uLnTx/>
                <a:uFillTx/>
                <a:latin typeface="Azeret Mono" pitchFamily="2" charset="77"/>
                <a:ea typeface="+mn-ea"/>
                <a:cs typeface="Azeret Mono" pitchFamily="2" charset="77"/>
              </a:rPr>
              <a:t>Snapshot date: 17 </a:t>
            </a:r>
            <a:r>
              <a:rPr lang="en-US" sz="800" noProof="0" dirty="0" err="1">
                <a:solidFill>
                  <a:srgbClr val="152F73"/>
                </a:solidFill>
                <a:latin typeface="Azeret Mono" pitchFamily="2" charset="77"/>
                <a:cs typeface="Azeret Mono" pitchFamily="2" charset="77"/>
              </a:rPr>
              <a:t>March 2026</a:t>
            </a:r>
            <a:endParaRPr lang="en-US" sz="800" noProof="0" dirty="0">
              <a:solidFill>
                <a:srgbClr val="152F73"/>
              </a:solidFill>
              <a:latin typeface="Azeret Mono" pitchFamily="2" charset="77"/>
              <a:cs typeface="Azeret Mono" pitchFamily="2" charset="77"/>
            </a:endParaRPr>
          </a:p>
        </p:txBody>
      </p:sp>
      <p:grpSp>
        <p:nvGrpSpPr>
          <p:cNvPr id="8" name="Groep 7">
            <a:extLst>
              <a:ext uri="{FF2B5EF4-FFF2-40B4-BE49-F238E27FC236}">
                <a16:creationId xmlns:a16="http://schemas.microsoft.com/office/drawing/2014/main" id="{DDF6022E-F95A-14F7-D500-BA24EAC5E025}"/>
              </a:ext>
            </a:extLst>
          </p:cNvPr>
          <p:cNvGrpSpPr/>
          <p:nvPr/>
        </p:nvGrpSpPr>
        <p:grpSpPr>
          <a:xfrm>
            <a:off x="5413468" y="1466322"/>
            <a:ext cx="913712" cy="884878"/>
            <a:chOff x="5633468" y="1730647"/>
            <a:chExt cx="913712" cy="884878"/>
          </a:xfrm>
        </p:grpSpPr>
        <p:sp>
          <p:nvSpPr>
            <p:cNvPr id="71" name="TextBox 42">
              <a:extLst>
                <a:ext uri="{FF2B5EF4-FFF2-40B4-BE49-F238E27FC236}">
                  <a16:creationId xmlns:a16="http://schemas.microsoft.com/office/drawing/2014/main" id="{6C2EB2A0-888F-966A-64D7-A852BEDF2006}"/>
                </a:ext>
              </a:extLst>
            </p:cNvPr>
            <p:cNvSpPr txBox="1">
              <a:spLocks/>
            </p:cNvSpPr>
            <p:nvPr/>
          </p:nvSpPr>
          <p:spPr>
            <a:xfrm>
              <a:off x="5633468" y="1730647"/>
              <a:ext cx="913712" cy="246221"/>
            </a:xfrm>
            <a:prstGeom prst="rect">
              <a:avLst/>
            </a:prstGeom>
            <a:noFill/>
          </p:spPr>
          <p:txBody>
            <a:bodyPr wrap="none" lIns="0" rIns="0" rtlCol="0" anchor="ctr">
              <a:spAutoFit/>
            </a:bodyPr>
            <a:lstStyle/>
            <a:p>
              <a:pPr algn="ctr"/>
              <a:r>
                <a:rPr lang="en-US" sz="1000" noProof="0" dirty="0" err="1">
                  <a:latin typeface="☞NOIR PRO MEDIUM" pitchFamily="2" charset="0"/>
                </a:rPr>
                <a:t>Integrationtest-kafka</a:t>
              </a:r>
              <a:endParaRPr lang="en-US" sz="1000" noProof="0" dirty="0">
                <a:latin typeface="☞NOIR PRO MEDIUM" pitchFamily="2" charset="0"/>
              </a:endParaRPr>
            </a:p>
          </p:txBody>
        </p:sp>
        <p:sp>
          <p:nvSpPr>
            <p:cNvPr id="18" name="Vrije vorm 17">
              <a:extLst>
                <a:ext uri="{FF2B5EF4-FFF2-40B4-BE49-F238E27FC236}">
                  <a16:creationId xmlns:a16="http://schemas.microsoft.com/office/drawing/2014/main" id="{5447EB1B-609A-3757-DFA1-735B9D7E3B04}"/>
                </a:ext>
              </a:extLst>
            </p:cNvPr>
            <p:cNvSpPr>
              <a:spLocks noGrp="1" noRot="1" noMove="1" noResize="1" noEditPoints="1" noAdjustHandles="1" noChangeArrowheads="1" noChangeShapeType="1"/>
            </p:cNvSpPr>
            <p:nvPr/>
          </p:nvSpPr>
          <p:spPr>
            <a:xfrm rot="5400000">
              <a:off x="5853585" y="2310386"/>
              <a:ext cx="479242" cy="131036"/>
            </a:xfrm>
            <a:custGeom>
              <a:avLst/>
              <a:gdLst>
                <a:gd name="connsiteX0" fmla="*/ 0 w 1420201"/>
                <a:gd name="connsiteY0" fmla="*/ 194158 h 388315"/>
                <a:gd name="connsiteX1" fmla="*/ 155027 w 1420201"/>
                <a:gd name="connsiteY1" fmla="*/ 3946 h 388315"/>
                <a:gd name="connsiteX2" fmla="*/ 193835 w 1420201"/>
                <a:gd name="connsiteY2" fmla="*/ 34 h 388315"/>
                <a:gd name="connsiteX3" fmla="*/ 193835 w 1420201"/>
                <a:gd name="connsiteY3" fmla="*/ 0 h 388315"/>
                <a:gd name="connsiteX4" fmla="*/ 1180182 w 1420201"/>
                <a:gd name="connsiteY4" fmla="*/ 0 h 388315"/>
                <a:gd name="connsiteX5" fmla="*/ 1420201 w 1420201"/>
                <a:gd name="connsiteY5" fmla="*/ 193317 h 388315"/>
                <a:gd name="connsiteX6" fmla="*/ 1180182 w 1420201"/>
                <a:gd name="connsiteY6" fmla="*/ 386634 h 388315"/>
                <a:gd name="connsiteX7" fmla="*/ 210832 w 1420201"/>
                <a:gd name="connsiteY7" fmla="*/ 386634 h 388315"/>
                <a:gd name="connsiteX8" fmla="*/ 194157 w 1420201"/>
                <a:gd name="connsiteY8" fmla="*/ 388315 h 388315"/>
                <a:gd name="connsiteX9" fmla="*/ 0 w 1420201"/>
                <a:gd name="connsiteY9" fmla="*/ 194158 h 38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20201" h="388315">
                  <a:moveTo>
                    <a:pt x="0" y="194158"/>
                  </a:moveTo>
                  <a:cubicBezTo>
                    <a:pt x="0" y="100332"/>
                    <a:pt x="66553" y="22050"/>
                    <a:pt x="155027" y="3946"/>
                  </a:cubicBezTo>
                  <a:lnTo>
                    <a:pt x="193835" y="34"/>
                  </a:lnTo>
                  <a:lnTo>
                    <a:pt x="193835" y="0"/>
                  </a:lnTo>
                  <a:lnTo>
                    <a:pt x="1180182" y="0"/>
                  </a:lnTo>
                  <a:lnTo>
                    <a:pt x="1420201" y="193317"/>
                  </a:lnTo>
                  <a:lnTo>
                    <a:pt x="1180182" y="386634"/>
                  </a:lnTo>
                  <a:lnTo>
                    <a:pt x="210832" y="386634"/>
                  </a:lnTo>
                  <a:lnTo>
                    <a:pt x="194157" y="388315"/>
                  </a:lnTo>
                  <a:cubicBezTo>
                    <a:pt x="86927" y="388315"/>
                    <a:pt x="0" y="301388"/>
                    <a:pt x="0" y="194158"/>
                  </a:cubicBezTo>
                  <a:close/>
                </a:path>
              </a:pathLst>
            </a:custGeom>
            <a:gradFill>
              <a:gsLst>
                <a:gs pos="85000">
                  <a:srgbClr val="F09619"/>
                </a:gs>
                <a:gs pos="41000">
                  <a:srgbClr val="F8C818"/>
                </a:gs>
              </a:gsLst>
              <a:lin ang="2700000" scaled="0"/>
            </a:gradFill>
            <a:ln w="9525">
              <a:gradFill>
                <a:gsLst>
                  <a:gs pos="65000">
                    <a:schemeClr val="bg1"/>
                  </a:gs>
                  <a:gs pos="28000">
                    <a:schemeClr val="bg1">
                      <a:alpha val="0"/>
                    </a:schemeClr>
                  </a:gs>
                </a:gsLst>
                <a:lin ang="0" scaled="0"/>
              </a:gradFill>
            </a:ln>
            <a:effectLst>
              <a:outerShdw blurRad="166161" algn="ctr" rotWithShape="0">
                <a:schemeClr val="accent4">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US" sz="1600" noProof="0" dirty="0">
                <a:solidFill>
                  <a:schemeClr val="bg1"/>
                </a:solidFill>
              </a:endParaRPr>
            </a:p>
          </p:txBody>
        </p:sp>
        <p:sp>
          <p:nvSpPr>
            <p:cNvPr id="27" name="Afgeronde rechthoek 26">
              <a:extLst>
                <a:ext uri="{FF2B5EF4-FFF2-40B4-BE49-F238E27FC236}">
                  <a16:creationId xmlns:a16="http://schemas.microsoft.com/office/drawing/2014/main" id="{0C3D3AB2-F054-4EFB-3435-62E5C0FA49AB}"/>
                </a:ext>
              </a:extLst>
            </p:cNvPr>
            <p:cNvSpPr>
              <a:spLocks noGrp="1" noRot="1" noMove="1" noResize="1" noEditPoints="1" noAdjustHandles="1" noChangeArrowheads="1" noChangeShapeType="1"/>
            </p:cNvSpPr>
            <p:nvPr/>
          </p:nvSpPr>
          <p:spPr>
            <a:xfrm>
              <a:off x="5971615" y="2006746"/>
              <a:ext cx="243182" cy="243180"/>
            </a:xfrm>
            <a:prstGeom prst="roundRect">
              <a:avLst>
                <a:gd name="adj" fmla="val 2765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rmAutofit/>
            </a:bodyPr>
            <a:lstStyle/>
            <a:p>
              <a:pPr algn="ctr"/>
              <a:r>
                <a:rPr lang="en-US" sz="1000" noProof="0" dirty="0" err="1">
                  <a:solidFill>
                    <a:schemeClr val="tx1"/>
                  </a:solidFill>
                  <a:latin typeface="☞NOIR PRO MEDIUM" pitchFamily="2" charset="0"/>
                </a:rPr>
                <a:t>2.9</a:t>
              </a:r>
              <a:endParaRPr lang="en-US" sz="1000" noProof="0" dirty="0">
                <a:solidFill>
                  <a:schemeClr val="tx1"/>
                </a:solidFill>
                <a:latin typeface="☞NOIR PRO MEDIUM" pitchFamily="2" charset="0"/>
              </a:endParaRPr>
            </a:p>
          </p:txBody>
        </p:sp>
      </p:grpSp>
    </p:spTree>
    <p:extLst>
      <p:ext uri="{BB962C8B-B14F-4D97-AF65-F5344CB8AC3E}">
        <p14:creationId xmlns:p14="http://schemas.microsoft.com/office/powerpoint/2010/main" val="1164340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jdelijke aanduiding voor inhoud 19">
            <a:extLst>
              <a:ext uri="{FF2B5EF4-FFF2-40B4-BE49-F238E27FC236}">
                <a16:creationId xmlns:a16="http://schemas.microsoft.com/office/drawing/2014/main" id="{66BB4E1B-985F-9EF3-5AC6-C768D2CB71BE}"/>
              </a:ext>
            </a:extLst>
          </p:cNvPr>
          <p:cNvSpPr>
            <a:spLocks noGrp="1"/>
          </p:cNvSpPr>
          <p:nvPr>
            <p:ph sz="quarter" idx="13"/>
          </p:nvPr>
        </p:nvSpPr>
        <p:spPr>
          <a:xfrm>
            <a:off x="6096000" y="1421846"/>
            <a:ext cx="5938800" cy="4896154"/>
          </a:xfrm>
        </p:spPr>
        <p:txBody>
          <a:bodyPr/>
          <a:lstStyle/>
          <a:p>
            <a:pPr>
              <a:spcAft>
                <a:spcPts val="1000"/>
              </a:spcAft>
            </a:pPr>
            <a:r>
              <a:rPr lang="en-US" noProof="0" dirty="0" err="1">
                <a:solidFill>
                  <a:schemeClr val="tx1"/>
                </a:solidFill>
              </a:rPr>
              <a:t>1% of dependencies (1 in total) used in the system contain one or more known vulnerabilities.</a:t>
            </a:r>
            <a:endParaRPr lang="en-US" noProof="0" dirty="0">
              <a:solidFill>
                <a:schemeClr val="tx1"/>
              </a:solidFill>
            </a:endParaRPr>
          </a:p>
          <a:p>
            <a:pPr>
              <a:spcAft>
                <a:spcPts val="1000"/>
              </a:spcAft>
            </a:pPr>
            <a:r>
              <a:rPr lang="en-US" noProof="0" dirty="0" err="1">
                <a:solidFill>
                  <a:schemeClr val="tx1"/>
                </a:solidFill>
              </a:rPr>
              <a:t>All dependencies in the system use relatively liberal open-source licenses.</a:t>
            </a:r>
            <a:endParaRPr lang="en-US" noProof="0" dirty="0">
              <a:solidFill>
                <a:schemeClr val="tx1"/>
              </a:solidFill>
            </a:endParaRPr>
          </a:p>
          <a:p>
            <a:pPr>
              <a:spcAft>
                <a:spcPts val="1000"/>
              </a:spcAft>
            </a:pPr>
            <a:r>
              <a:rPr lang="en-US" noProof="0" dirty="0" err="1">
                <a:solidFill>
                  <a:schemeClr val="tx1"/>
                </a:solidFill>
              </a:rPr>
              <a:t>1% of dependencies (1 in total) used in the system have not been updated for over 2 years.</a:t>
            </a:r>
            <a:endParaRPr lang="en-US" noProof="0" dirty="0">
              <a:solidFill>
                <a:schemeClr val="tx1"/>
              </a:solidFill>
            </a:endParaRPr>
          </a:p>
          <a:p>
            <a:pPr>
              <a:spcAft>
                <a:spcPts val="1000"/>
              </a:spcAft>
            </a:pPr>
            <a:r>
              <a:rPr lang="en-US" noProof="0" dirty="0" err="1">
                <a:solidFill>
                  <a:schemeClr val="tx1"/>
                </a:solidFill>
              </a:rPr>
              <a:t>All dependencies in the system are managed by a package manager.</a:t>
            </a:r>
            <a:endParaRPr lang="en-US" noProof="0" dirty="0">
              <a:solidFill>
                <a:schemeClr val="tx1"/>
              </a:solidFill>
            </a:endParaRPr>
          </a:p>
        </p:txBody>
      </p:sp>
      <p:sp>
        <p:nvSpPr>
          <p:cNvPr id="3" name="Tijdelijke aanduiding voor tekst 2">
            <a:extLst>
              <a:ext uri="{FF2B5EF4-FFF2-40B4-BE49-F238E27FC236}">
                <a16:creationId xmlns:a16="http://schemas.microsoft.com/office/drawing/2014/main" id="{4A5582F2-40D0-9238-3CA5-366CA9A6BEAE}"/>
              </a:ext>
            </a:extLst>
          </p:cNvPr>
          <p:cNvSpPr>
            <a:spLocks noGrp="1"/>
          </p:cNvSpPr>
          <p:nvPr>
            <p:ph type="body" sz="quarter" idx="14"/>
          </p:nvPr>
        </p:nvSpPr>
        <p:spPr/>
        <p:txBody>
          <a:bodyPr>
            <a:noAutofit/>
          </a:bodyPr>
          <a:lstStyle/>
          <a:p>
            <a:r>
              <a:rPr lang="en-US" sz="1400" noProof="0" dirty="0" err="1"/>
              <a:t>175</a:t>
            </a:r>
            <a:endParaRPr lang="en-US" sz="1400" noProof="0" dirty="0"/>
          </a:p>
        </p:txBody>
      </p:sp>
      <p:sp>
        <p:nvSpPr>
          <p:cNvPr id="21" name="Tijdelijke aanduiding voor tekst 20">
            <a:extLst>
              <a:ext uri="{FF2B5EF4-FFF2-40B4-BE49-F238E27FC236}">
                <a16:creationId xmlns:a16="http://schemas.microsoft.com/office/drawing/2014/main" id="{6B434B96-A0F4-D550-9948-4935A3A3032E}"/>
              </a:ext>
            </a:extLst>
          </p:cNvPr>
          <p:cNvSpPr>
            <a:spLocks noGrp="1"/>
          </p:cNvSpPr>
          <p:nvPr>
            <p:ph type="body" sz="quarter" idx="15"/>
          </p:nvPr>
        </p:nvSpPr>
        <p:spPr/>
        <p:txBody>
          <a:bodyPr>
            <a:normAutofit fontScale="77500" lnSpcReduction="20000"/>
          </a:bodyPr>
          <a:lstStyle/>
          <a:p>
            <a:endParaRPr lang="en-US" noProof="0" dirty="0"/>
          </a:p>
        </p:txBody>
      </p:sp>
      <p:sp>
        <p:nvSpPr>
          <p:cNvPr id="22" name="Tijdelijke aanduiding voor tekst 21">
            <a:extLst>
              <a:ext uri="{FF2B5EF4-FFF2-40B4-BE49-F238E27FC236}">
                <a16:creationId xmlns:a16="http://schemas.microsoft.com/office/drawing/2014/main" id="{F2A786C1-12AB-2815-EA60-7CF5A856C37C}"/>
              </a:ext>
            </a:extLst>
          </p:cNvPr>
          <p:cNvSpPr>
            <a:spLocks noGrp="1"/>
          </p:cNvSpPr>
          <p:nvPr>
            <p:ph type="body" sz="quarter" idx="16"/>
          </p:nvPr>
        </p:nvSpPr>
        <p:spPr/>
        <p:txBody>
          <a:bodyPr>
            <a:normAutofit fontScale="77500" lnSpcReduction="20000"/>
          </a:bodyPr>
          <a:lstStyle/>
          <a:p>
            <a:endParaRPr lang="en-US" noProof="0" dirty="0"/>
          </a:p>
        </p:txBody>
      </p:sp>
      <p:sp>
        <p:nvSpPr>
          <p:cNvPr id="23" name="Tijdelijke aanduiding voor tekst 22">
            <a:extLst>
              <a:ext uri="{FF2B5EF4-FFF2-40B4-BE49-F238E27FC236}">
                <a16:creationId xmlns:a16="http://schemas.microsoft.com/office/drawing/2014/main" id="{1815B1ED-FC37-06DC-642E-E962FAF8C953}"/>
              </a:ext>
            </a:extLst>
          </p:cNvPr>
          <p:cNvSpPr>
            <a:spLocks noGrp="1"/>
          </p:cNvSpPr>
          <p:nvPr>
            <p:ph type="body" sz="quarter" idx="17"/>
          </p:nvPr>
        </p:nvSpPr>
        <p:spPr/>
        <p:txBody>
          <a:bodyPr>
            <a:normAutofit fontScale="77500" lnSpcReduction="20000"/>
          </a:bodyPr>
          <a:lstStyle/>
          <a:p>
            <a:endParaRPr lang="en-US" noProof="0" dirty="0"/>
          </a:p>
        </p:txBody>
      </p:sp>
      <p:sp>
        <p:nvSpPr>
          <p:cNvPr id="24" name="Tijdelijke aanduiding voor tekst 23">
            <a:extLst>
              <a:ext uri="{FF2B5EF4-FFF2-40B4-BE49-F238E27FC236}">
                <a16:creationId xmlns:a16="http://schemas.microsoft.com/office/drawing/2014/main" id="{F9105C04-203F-52A9-B023-8BCB23ABA32A}"/>
              </a:ext>
            </a:extLst>
          </p:cNvPr>
          <p:cNvSpPr>
            <a:spLocks noGrp="1"/>
          </p:cNvSpPr>
          <p:nvPr>
            <p:ph type="body" sz="quarter" idx="18"/>
          </p:nvPr>
        </p:nvSpPr>
        <p:spPr/>
        <p:txBody>
          <a:bodyPr>
            <a:normAutofit fontScale="77500" lnSpcReduction="20000"/>
          </a:bodyPr>
          <a:lstStyle/>
          <a:p>
            <a:endParaRPr lang="en-US" noProof="0" dirty="0"/>
          </a:p>
        </p:txBody>
      </p:sp>
      <p:sp>
        <p:nvSpPr>
          <p:cNvPr id="25" name="Tijdelijke aanduiding voor tekst 24">
            <a:extLst>
              <a:ext uri="{FF2B5EF4-FFF2-40B4-BE49-F238E27FC236}">
                <a16:creationId xmlns:a16="http://schemas.microsoft.com/office/drawing/2014/main" id="{CCA1B4DB-A80E-D27A-4D97-18B15B411B01}"/>
              </a:ext>
            </a:extLst>
          </p:cNvPr>
          <p:cNvSpPr>
            <a:spLocks noGrp="1"/>
          </p:cNvSpPr>
          <p:nvPr>
            <p:ph type="body" sz="quarter" idx="19"/>
          </p:nvPr>
        </p:nvSpPr>
        <p:spPr/>
        <p:txBody>
          <a:bodyPr>
            <a:normAutofit fontScale="77500" lnSpcReduction="20000"/>
          </a:bodyPr>
          <a:lstStyle/>
          <a:p>
            <a:endParaRPr lang="en-US" noProof="0" dirty="0"/>
          </a:p>
        </p:txBody>
      </p:sp>
      <p:sp>
        <p:nvSpPr>
          <p:cNvPr id="18" name="Titel 17">
            <a:extLst>
              <a:ext uri="{FF2B5EF4-FFF2-40B4-BE49-F238E27FC236}">
                <a16:creationId xmlns:a16="http://schemas.microsoft.com/office/drawing/2014/main" id="{8F49E5F7-1212-C10F-AF03-7BCD250B5F9D}"/>
              </a:ext>
            </a:extLst>
          </p:cNvPr>
          <p:cNvSpPr>
            <a:spLocks noGrp="1"/>
          </p:cNvSpPr>
          <p:nvPr>
            <p:ph type="title"/>
          </p:nvPr>
        </p:nvSpPr>
        <p:spPr/>
        <p:txBody>
          <a:bodyPr/>
          <a:lstStyle/>
          <a:p>
            <a:r>
              <a:rPr lang="en-US" noProof="0" dirty="0" err="1"/>
              <a:t>1 vulnerable 3rd party open-source dependencies were identified</a:t>
            </a:r>
          </a:p>
        </p:txBody>
      </p:sp>
      <p:sp>
        <p:nvSpPr>
          <p:cNvPr id="10" name="Tijdelijke aanduiding voor voettekst 9">
            <a:extLst>
              <a:ext uri="{FF2B5EF4-FFF2-40B4-BE49-F238E27FC236}">
                <a16:creationId xmlns:a16="http://schemas.microsoft.com/office/drawing/2014/main" id="{85CC0D40-EB66-D793-CEA6-7AF5F045B2BE}"/>
              </a:ext>
            </a:extLst>
          </p:cNvPr>
          <p:cNvSpPr>
            <a:spLocks noGrp="1"/>
          </p:cNvSpPr>
          <p:nvPr>
            <p:ph type="ftr" sz="quarter" idx="20"/>
          </p:nvPr>
        </p:nvSpPr>
        <p:spPr/>
        <p:txBody>
          <a:bodyPr/>
          <a:lstStyle/>
          <a:p>
            <a:r>
              <a:rPr lang="en-US" noProof="0" dirty="0"/>
              <a:t>Confidential</a:t>
            </a:r>
          </a:p>
        </p:txBody>
      </p:sp>
      <p:sp>
        <p:nvSpPr>
          <p:cNvPr id="11" name="Tijdelijke aanduiding voor dianummer 10">
            <a:extLst>
              <a:ext uri="{FF2B5EF4-FFF2-40B4-BE49-F238E27FC236}">
                <a16:creationId xmlns:a16="http://schemas.microsoft.com/office/drawing/2014/main" id="{8CFF3985-4FCE-83E0-0FFC-607EBC973402}"/>
              </a:ext>
            </a:extLst>
          </p:cNvPr>
          <p:cNvSpPr>
            <a:spLocks noGrp="1"/>
          </p:cNvSpPr>
          <p:nvPr>
            <p:ph type="sldNum" sz="quarter" idx="21"/>
          </p:nvPr>
        </p:nvSpPr>
        <p:spPr/>
        <p:txBody>
          <a:bodyPr/>
          <a:lstStyle/>
          <a:p>
            <a:fld id="{E242BD21-9B61-2246-BCB1-4BE5E1BEBE1C}" type="slidenum">
              <a:rPr lang="en-US" noProof="0" smtClean="0"/>
              <a:pPr/>
              <a:t>18</a:t>
            </a:fld>
            <a:endParaRPr lang="en-US" noProof="0" dirty="0"/>
          </a:p>
        </p:txBody>
      </p:sp>
      <p:sp>
        <p:nvSpPr>
          <p:cNvPr id="19" name="Tijdelijke aanduiding voor tekst 18">
            <a:extLst>
              <a:ext uri="{FF2B5EF4-FFF2-40B4-BE49-F238E27FC236}">
                <a16:creationId xmlns:a16="http://schemas.microsoft.com/office/drawing/2014/main" id="{EA846D4E-DBA5-CFC4-BD38-6CC5C41F55F6}"/>
              </a:ext>
            </a:extLst>
          </p:cNvPr>
          <p:cNvSpPr>
            <a:spLocks noGrp="1"/>
          </p:cNvSpPr>
          <p:nvPr>
            <p:ph type="body" sz="quarter" idx="12"/>
          </p:nvPr>
        </p:nvSpPr>
        <p:spPr>
          <a:xfrm>
            <a:off x="381600" y="129600"/>
            <a:ext cx="2927899" cy="228145"/>
          </a:xfrm>
        </p:spPr>
        <p:txBody>
          <a:bodyPr/>
          <a:lstStyle/>
          <a:p>
            <a:r>
              <a:rPr lang="en-US" noProof="0" dirty="0"/>
              <a:t>Key findings – Open Source and IP</a:t>
            </a:r>
          </a:p>
        </p:txBody>
      </p:sp>
      <p:graphicFrame>
        <p:nvGraphicFramePr>
          <p:cNvPr id="2" name="CHART_1">
            <a:extLst>
              <a:ext uri="{FF2B5EF4-FFF2-40B4-BE49-F238E27FC236}">
                <a16:creationId xmlns:a16="http://schemas.microsoft.com/office/drawing/2014/main" id="{663304D0-0E7B-1454-8672-C6C89EF3BF5C}"/>
              </a:ext>
            </a:extLst>
          </p:cNvPr>
          <p:cNvGraphicFramePr>
            <a:graphicFrameLocks/>
          </p:cNvGraphicFramePr>
          <p:nvPr/>
        </p:nvGraphicFramePr>
        <p:xfrm>
          <a:off x="2993512" y="2846744"/>
          <a:ext cx="3102882" cy="112433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_2">
            <a:extLst>
              <a:ext uri="{FF2B5EF4-FFF2-40B4-BE49-F238E27FC236}">
                <a16:creationId xmlns:a16="http://schemas.microsoft.com/office/drawing/2014/main" id="{F710C4F3-29D3-2E11-A1BF-518BE8D05501}"/>
              </a:ext>
            </a:extLst>
          </p:cNvPr>
          <p:cNvGraphicFramePr>
            <a:graphicFrameLocks/>
          </p:cNvGraphicFramePr>
          <p:nvPr/>
        </p:nvGraphicFramePr>
        <p:xfrm>
          <a:off x="2995636" y="3732550"/>
          <a:ext cx="3100364" cy="25854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162055397"/>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8" id="{578C6016-95C3-5840-826C-B4226735762A}" vid="{EC50665E-BB8F-7A40-BCAA-233202124359}"/>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Presentation11" id="{F42F1492-7701-3649-9008-F8CF56C99C53}" vid="{069A4F46-BACC-A642-BE78-CD3F3EA7293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8AD9160-B56A-4FCD-857D-8AE63521E7FB}">
  <ds:schemaRefs>
    <ds:schemaRef ds:uri="http://schemas.microsoft.com/sharepoint/v3/contenttype/forms"/>
  </ds:schemaRefs>
</ds:datastoreItem>
</file>

<file path=customXml/itemProps2.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Light theme (default)</Template>
  <TotalTime>11192</TotalTime>
  <Words>1631</Words>
  <Application>Microsoft Macintosh PowerPoint</Application>
  <PresentationFormat>Widescreen</PresentationFormat>
  <Paragraphs>379</Paragraphs>
  <Slides>18</Slides>
  <Notes>3</Notes>
  <HiddenSlides>0</HiddenSlides>
  <MMClips>0</MMClips>
  <ScaleCrop>false</ScaleCrop>
  <HeadingPairs>
    <vt:vector size="6" baseType="variant">
      <vt:variant>
        <vt:lpstr>Fonts Used</vt:lpstr>
      </vt:variant>
      <vt:variant>
        <vt:i4>16</vt:i4>
      </vt:variant>
      <vt:variant>
        <vt:lpstr>Theme</vt:lpstr>
      </vt:variant>
      <vt:variant>
        <vt:i4>2</vt:i4>
      </vt:variant>
      <vt:variant>
        <vt:lpstr>Slide Titles</vt:lpstr>
      </vt:variant>
      <vt:variant>
        <vt:i4>18</vt:i4>
      </vt:variant>
    </vt:vector>
  </HeadingPairs>
  <TitlesOfParts>
    <vt:vector size="36" baseType="lpstr">
      <vt:lpstr>.AppleSystemUIFont</vt:lpstr>
      <vt:lpstr>☞NOIR PRO MEDIUM</vt:lpstr>
      <vt:lpstr>Arial</vt:lpstr>
      <vt:lpstr>Azeret Mono</vt:lpstr>
      <vt:lpstr>Azeret Mono Medium</vt:lpstr>
      <vt:lpstr>Calibri</vt:lpstr>
      <vt:lpstr>Calibri Bold</vt:lpstr>
      <vt:lpstr>Calibri Regular</vt:lpstr>
      <vt:lpstr>Google Sans</vt:lpstr>
      <vt:lpstr>Helvetica Neue Bold</vt:lpstr>
      <vt:lpstr>Noir Pro</vt:lpstr>
      <vt:lpstr>Noir Pro Medium</vt:lpstr>
      <vt:lpstr>Noir Pro Semi Bold</vt:lpstr>
      <vt:lpstr>Sigsterren</vt:lpstr>
      <vt:lpstr>TheSansMono M5</vt:lpstr>
      <vt:lpstr>Wingdings</vt:lpstr>
      <vt:lpstr>Light theme (default)</vt:lpstr>
      <vt:lpstr>Dark theme</vt:lpstr>
      <vt:lpstr>PowerPoint Presentation</vt:lpstr>
      <vt:lpstr>Outline of topics</vt:lpstr>
      <vt:lpstr>System "Integrationtest-kafka" technical quality: management summary</vt:lpstr>
      <vt:lpstr>Outline of topics</vt:lpstr>
      <vt:lpstr>Explanation: The Cost Estimation model combines Sigrid analysis results with SIG benchmarks</vt:lpstr>
      <vt:lpstr>Integrationtest-kafka technical debt is 18.2 person years (42% of its volume)</vt:lpstr>
      <vt:lpstr>Explanation: The ISO 25010 standard for Maintainability has 5 sub-characteristics</vt:lpstr>
      <vt:lpstr>The SIG/TÜViT model maps the sub-characteristics to the system properties</vt:lpstr>
      <vt:lpstr>Integrationtest-kafka is a large system of 43.0 PY which scores 2.6 for maintainability </vt:lpstr>
      <vt:lpstr>Integrationtest-kafka scores average for maintainability</vt:lpstr>
      <vt:lpstr>The system is large in size and is built primarily in Java</vt:lpstr>
      <vt:lpstr>Integrationtest-kafka has a above market average test/code ratio</vt:lpstr>
      <vt:lpstr>Explanation: The Architecture Quality model has 5 sub-characteristics</vt:lpstr>
      <vt:lpstr>SIG’s Architecture Model maps the sub-characteristics to 9 system properties</vt:lpstr>
      <vt:lpstr>Integrationtest-kafka scores at market average (2.6 ★) for Architecture Quality</vt:lpstr>
      <vt:lpstr>SIG assesses the use of Open Source and IP in five key areas</vt:lpstr>
      <vt:lpstr>Integrationtest-kafka rates market average in Open-Source health</vt:lpstr>
      <vt:lpstr>1 vulnerable 3rd party open-source dependencies were identified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Floris van Leeuwen</cp:lastModifiedBy>
  <cp:revision>179</cp:revision>
  <cp:lastPrinted>2020-04-20T09:37:43Z</cp:lastPrinted>
  <dcterms:created xsi:type="dcterms:W3CDTF">2025-10-22T11:22:13Z</dcterms:created>
  <dcterms:modified xsi:type="dcterms:W3CDTF">2026-03-20T13:55:49Z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