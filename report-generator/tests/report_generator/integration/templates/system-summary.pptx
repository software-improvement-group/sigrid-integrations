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8" r:id="rId5"/>
  </p:sldMasterIdLst>
  <p:notesMasterIdLst>
    <p:notesMasterId r:id="rId24"/>
  </p:notesMasterIdLst>
  <p:handoutMasterIdLst>
    <p:handoutMasterId r:id="rId25"/>
  </p:handoutMasterIdLst>
  <p:sldIdLst>
    <p:sldId id="1973" r:id="rId6"/>
    <p:sldId id="2010" r:id="rId7"/>
    <p:sldId id="11394" r:id="rId8"/>
    <p:sldId id="2011" r:id="rId9"/>
    <p:sldId id="11482" r:id="rId10"/>
    <p:sldId id="11330" r:id="rId11"/>
    <p:sldId id="1988" r:id="rId12"/>
    <p:sldId id="2016" r:id="rId13"/>
    <p:sldId id="1824" r:id="rId14"/>
    <p:sldId id="11430" r:id="rId15"/>
    <p:sldId id="11483" r:id="rId16"/>
    <p:sldId id="11484" r:id="rId17"/>
    <p:sldId id="11481" r:id="rId18"/>
    <p:sldId id="11485" r:id="rId19"/>
    <p:sldId id="11486" r:id="rId20"/>
    <p:sldId id="2184" r:id="rId21"/>
    <p:sldId id="11487" r:id="rId22"/>
    <p:sldId id="1148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report" id="{018B3868-9EFD-2243-8203-AC471A43D12D}">
          <p14:sldIdLst>
            <p14:sldId id="1973"/>
            <p14:sldId id="2010"/>
            <p14:sldId id="11394"/>
            <p14:sldId id="2011"/>
          </p14:sldIdLst>
        </p14:section>
        <p14:section name="Cost Estimation Model" id="{27B7B39D-A53A-0E42-877A-CE78F793FEC4}">
          <p14:sldIdLst>
            <p14:sldId id="11482"/>
            <p14:sldId id="11330"/>
          </p14:sldIdLst>
        </p14:section>
        <p14:section name="Maintainability" id="{E6B43949-8A3C-084E-A0B9-37E6D4E40B4B}">
          <p14:sldIdLst>
            <p14:sldId id="1988"/>
            <p14:sldId id="2016"/>
            <p14:sldId id="1824"/>
            <p14:sldId id="11430"/>
            <p14:sldId id="11483"/>
            <p14:sldId id="11484"/>
          </p14:sldIdLst>
        </p14:section>
        <p14:section name="Architecture Quality" id="{BBE5D966-65D3-0247-846C-E3C2E3364341}">
          <p14:sldIdLst>
            <p14:sldId id="11481"/>
            <p14:sldId id="11485"/>
            <p14:sldId id="11486"/>
          </p14:sldIdLst>
        </p14:section>
        <p14:section name="Open Source Health" id="{304C7872-545A-A54B-B7F2-E55D10D25BD1}">
          <p14:sldIdLst>
            <p14:sldId id="2184"/>
            <p14:sldId id="11487"/>
            <p14:sldId id="114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17"/>
    <p:restoredTop sz="96763"/>
  </p:normalViewPr>
  <p:slideViewPr>
    <p:cSldViewPr snapToGrid="0" snapToObjects="1" showGuides="1">
      <p:cViewPr varScale="1">
        <p:scale>
          <a:sx n="213" d="100"/>
          <a:sy n="213" d="100"/>
        </p:scale>
        <p:origin x="176" y="3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Maintainability rating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baseline="0" dirty="0"/>
                      <a:t> [</a:t>
                    </a:r>
                    <a:r>
                      <a:rPr lang="en-US" baseline="0" dirty="0" err="1"/>
                      <a:t>SYSTEM_NAME</a:t>
                    </a:r>
                    <a:r>
                      <a:rPr lang="en-US" baseline="0" dirty="0"/>
                      <a:t>]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Sheet1!$C$2:$C$2</c15:f>
                <c15:dlblRangeCache>
                  <c:ptCount val="1"/>
                  <c:pt idx="0">
                    <c:v>System 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 name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in Person Months</c:v>
                </c:pt>
              </c:strCache>
            </c:strRef>
          </c:tx>
          <c:spPr>
            <a:solidFill>
              <a:schemeClr val="accent2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chemeClr val="tx2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B6A-254C-B03A-9EF9758E229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Technology 1</c:v>
                </c:pt>
                <c:pt idx="1">
                  <c:v>Technology 2</c:v>
                </c:pt>
                <c:pt idx="2">
                  <c:v>Technology 3</c:v>
                </c:pt>
                <c:pt idx="3">
                  <c:v>Technology 4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0.55000000000000004</c:v>
                </c:pt>
                <c:pt idx="1">
                  <c:v>0.15</c:v>
                </c:pt>
                <c:pt idx="2">
                  <c:v>0.1</c:v>
                </c:pt>
                <c:pt idx="3">
                  <c:v>0.08</c:v>
                </c:pt>
                <c:pt idx="4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6A-254C-B03A-9EF9758E22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638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F4-8A4B-8FCE-EB828520119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F4-8A4B-8FCE-EB828520119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F4-8A4B-8FCE-EB828520119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7F4-8A4B-8FCE-EB828520119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Java</c:v>
                </c:pt>
                <c:pt idx="1">
                  <c:v>C#</c:v>
                </c:pt>
                <c:pt idx="2">
                  <c:v>CSS</c:v>
                </c:pt>
                <c:pt idx="3">
                  <c:v>Typescript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7F4-8A4B-8FCE-EB82852011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080532533357349E-2"/>
          <c:y val="9.4658855447728937E-2"/>
          <c:w val="0.87463248862865584"/>
          <c:h val="0.810682289104542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D1-4C45-9583-F7A397E384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AD1-4C45-9583-F7A397E38424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AD1-4C45-9583-F7A397E38424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AD1-4C45-9583-F7A397E384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AD1-4C45-9583-F7A397E3842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DAD1-4C45-9583-F7A397E38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470183708903174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7-EF47-AE5E-E9A0329BD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E17-EF47-AE5E-E9A0329BD14C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E17-EF47-AE5E-E9A0329BD14C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79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E17-EF47-AE5E-E9A0329BD1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0</c:v>
                </c:pt>
                <c:pt idx="2">
                  <c:v>0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E17-EF47-AE5E-E9A0329BD14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CE17-EF47-AE5E-E9A0329BD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1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4692252680288804"/>
          <c:w val="1"/>
          <c:h val="0.15219445442551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58F8-93FA-B1DD-C5DA-AC908975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4346B-6A9F-6AE5-3193-28E052250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B62E8-61D5-6300-EAA0-D706FB69D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13C8B-54D4-EAAF-EE74-BE6DEB1DF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94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5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8AEBBE0C-2740-493E-2D03-D2829B97AB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99600" y="4104000"/>
            <a:ext cx="5767200" cy="280800"/>
          </a:xfrm>
          <a:prstGeom prst="rect">
            <a:avLst/>
          </a:prstGeom>
          <a:effectLst/>
        </p:spPr>
        <p:txBody>
          <a:bodyPr wrap="square" tIns="46800" rIns="180000" bIns="46800">
            <a:noAutofit/>
          </a:bodyPr>
          <a:lstStyle>
            <a:lvl1pPr marL="0" indent="0" algn="r">
              <a:buNone/>
              <a:defRPr sz="1200" b="0" cap="none" baseline="0">
                <a:solidFill>
                  <a:srgbClr val="F8C716"/>
                </a:solidFill>
                <a:effectLst/>
                <a:latin typeface="Azeret Mono" pitchFamily="2" charset="77"/>
                <a:cs typeface="Azeret Mono" pitchFamily="2" charset="77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 (# &lt;full month name&gt; 20##)</a:t>
            </a:r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94A2A75-3145-2B40-BD84-D3A76CD6FFA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nl-NL"/>
              <a:t>Confidential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596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/>
              <a:t>Confidential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  <p:sldLayoutId id="2147483793" r:id="rId5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/>
              <a:t>Confidential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6981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emf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 err="1"/>
              <a:t>CUSTOMER_NAME</a:t>
            </a:r>
            <a:r>
              <a:rPr lang="en-US" noProof="0" dirty="0"/>
              <a:t> – </a:t>
            </a:r>
            <a:r>
              <a:rPr lang="en-US" noProof="0" dirty="0" err="1"/>
              <a:t>SYSTEM_NAME</a:t>
            </a:r>
            <a:endParaRPr lang="en-US" noProof="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Sigrid System Report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6608443-E271-3AA0-6885-D7332E922B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 dirty="0" err="1"/>
              <a:t>MAINT_DATE_DAY</a:t>
            </a:r>
            <a:r>
              <a:rPr lang="en-US" noProof="0" dirty="0"/>
              <a:t> </a:t>
            </a:r>
            <a:r>
              <a:rPr lang="en-US" noProof="0" dirty="0" err="1"/>
              <a:t>MAINT_DATE_MONTH_FULL</a:t>
            </a:r>
            <a:r>
              <a:rPr lang="en-US" noProof="0" dirty="0"/>
              <a:t> </a:t>
            </a:r>
            <a:r>
              <a:rPr lang="en-US" noProof="0" dirty="0" err="1"/>
              <a:t>MAINT_DATE_YEAR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F1FBE-0EE4-1DE9-784A-DD4670182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B7C8C91-AAEE-88A6-BA81-7A5C3377C97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8BE9C0E-8A97-0BC2-7291-A030EA223E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A08CBCE-48E4-6A13-C16A-38E5FB27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49B50A75-CF21-9538-EE61-6C987C97917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750390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9A0E4AB-1835-F9FC-08F8-B7688DC89C2B}"/>
              </a:ext>
            </a:extLst>
          </p:cNvPr>
          <p:cNvGrpSpPr/>
          <p:nvPr/>
        </p:nvGrpSpPr>
        <p:grpSpPr>
          <a:xfrm>
            <a:off x="4467601" y="1994958"/>
            <a:ext cx="8637048" cy="2061327"/>
            <a:chOff x="1187436" y="2607314"/>
            <a:chExt cx="8637048" cy="206132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5939B06D-D176-9339-9185-77C476E3E6E7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FF5BD665-CAB7-E865-0251-67BCDB5AE518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17B7A7D5-B584-1F9B-B4CC-9B65AD7A8E8D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6074CCE0-0194-F0EA-B27E-943120422D60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0EF87031-3EF5-F01F-D64D-85C7CFBA18AE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Cost estimation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0B23D67-C548-2B66-EA13-9434D6FD697D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BBD1C3A-7C78-085E-9AAC-1418416B2E1B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FC69EDAD-457C-318D-A7E6-DA9C35F4FAE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F1E7B407-491E-C161-9E2F-BB358CDF7912}"/>
                </a:ext>
              </a:extLst>
            </p:cNvPr>
            <p:cNvSpPr/>
            <p:nvPr/>
          </p:nvSpPr>
          <p:spPr>
            <a:xfrm>
              <a:off x="2402756" y="4339032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C89DA33C-62C3-28D0-7E83-E5BCB3EC0D72}"/>
                </a:ext>
              </a:extLst>
            </p:cNvPr>
            <p:cNvSpPr txBox="1"/>
            <p:nvPr/>
          </p:nvSpPr>
          <p:spPr>
            <a:xfrm>
              <a:off x="2827099" y="4342700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  <p:sp>
        <p:nvSpPr>
          <p:cNvPr id="26" name="Afgeronde rechthoek 27">
            <a:extLst>
              <a:ext uri="{FF2B5EF4-FFF2-40B4-BE49-F238E27FC236}">
                <a16:creationId xmlns:a16="http://schemas.microsoft.com/office/drawing/2014/main" id="{11022F4E-7F91-B0CF-1E9A-F01F9CA23077}"/>
              </a:ext>
            </a:extLst>
          </p:cNvPr>
          <p:cNvSpPr/>
          <p:nvPr/>
        </p:nvSpPr>
        <p:spPr>
          <a:xfrm>
            <a:off x="4467599" y="761238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01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62927-47E6-44AC-6848-2A522D68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01DDDD2-DA8F-47F7-F1AB-C656B7F764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663129" cy="228145"/>
          </a:xfrm>
        </p:spPr>
        <p:txBody>
          <a:bodyPr/>
          <a:lstStyle/>
          <a:p>
            <a:r>
              <a:rPr lang="en-US" noProof="0" dirty="0"/>
              <a:t>Management summary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49DECDC-D2A6-44D4-EAD9-E018E7E62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noProof="0" dirty="0">
                <a:latin typeface="Noir Pro Medium"/>
              </a:rPr>
              <a:t>System "</a:t>
            </a:r>
            <a:r>
              <a:rPr lang="en-US" noProof="0" dirty="0" err="1"/>
              <a:t>SYSTEM_NAME</a:t>
            </a:r>
            <a:r>
              <a:rPr lang="en-US" noProof="0" dirty="0">
                <a:latin typeface="Noir Pro Medium"/>
              </a:rPr>
              <a:t>" technical quality: management summary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B1AA20-5D92-4ACB-8694-AFA2A56D39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41175" y="6550025"/>
            <a:ext cx="250825" cy="236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000" b="1" kern="1200" spc="10" smtClean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42BD21-9B61-2246-BCB1-4BE5E1BEBE1C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D9C1E99-12FA-EBBB-8F43-FD9A6A738FB3}"/>
              </a:ext>
            </a:extLst>
          </p:cNvPr>
          <p:cNvSpPr/>
          <p:nvPr/>
        </p:nvSpPr>
        <p:spPr>
          <a:xfrm>
            <a:off x="381600" y="1465144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Maintainability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659F6A8-A673-0A9C-A1B3-F382F0434C4C}"/>
              </a:ext>
            </a:extLst>
          </p:cNvPr>
          <p:cNvSpPr/>
          <p:nvPr/>
        </p:nvSpPr>
        <p:spPr>
          <a:xfrm>
            <a:off x="381600" y="2428035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Technology choice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B6F40A-D941-D662-B986-01AE8191B15D}"/>
              </a:ext>
            </a:extLst>
          </p:cNvPr>
          <p:cNvSpPr/>
          <p:nvPr/>
        </p:nvSpPr>
        <p:spPr>
          <a:xfrm>
            <a:off x="381600" y="3390926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Test code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5697C66-3A15-D459-3D27-F256D4839B51}"/>
              </a:ext>
            </a:extLst>
          </p:cNvPr>
          <p:cNvSpPr/>
          <p:nvPr/>
        </p:nvSpPr>
        <p:spPr>
          <a:xfrm>
            <a:off x="381600" y="4353817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Architecture Quality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B5A0131-A470-60F6-4CE8-D7B7746B9737}"/>
              </a:ext>
            </a:extLst>
          </p:cNvPr>
          <p:cNvSpPr/>
          <p:nvPr/>
        </p:nvSpPr>
        <p:spPr>
          <a:xfrm>
            <a:off x="381600" y="5316709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Open source health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214DA1-21AC-CB54-8885-268F55934D9A}"/>
              </a:ext>
            </a:extLst>
          </p:cNvPr>
          <p:cNvSpPr txBox="1"/>
          <p:nvPr/>
        </p:nvSpPr>
        <p:spPr>
          <a:xfrm>
            <a:off x="2549236" y="1556170"/>
            <a:ext cx="9210962" cy="809261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400" noProof="0" dirty="0">
                <a:ea typeface="+mn-lt"/>
                <a:cs typeface="+mn-lt"/>
              </a:rPr>
              <a:t>The system scores </a:t>
            </a:r>
            <a:r>
              <a:rPr lang="en-US" sz="1400" noProof="0" dirty="0" err="1">
                <a:ea typeface="+mn-lt"/>
                <a:cs typeface="+mn-lt"/>
              </a:rPr>
              <a:t>MAINT_RELATIVE</a:t>
            </a:r>
            <a:r>
              <a:rPr lang="en-US" sz="1400" noProof="0" dirty="0">
                <a:ea typeface="+mn-lt"/>
                <a:cs typeface="+mn-lt"/>
              </a:rPr>
              <a:t> the market average with </a:t>
            </a:r>
            <a:r>
              <a:rPr lang="en-US" sz="1400" b="1" noProof="0" dirty="0" err="1">
                <a:solidFill>
                  <a:schemeClr val="accent2"/>
                </a:solidFill>
              </a:rPr>
              <a:t>MAINT_RATING</a:t>
            </a:r>
            <a:r>
              <a:rPr lang="en-US" sz="1400" b="1" noProof="0" dirty="0">
                <a:solidFill>
                  <a:schemeClr val="accent2"/>
                </a:solidFill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MAINT_STARS</a:t>
            </a:r>
            <a:r>
              <a:rPr lang="en-US" sz="1400" b="1" noProof="0" dirty="0">
                <a:solidFill>
                  <a:schemeClr val="accent2"/>
                </a:solidFill>
              </a:rPr>
              <a:t>) </a:t>
            </a:r>
            <a:r>
              <a:rPr lang="en-US" sz="1400" noProof="0" dirty="0">
                <a:ea typeface="+mn-lt"/>
                <a:cs typeface="+mn-lt"/>
              </a:rPr>
              <a:t>on the SIG maintainability model. This indicates </a:t>
            </a:r>
            <a:r>
              <a:rPr lang="en-US" sz="1400" noProof="0" dirty="0" err="1">
                <a:ea typeface="+mn-lt"/>
                <a:cs typeface="+mn-lt"/>
              </a:rPr>
              <a:t>MAINT_INDICATION</a:t>
            </a:r>
            <a:r>
              <a:rPr lang="en-US" sz="1400" noProof="0" dirty="0">
                <a:ea typeface="+mn-lt"/>
                <a:cs typeface="+mn-lt"/>
              </a:rPr>
              <a:t> maintenance costs and time to market for functional changes. </a:t>
            </a:r>
            <a:r>
              <a:rPr lang="en-US" sz="1400" noProof="0" dirty="0" err="1">
                <a:ea typeface="+mn-lt"/>
                <a:cs typeface="+mn-lt"/>
              </a:rPr>
              <a:t>MAINT_OBSERVATION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064188-8D2E-E6DB-CEA1-90C74176B0E2}"/>
              </a:ext>
            </a:extLst>
          </p:cNvPr>
          <p:cNvSpPr txBox="1"/>
          <p:nvPr/>
        </p:nvSpPr>
        <p:spPr>
          <a:xfrm>
            <a:off x="2549236" y="2594716"/>
            <a:ext cx="9210962" cy="523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is </a:t>
            </a:r>
            <a:r>
              <a:rPr lang="en-US" sz="1400" noProof="0" dirty="0" err="1"/>
              <a:t>SYSTEM_PY</a:t>
            </a:r>
            <a:r>
              <a:rPr lang="en-US" sz="1400" noProof="0" dirty="0"/>
              <a:t> PY (</a:t>
            </a:r>
            <a:r>
              <a:rPr lang="en-US" sz="1400" noProof="0" dirty="0" err="1"/>
              <a:t>SYSTEM_LOC_FORMAT_COMMA</a:t>
            </a:r>
            <a:r>
              <a:rPr lang="en-US" sz="1400" noProof="0" dirty="0"/>
              <a:t> LOC) large. </a:t>
            </a:r>
            <a:r>
              <a:rPr lang="en-US" sz="1400" noProof="0" dirty="0" err="1"/>
              <a:t>TECH_SUMMARY</a:t>
            </a:r>
            <a:r>
              <a:rPr lang="en-US" sz="1400" noProof="0" dirty="0"/>
              <a:t> Its main technology is TECH_1_NAME.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9A5C80-18ED-D98C-0E78-B31D0C0E8B8E}"/>
              </a:ext>
            </a:extLst>
          </p:cNvPr>
          <p:cNvSpPr txBox="1"/>
          <p:nvPr/>
        </p:nvSpPr>
        <p:spPr>
          <a:xfrm>
            <a:off x="2549236" y="3579427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has a test/code ratio of </a:t>
            </a:r>
            <a:r>
              <a:rPr lang="en-US" sz="1400" noProof="0" dirty="0" err="1"/>
              <a:t>TEST_CODE_RATIO</a:t>
            </a:r>
            <a:r>
              <a:rPr lang="en-US" sz="1400" noProof="0" dirty="0"/>
              <a:t>. This indicates </a:t>
            </a:r>
            <a:r>
              <a:rPr lang="en-US" sz="1400" noProof="0" dirty="0" err="1"/>
              <a:t>TEST_CODE_SUMMARY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1767D0-0BD3-1B3E-29E4-4BF186AA0949}"/>
              </a:ext>
            </a:extLst>
          </p:cNvPr>
          <p:cNvSpPr txBox="1"/>
          <p:nvPr/>
        </p:nvSpPr>
        <p:spPr>
          <a:xfrm>
            <a:off x="2549236" y="4396144"/>
            <a:ext cx="9210962" cy="738664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rates 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+mn-lt"/>
              </a:rPr>
              <a:t>ARCH_RATING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Calibri" panose="020F0502020204030204" pitchFamily="34" charset="0"/>
              </a:rPr>
              <a:t>ARCH_STARS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)</a:t>
            </a:r>
            <a:r>
              <a:rPr lang="en-US" sz="1400" b="1" noProof="0" dirty="0"/>
              <a:t> </a:t>
            </a:r>
            <a:r>
              <a:rPr lang="en-US" sz="1400" noProof="0" dirty="0"/>
              <a:t>on the SIG Architecture Quality model, </a:t>
            </a:r>
            <a:r>
              <a:rPr lang="en-US" sz="1400" noProof="0" dirty="0" err="1"/>
              <a:t>ARCH_AT_BELOW</a:t>
            </a:r>
            <a:r>
              <a:rPr lang="en-US" sz="1400" noProof="0" dirty="0"/>
              <a:t> the market average. </a:t>
            </a:r>
            <a:r>
              <a:rPr lang="en-US" sz="1400" noProof="0" dirty="0" err="1"/>
              <a:t>ARCH_WORST_METRIC_REMARK</a:t>
            </a:r>
            <a:endParaRPr lang="en-US" sz="1400" noProof="0" dirty="0"/>
          </a:p>
          <a:p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09E68C-FA1E-7A85-89ED-807D0028D6CD}"/>
              </a:ext>
            </a:extLst>
          </p:cNvPr>
          <p:cNvSpPr txBox="1"/>
          <p:nvPr/>
        </p:nvSpPr>
        <p:spPr>
          <a:xfrm>
            <a:off x="2549236" y="5309422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 err="1"/>
              <a:t>OSH_RISK_SUMMARY</a:t>
            </a:r>
            <a:r>
              <a:rPr lang="en-US" sz="1400" noProof="0" dirty="0"/>
              <a:t>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14C37A4-1787-88B8-87EC-3BC4E6617034}"/>
              </a:ext>
            </a:extLst>
          </p:cNvPr>
          <p:cNvCxnSpPr>
            <a:cxnSpLocks/>
          </p:cNvCxnSpPr>
          <p:nvPr/>
        </p:nvCxnSpPr>
        <p:spPr>
          <a:xfrm flipH="1">
            <a:off x="2707067" y="2428035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6DF079F-BE0F-B539-6133-ADDCFA9385E8}"/>
              </a:ext>
            </a:extLst>
          </p:cNvPr>
          <p:cNvCxnSpPr>
            <a:cxnSpLocks/>
          </p:cNvCxnSpPr>
          <p:nvPr/>
        </p:nvCxnSpPr>
        <p:spPr>
          <a:xfrm flipH="1">
            <a:off x="2707067" y="3331283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9F180A7-BAC8-2121-6EB8-9B376B75A7AC}"/>
              </a:ext>
            </a:extLst>
          </p:cNvPr>
          <p:cNvCxnSpPr>
            <a:cxnSpLocks/>
          </p:cNvCxnSpPr>
          <p:nvPr/>
        </p:nvCxnSpPr>
        <p:spPr>
          <a:xfrm flipH="1">
            <a:off x="2707067" y="4290288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E24B4CB-EC74-75E7-077A-96C2F71EE536}"/>
              </a:ext>
            </a:extLst>
          </p:cNvPr>
          <p:cNvCxnSpPr>
            <a:cxnSpLocks/>
          </p:cNvCxnSpPr>
          <p:nvPr/>
        </p:nvCxnSpPr>
        <p:spPr>
          <a:xfrm flipH="1">
            <a:off x="2707067" y="5260444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452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CF9DD-0462-016F-8E23-2DB26438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CC222B10-C35A-E1BF-3C6F-DEEE025002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D8EBEE6-089D-3692-A341-C90A7CEA81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E936A79-6AD8-007A-80E2-F8397B01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25467FEE-6B64-E34F-E27E-DF526B0470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658057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3A2FF08D-E383-A4D7-D0D5-04C5B7D9BE55}"/>
              </a:ext>
            </a:extLst>
          </p:cNvPr>
          <p:cNvGrpSpPr/>
          <p:nvPr/>
        </p:nvGrpSpPr>
        <p:grpSpPr>
          <a:xfrm>
            <a:off x="4467601" y="1994958"/>
            <a:ext cx="8637048" cy="2061327"/>
            <a:chOff x="1187436" y="2607314"/>
            <a:chExt cx="8637048" cy="206132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88C42531-C38E-90CC-55B2-1CA03B964DCC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21C615A6-2657-F686-ACB4-31C3780AC53F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9E8041A3-4CF8-83F0-839C-439C8A2903BA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1E4A6A55-D491-B64E-8117-725CFD0054C7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9FBD725A-A3B4-2FE9-5308-553FDD9CC914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Cost estimation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4F69592-6EC4-3A3F-03CA-A0EB53B047AF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7D4889B-9E40-C9DF-1B1F-087D453F8571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2104FF65-775F-390F-A413-19E80C39A13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79D70F5D-0B0B-6234-A662-2C0A1687FCA9}"/>
                </a:ext>
              </a:extLst>
            </p:cNvPr>
            <p:cNvSpPr/>
            <p:nvPr/>
          </p:nvSpPr>
          <p:spPr>
            <a:xfrm>
              <a:off x="2402756" y="4339032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BDEAA53F-F465-CAD1-D039-210FAB636309}"/>
                </a:ext>
              </a:extLst>
            </p:cNvPr>
            <p:cNvSpPr txBox="1"/>
            <p:nvPr/>
          </p:nvSpPr>
          <p:spPr>
            <a:xfrm>
              <a:off x="2827099" y="4342700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  <p:sp>
        <p:nvSpPr>
          <p:cNvPr id="34" name="Afgeronde rechthoek 33">
            <a:extLst>
              <a:ext uri="{FF2B5EF4-FFF2-40B4-BE49-F238E27FC236}">
                <a16:creationId xmlns:a16="http://schemas.microsoft.com/office/drawing/2014/main" id="{1432F4D9-898D-1F7C-1B68-01CBDDFBCED8}"/>
              </a:ext>
            </a:extLst>
          </p:cNvPr>
          <p:cNvSpPr/>
          <p:nvPr/>
        </p:nvSpPr>
        <p:spPr>
          <a:xfrm>
            <a:off x="4454347" y="1472806"/>
            <a:ext cx="7567201" cy="2923251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29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691-EEF8-B68C-5A5F-30410C8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val 64">
            <a:extLst>
              <a:ext uri="{FF2B5EF4-FFF2-40B4-BE49-F238E27FC236}">
                <a16:creationId xmlns:a16="http://schemas.microsoft.com/office/drawing/2014/main" id="{95C27F98-D0CE-D5B9-C55D-97BBC5A5BFF2}"/>
              </a:ext>
            </a:extLst>
          </p:cNvPr>
          <p:cNvSpPr>
            <a:spLocks/>
          </p:cNvSpPr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3">
                  <a:alpha val="30871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6C70F8F-27F3-4CF3-FECD-439D34C6752D}"/>
              </a:ext>
            </a:extLst>
          </p:cNvPr>
          <p:cNvSpPr>
            <a:spLocks/>
          </p:cNvSpPr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3">
                  <a:alpha val="15000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9D0E3-9C9E-5F23-111D-96C14386A39D}"/>
              </a:ext>
            </a:extLst>
          </p:cNvPr>
          <p:cNvSpPr txBox="1">
            <a:spLocks/>
          </p:cNvSpPr>
          <p:nvPr/>
        </p:nvSpPr>
        <p:spPr>
          <a:xfrm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3000">
                      <a:srgbClr val="FFFFFF"/>
                    </a:gs>
                    <a:gs pos="9000">
                      <a:srgbClr val="88ADF5">
                        <a:lumMod val="60000"/>
                        <a:lumOff val="40000"/>
                      </a:srgbClr>
                    </a:gs>
                  </a:gsLst>
                  <a:lin ang="9600000" scaled="0"/>
                </a:gradFill>
                <a:effectLst>
                  <a:outerShdw blurRad="113571" dist="44478" dir="16200000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oir Pro Semi Bold" pitchFamily="2" charset="0"/>
                <a:ea typeface="+mn-ea"/>
                <a:cs typeface="+mn-cs"/>
              </a:rPr>
              <a:t>Cost Estimation Model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470666D-AB22-177C-6C7A-D16FF6FB97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F5EE4F-BA36-EEBF-BA2F-29E8865194E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FAE676-1E79-98D7-3514-335462A799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42BD21-9B61-2246-BCB1-4BE5E1BEBE1C}" type="slidenum">
              <a:rPr kumimoji="0" lang="en-US" sz="900" b="0" i="0" u="none" strike="noStrike" kern="1200" cap="none" spc="1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3EF7774A-211E-088E-C9B6-6A86C4405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Cost Estimation model combines Sigrid analysis results with SIG benchmarks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3FDDD-3858-C838-0AD0-612548D292DE}"/>
              </a:ext>
            </a:extLst>
          </p:cNvPr>
          <p:cNvSpPr>
            <a:spLocks/>
          </p:cNvSpPr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3">
              <a:alpha val="256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3F8D7-DBCC-1E52-6611-0BE5FFCA74B9}"/>
              </a:ext>
            </a:extLst>
          </p:cNvPr>
          <p:cNvSpPr>
            <a:spLocks/>
          </p:cNvSpPr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gradFill>
            <a:gsLst>
              <a:gs pos="23000">
                <a:schemeClr val="accent3">
                  <a:lumMod val="60000"/>
                  <a:lumOff val="40000"/>
                  <a:alpha val="33841"/>
                </a:schemeClr>
              </a:gs>
              <a:gs pos="61000">
                <a:schemeClr val="accent3">
                  <a:lumMod val="60000"/>
                  <a:lumOff val="40000"/>
                  <a:alpha val="1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3A583D-6BE0-A8F1-39D1-114B3FDEE8C6}"/>
              </a:ext>
            </a:extLst>
          </p:cNvPr>
          <p:cNvSpPr>
            <a:spLocks/>
          </p:cNvSpPr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23000">
                <a:schemeClr val="bg1"/>
              </a:gs>
              <a:gs pos="61000">
                <a:schemeClr val="accent3">
                  <a:lumMod val="40000"/>
                  <a:lumOff val="60000"/>
                  <a:alpha val="29000"/>
                </a:schemeClr>
              </a:gs>
            </a:gsLst>
            <a:lin ang="2700000" scaled="0"/>
          </a:gradFill>
          <a:ln w="12700">
            <a:solidFill>
              <a:schemeClr val="accent3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E6CC9E-A042-4D41-4D82-5012869DD8F0}"/>
              </a:ext>
            </a:extLst>
          </p:cNvPr>
          <p:cNvSpPr>
            <a:spLocks/>
          </p:cNvSpPr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13D36-4866-963A-B984-D0771F1F8F91}"/>
              </a:ext>
            </a:extLst>
          </p:cNvPr>
          <p:cNvSpPr>
            <a:spLocks/>
          </p:cNvSpPr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1F8860-D3BD-ADF7-947C-66743FAA2346}"/>
              </a:ext>
            </a:extLst>
          </p:cNvPr>
          <p:cNvSpPr>
            <a:spLocks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EE0137-8821-1C78-1860-272D52AD6A69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035F2BD-9708-0AD0-BD3B-D333B7293EE0}"/>
              </a:ext>
            </a:extLst>
          </p:cNvPr>
          <p:cNvSpPr>
            <a:spLocks/>
          </p:cNvSpPr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041D92-70F1-8E69-18DA-1A12061BCB4D}"/>
              </a:ext>
            </a:extLst>
          </p:cNvPr>
          <p:cNvSpPr>
            <a:spLocks/>
          </p:cNvSpPr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D5037DEE-D3A7-543A-B3E5-6F22ECB1E9B3}"/>
              </a:ext>
            </a:extLst>
          </p:cNvPr>
          <p:cNvSpPr txBox="1">
            <a:spLocks/>
          </p:cNvSpPr>
          <p:nvPr/>
        </p:nvSpPr>
        <p:spPr>
          <a:xfrm>
            <a:off x="8148338" y="1411200"/>
            <a:ext cx="3650085" cy="4842000"/>
          </a:xfrm>
          <a:prstGeom prst="rect">
            <a:avLst/>
          </a:prstGeom>
        </p:spPr>
        <p:txBody>
          <a:bodyPr vert="horz" lIns="216000" tIns="0" rIns="9144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noProof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rPr>
              <a:t>The Cost Estimation Model (CEM) enables translating technical analysis results to cost estimations. </a:t>
            </a:r>
            <a:endParaRPr kumimoji="0" lang="en-US" sz="3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most important input for the CEM are the maintainability analysis results. This is mandatory. CEM then combines this with </a:t>
            </a:r>
            <a:r>
              <a:rPr lang="en-US" sz="1400" noProof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rPr>
              <a:t>SIG’s benchmarks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 on productivity and maintainability.</a:t>
            </a:r>
            <a:endParaRPr kumimoji="0" lang="en-US" sz="1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Cost estimations form key input for scenario comparison.</a:t>
            </a: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AE202C74-D8C9-84F4-7CCF-66BFEFFF7D22}"/>
              </a:ext>
            </a:extLst>
          </p:cNvPr>
          <p:cNvSpPr>
            <a:spLocks/>
          </p:cNvSpPr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19163152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3"/>
                </a:gs>
                <a:gs pos="18000">
                  <a:schemeClr val="accent3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86B057A7-8157-80A0-0AA7-9BDCD7BBB467}"/>
              </a:ext>
            </a:extLst>
          </p:cNvPr>
          <p:cNvSpPr>
            <a:spLocks/>
          </p:cNvSpPr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1">
                    <a:alpha val="90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F9DAC-CBE3-1B3F-9290-7F5D371A54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00476" y="1505595"/>
            <a:ext cx="403047" cy="343715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88B6BB2-C968-8F30-797C-D8BF8F77A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0162" y="3488675"/>
            <a:ext cx="709276" cy="472846"/>
          </a:xfrm>
          <a:prstGeom prst="rect">
            <a:avLst/>
          </a:prstGeom>
          <a:effectLst/>
        </p:spPr>
      </p:pic>
      <p:sp>
        <p:nvSpPr>
          <p:cNvPr id="11" name="Oval 43">
            <a:extLst>
              <a:ext uri="{FF2B5EF4-FFF2-40B4-BE49-F238E27FC236}">
                <a16:creationId xmlns:a16="http://schemas.microsoft.com/office/drawing/2014/main" id="{72B4FB6F-6763-191D-367B-6D9493FDE909}"/>
              </a:ext>
            </a:extLst>
          </p:cNvPr>
          <p:cNvSpPr>
            <a:spLocks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14976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31" name="Boog 30">
            <a:extLst>
              <a:ext uri="{FF2B5EF4-FFF2-40B4-BE49-F238E27FC236}">
                <a16:creationId xmlns:a16="http://schemas.microsoft.com/office/drawing/2014/main" id="{2E76718F-E362-2675-C4E3-B79D88D026C1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266711"/>
              <a:gd name="adj2" fmla="val 12416581"/>
            </a:avLst>
          </a:prstGeom>
          <a:ln w="12700">
            <a:gradFill>
              <a:gsLst>
                <a:gs pos="83000">
                  <a:schemeClr val="accent3"/>
                </a:gs>
                <a:gs pos="16000">
                  <a:schemeClr val="accent3"/>
                </a:gs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E8DECA9-24CF-753A-9E3D-ED81D7412706}"/>
              </a:ext>
            </a:extLst>
          </p:cNvPr>
          <p:cNvSpPr txBox="1">
            <a:spLocks/>
          </p:cNvSpPr>
          <p:nvPr/>
        </p:nvSpPr>
        <p:spPr>
          <a:xfrm>
            <a:off x="773951" y="2467036"/>
            <a:ext cx="272557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>
                  <a:outerShdw blurRad="229337" sx="102000" sy="102000" algn="ctr" rotWithShape="0">
                    <a:srgbClr val="1763FF">
                      <a:alpha val="20000"/>
                    </a:srgbClr>
                  </a:outerShdw>
                </a:effectLst>
                <a:uLnTx/>
                <a:uFillTx/>
                <a:latin typeface="☞NOIR PRO MEDIUM" pitchFamily="2" charset="0"/>
                <a:ea typeface="+mn-ea"/>
                <a:cs typeface="+mn-cs"/>
              </a:rPr>
              <a:t>Model sub-characteristics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20B4AB-9225-343C-3039-7D6D4668EBFC}"/>
              </a:ext>
            </a:extLst>
          </p:cNvPr>
          <p:cNvSpPr>
            <a:spLocks/>
          </p:cNvSpPr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2E5481D9-8C0E-A2F0-820F-EC973CFB7F55}"/>
              </a:ext>
            </a:extLst>
          </p:cNvPr>
          <p:cNvSpPr>
            <a:spLocks/>
          </p:cNvSpPr>
          <p:nvPr/>
        </p:nvSpPr>
        <p:spPr>
          <a:xfrm>
            <a:off x="3324388" y="3825339"/>
            <a:ext cx="126489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F992DA66-29D9-1466-1F41-2D8827291212}"/>
              </a:ext>
            </a:extLst>
          </p:cNvPr>
          <p:cNvSpPr>
            <a:spLocks/>
          </p:cNvSpPr>
          <p:nvPr/>
        </p:nvSpPr>
        <p:spPr>
          <a:xfrm>
            <a:off x="3467971" y="4563771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B435B4C7-661B-FDF9-E7D5-7747088120FF}"/>
              </a:ext>
            </a:extLst>
          </p:cNvPr>
          <p:cNvSpPr>
            <a:spLocks/>
          </p:cNvSpPr>
          <p:nvPr/>
        </p:nvSpPr>
        <p:spPr>
          <a:xfrm>
            <a:off x="3645999" y="4985107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10D3DB77-BAAE-D993-38A8-5175851EB1D3}"/>
              </a:ext>
            </a:extLst>
          </p:cNvPr>
          <p:cNvSpPr txBox="1">
            <a:spLocks/>
          </p:cNvSpPr>
          <p:nvPr/>
        </p:nvSpPr>
        <p:spPr>
          <a:xfrm>
            <a:off x="393577" y="2957541"/>
            <a:ext cx="2933901" cy="63543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SIG Language productivity benchmark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7E259356-0193-A86A-4CEE-5A1813E29242}"/>
              </a:ext>
            </a:extLst>
          </p:cNvPr>
          <p:cNvSpPr txBox="1">
            <a:spLocks/>
          </p:cNvSpPr>
          <p:nvPr/>
        </p:nvSpPr>
        <p:spPr>
          <a:xfrm>
            <a:off x="225737" y="3691833"/>
            <a:ext cx="3058740" cy="63543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SIG Maintainability benchmark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5F0DC96E-F7E0-F74E-E1F1-46E5AC30F48C}"/>
              </a:ext>
            </a:extLst>
          </p:cNvPr>
          <p:cNvSpPr txBox="1">
            <a:spLocks/>
          </p:cNvSpPr>
          <p:nvPr/>
        </p:nvSpPr>
        <p:spPr>
          <a:xfrm>
            <a:off x="942233" y="4426125"/>
            <a:ext cx="2472300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Software metric results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793CE3A-19AA-C87F-F0EE-2C1B9143E48E}"/>
              </a:ext>
            </a:extLst>
          </p:cNvPr>
          <p:cNvSpPr txBox="1">
            <a:spLocks/>
          </p:cNvSpPr>
          <p:nvPr/>
        </p:nvSpPr>
        <p:spPr>
          <a:xfrm>
            <a:off x="2044729" y="4851797"/>
            <a:ext cx="1518514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Configuration</a:t>
            </a:r>
          </a:p>
        </p:txBody>
      </p:sp>
    </p:spTree>
    <p:extLst>
      <p:ext uri="{BB962C8B-B14F-4D97-AF65-F5344CB8AC3E}">
        <p14:creationId xmlns:p14="http://schemas.microsoft.com/office/powerpoint/2010/main" val="837537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D655E-F97C-8287-6A0E-D45434C8F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4ABE8-C279-D9E6-AC8C-52F1BD5E7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674945" cy="228145"/>
          </a:xfrm>
        </p:spPr>
        <p:txBody>
          <a:bodyPr/>
          <a:lstStyle/>
          <a:p>
            <a:r>
              <a:rPr lang="en-US" noProof="0" dirty="0"/>
              <a:t>Key findings – Cost estimation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14C925DB-E118-F4E3-AF41-5BD45439B8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5575" y="1411288"/>
            <a:ext cx="8245902" cy="48418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code volume totals </a:t>
            </a:r>
            <a:r>
              <a:rPr lang="en-US" noProof="0" dirty="0" err="1"/>
              <a:t>SYSTEM_PY</a:t>
            </a:r>
            <a:r>
              <a:rPr lang="en-US" noProof="0" dirty="0"/>
              <a:t> person years of theoretical rebuild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average maintainability level is </a:t>
            </a:r>
            <a:r>
              <a:rPr lang="en-US" noProof="0" dirty="0" err="1"/>
              <a:t>MAINT_RELATIVE</a:t>
            </a:r>
            <a:r>
              <a:rPr lang="en-US" noProof="0" dirty="0"/>
              <a:t>. For modern systems built in common technologies, at minimum a 4-star rating is recommended to avoid unnecessary maintenance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MAINTENANCE_FTE</a:t>
            </a:r>
            <a:r>
              <a:rPr lang="en-US" noProof="0" dirty="0"/>
              <a:t> FTE of development effort is recommended for maintenance alone.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Approximately </a:t>
            </a:r>
            <a:r>
              <a:rPr lang="en-US" dirty="0"/>
              <a:t>RENOVATION_EFFORT_PY</a:t>
            </a:r>
            <a:r>
              <a:rPr lang="en-US" noProof="0" dirty="0"/>
              <a:t> person years is required to renovate the system towards the recommended 4-star level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6403D236-46DC-F53D-82C2-4D20A0AF68A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92D6C-0D69-FCB1-5EE4-95B2A83103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657FF3-6619-08B7-D7FA-29D947004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US" noProof="0" dirty="0"/>
              <a:t>SYSTEM_NAME technical debt is RENOVATION_EFFORT_PY person </a:t>
            </a:r>
            <a:r>
              <a:rPr lang="en-US" noProof="0"/>
              <a:t>years (RENOVATION_EFFORT_PERCENTAGE% </a:t>
            </a:r>
            <a:r>
              <a:rPr lang="en-US" noProof="0" dirty="0"/>
              <a:t>of its volume)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899634-9D42-069D-8642-EC64A877D766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C4DC25EC-B24A-5D12-8A8F-843FC11DA1F0}"/>
              </a:ext>
            </a:extLst>
          </p:cNvPr>
          <p:cNvSpPr txBox="1"/>
          <p:nvPr/>
        </p:nvSpPr>
        <p:spPr>
          <a:xfrm>
            <a:off x="2096093" y="6441308"/>
            <a:ext cx="9428642" cy="256609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* At an assumed cost of </a:t>
            </a:r>
            <a:r>
              <a:rPr lang="en-US" sz="1000" b="1" i="0" noProof="0" dirty="0"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€</a:t>
            </a:r>
            <a:r>
              <a:rPr lang="en-US" sz="1000" b="1" noProof="0" dirty="0">
                <a:solidFill>
                  <a:schemeClr val="bg2">
                    <a:lumMod val="50000"/>
                  </a:schemeClr>
                </a:solidFill>
              </a:rPr>
              <a:t>150K/FTE per year</a:t>
            </a: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; Costs address software development effort, no additional project (management) costs.</a:t>
            </a:r>
          </a:p>
        </p:txBody>
      </p:sp>
      <p:cxnSp>
        <p:nvCxnSpPr>
          <p:cNvPr id="28" name="Straight Connector 6">
            <a:extLst>
              <a:ext uri="{FF2B5EF4-FFF2-40B4-BE49-F238E27FC236}">
                <a16:creationId xmlns:a16="http://schemas.microsoft.com/office/drawing/2014/main" id="{BC9E30B0-576B-88A2-00C1-921F32E0F2D8}"/>
              </a:ext>
            </a:extLst>
          </p:cNvPr>
          <p:cNvCxnSpPr>
            <a:cxnSpLocks/>
          </p:cNvCxnSpPr>
          <p:nvPr/>
        </p:nvCxnSpPr>
        <p:spPr>
          <a:xfrm>
            <a:off x="8460712" y="1525524"/>
            <a:ext cx="0" cy="4505033"/>
          </a:xfrm>
          <a:prstGeom prst="line">
            <a:avLst/>
          </a:prstGeom>
          <a:ln w="12700">
            <a:solidFill>
              <a:srgbClr val="B3BEC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14">
            <a:extLst>
              <a:ext uri="{FF2B5EF4-FFF2-40B4-BE49-F238E27FC236}">
                <a16:creationId xmlns:a16="http://schemas.microsoft.com/office/drawing/2014/main" id="{D9EF6390-5FE2-830E-BA6B-5297C426F1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81292" y="1420924"/>
            <a:ext cx="1379052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noProof="0" dirty="0">
                <a:latin typeface="☞NOIR PRO MEDIUM" pitchFamily="2" charset="0"/>
              </a:rPr>
              <a:t>Terminology</a:t>
            </a:r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5EC81CC7-8162-6B1C-495A-A6286EDF4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280873"/>
              </p:ext>
            </p:extLst>
          </p:nvPr>
        </p:nvGraphicFramePr>
        <p:xfrm>
          <a:off x="154800" y="3881008"/>
          <a:ext cx="8104657" cy="1354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065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4339150"/>
                    </a:ext>
                  </a:extLst>
                </a:gridCol>
                <a:gridCol w="1197428">
                  <a:extLst>
                    <a:ext uri="{9D8B030D-6E8A-4147-A177-3AD203B41FA5}">
                      <a16:colId xmlns:a16="http://schemas.microsoft.com/office/drawing/2014/main" val="2067085742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3304719765"/>
                    </a:ext>
                  </a:extLst>
                </a:gridCol>
                <a:gridCol w="1184218">
                  <a:extLst>
                    <a:ext uri="{9D8B030D-6E8A-4147-A177-3AD203B41FA5}">
                      <a16:colId xmlns:a16="http://schemas.microsoft.com/office/drawing/2014/main" val="377289107"/>
                    </a:ext>
                  </a:extLst>
                </a:gridCol>
                <a:gridCol w="1251382">
                  <a:extLst>
                    <a:ext uri="{9D8B030D-6E8A-4147-A177-3AD203B41FA5}">
                      <a16:colId xmlns:a16="http://schemas.microsoft.com/office/drawing/2014/main" val="1699343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</a:rPr>
                        <a:t>System</a:t>
                      </a:r>
                      <a:endParaRPr lang="en-US" sz="1400" b="0" i="0" noProof="0" dirty="0">
                        <a:solidFill>
                          <a:schemeClr val="tx1"/>
                        </a:solidFill>
                        <a:latin typeface="Noir Pro Medium" pitchFamily="2" charset="0"/>
                        <a:cs typeface="TheSans B4 SemiLight"/>
                      </a:endParaRPr>
                    </a:p>
                  </a:txBody>
                  <a:tcPr marL="216000" marR="108000" marT="72000" marB="7200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Code </a:t>
                      </a:r>
                      <a:b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</a:b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volume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Technical debt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Projected maintenance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Available capacity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Innovation capacity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b="0" noProof="0" dirty="0" err="1">
                          <a:solidFill>
                            <a:schemeClr val="tx1"/>
                          </a:solidFill>
                        </a:rPr>
                        <a:t>SYSTEM_NAME</a:t>
                      </a:r>
                      <a:endParaRPr lang="en-US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216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noProof="0" dirty="0" err="1">
                          <a:solidFill>
                            <a:schemeClr val="tx1"/>
                          </a:solidFill>
                        </a:rPr>
                        <a:t>SYSTEM_PY</a:t>
                      </a:r>
                      <a:r>
                        <a:rPr lang="en-US" sz="1400" b="0" i="0" noProof="0" dirty="0">
                          <a:solidFill>
                            <a:schemeClr val="tx1"/>
                          </a:solidFill>
                        </a:rPr>
                        <a:t> PY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RENOVATION_EFFORT_PY PY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MAINTENANCE_FTE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FTE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@@ FTE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noProof="0" dirty="0">
                          <a:solidFill>
                            <a:schemeClr val="tx1"/>
                          </a:solidFill>
                        </a:rPr>
                        <a:t>@@ FTE (@@%)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8F1D6A9-6AA2-B77F-75EA-F5693038D876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Rectangle 51">
            <a:extLst>
              <a:ext uri="{FF2B5EF4-FFF2-40B4-BE49-F238E27FC236}">
                <a16:creationId xmlns:a16="http://schemas.microsoft.com/office/drawing/2014/main" id="{6B7B3571-B154-08F5-EAB8-EDBD315AC9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81291" y="1762133"/>
            <a:ext cx="3453503" cy="451342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80975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2"/>
                </a:solidFill>
              </a:rPr>
              <a:t>Code volume </a:t>
            </a:r>
            <a:r>
              <a:rPr lang="en-US" sz="1200" noProof="0" dirty="0">
                <a:solidFill>
                  <a:schemeClr val="tx1"/>
                </a:solidFill>
              </a:rPr>
              <a:t>is the estimated amount of development effort to produce the current amount of lines of code.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5"/>
                </a:solidFill>
              </a:rPr>
              <a:t>Technical debt</a:t>
            </a:r>
            <a:r>
              <a:rPr lang="en-US" sz="1200" noProof="0" dirty="0">
                <a:solidFill>
                  <a:schemeClr val="accent5"/>
                </a:solidFill>
              </a:rPr>
              <a:t> </a:t>
            </a:r>
            <a:r>
              <a:rPr lang="en-US" sz="1200" noProof="0" dirty="0">
                <a:solidFill>
                  <a:schemeClr val="tx1"/>
                </a:solidFill>
              </a:rPr>
              <a:t>is the estimated amount of development effort to improve the Maintainability of the system to a given target rating (typically 3.5). The recommended target level can be adjusted, depending on the context of the system.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The yearly </a:t>
            </a:r>
            <a:r>
              <a:rPr lang="en-US" sz="1200" b="1" noProof="0" dirty="0">
                <a:solidFill>
                  <a:schemeClr val="accent4">
                    <a:lumMod val="75000"/>
                  </a:schemeClr>
                </a:solidFill>
              </a:rPr>
              <a:t>Projected maintenance </a:t>
            </a:r>
            <a:r>
              <a:rPr lang="en-US" sz="1200" noProof="0" dirty="0">
                <a:solidFill>
                  <a:schemeClr val="tx1"/>
                </a:solidFill>
              </a:rPr>
              <a:t>is calculated using the code volume and quality. It assumes an annual 15% required change rate in the code base (where 5% is considered the minimum in an EOL lifecycle phase). </a:t>
            </a:r>
            <a:r>
              <a:rPr lang="en-US" sz="1200" b="1" noProof="0" dirty="0">
                <a:solidFill>
                  <a:schemeClr val="tx1"/>
                </a:solidFill>
              </a:rPr>
              <a:t>Spending less effort is likely to deteriorate the maintainability.</a:t>
            </a:r>
            <a:endParaRPr lang="en-US" sz="1200" b="1" noProof="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3"/>
                </a:solidFill>
              </a:rPr>
              <a:t>Available capacity </a:t>
            </a:r>
            <a:r>
              <a:rPr lang="en-US" sz="1200" noProof="0" dirty="0">
                <a:solidFill>
                  <a:schemeClr val="tx1"/>
                </a:solidFill>
              </a:rPr>
              <a:t>is checked based on the number of developers working on the codebase in the past 12 months.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rgbClr val="57C968"/>
                </a:solidFill>
              </a:rPr>
              <a:t>Innovation capacity </a:t>
            </a:r>
            <a:r>
              <a:rPr lang="en-US" sz="1200" noProof="0" dirty="0">
                <a:solidFill>
                  <a:schemeClr val="tx1"/>
                </a:solidFill>
              </a:rPr>
              <a:t>is the number of FTE available for innovation, calculated by subtracting projected FTE from the available FTE</a:t>
            </a:r>
          </a:p>
          <a:p>
            <a:pPr marL="285750" indent="-285750">
              <a:buClr>
                <a:schemeClr val="tx1">
                  <a:lumMod val="50000"/>
                  <a:lumOff val="50000"/>
                </a:schemeClr>
              </a:buClr>
              <a:buFont typeface=".AppleSystemUIFont"/>
              <a:buChar char="&gt;"/>
            </a:pPr>
            <a:endParaRPr lang="en-US" sz="14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3" name="Straight Connector 16">
            <a:extLst>
              <a:ext uri="{FF2B5EF4-FFF2-40B4-BE49-F238E27FC236}">
                <a16:creationId xmlns:a16="http://schemas.microsoft.com/office/drawing/2014/main" id="{513C36C2-BD39-7400-5EF7-2B2BE3F5165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1873108"/>
            <a:ext cx="0" cy="414914"/>
          </a:xfrm>
          <a:prstGeom prst="line">
            <a:avLst/>
          </a:prstGeom>
          <a:ln w="63500" cap="rnd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33E8D316-CE81-857A-9A37-7374096B09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2564969"/>
            <a:ext cx="0" cy="996937"/>
          </a:xfrm>
          <a:prstGeom prst="line">
            <a:avLst/>
          </a:prstGeom>
          <a:ln w="63500" cap="rnd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8">
            <a:extLst>
              <a:ext uri="{FF2B5EF4-FFF2-40B4-BE49-F238E27FC236}">
                <a16:creationId xmlns:a16="http://schemas.microsoft.com/office/drawing/2014/main" id="{031E0116-E325-3696-9898-7AEA82AA33E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3814079"/>
            <a:ext cx="0" cy="972937"/>
          </a:xfrm>
          <a:prstGeom prst="line">
            <a:avLst/>
          </a:prstGeom>
          <a:ln w="63500" cap="rnd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F2890E64-F917-1103-3B56-C727E285854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5082702"/>
            <a:ext cx="0" cy="414914"/>
          </a:xfrm>
          <a:prstGeom prst="line">
            <a:avLst/>
          </a:prstGeom>
          <a:ln w="63500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578821-521C-DF0B-77D9-5727D80D243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5788878"/>
            <a:ext cx="0" cy="414914"/>
          </a:xfrm>
          <a:prstGeom prst="line">
            <a:avLst/>
          </a:prstGeom>
          <a:ln w="63500" cap="rnd">
            <a:solidFill>
              <a:srgbClr val="57C96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569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71F068-8C71-3D21-62FF-DAD3558519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ISO 25010 standard for Maintainability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0BBCB73-C7CC-EF8D-3A7C-FC0B4B1C56A1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Maintainability is the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degree of effectiveness and efficiency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with which a product or system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can be modified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to improve it, correct it or adapt it to changes in environment, and in requirements.</a:t>
            </a: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grpSp>
        <p:nvGrpSpPr>
          <p:cNvPr id="2" name="Groep 1">
            <a:extLst>
              <a:ext uri="{FF2B5EF4-FFF2-40B4-BE49-F238E27FC236}">
                <a16:creationId xmlns:a16="http://schemas.microsoft.com/office/drawing/2014/main" id="{7CC85480-4E9F-88F0-82A3-297861B80249}"/>
              </a:ext>
            </a:extLst>
          </p:cNvPr>
          <p:cNvGrpSpPr/>
          <p:nvPr/>
        </p:nvGrpSpPr>
        <p:grpSpPr>
          <a:xfrm>
            <a:off x="5727023" y="3352101"/>
            <a:ext cx="750242" cy="750242"/>
            <a:chOff x="5933559" y="1864863"/>
            <a:chExt cx="328966" cy="328966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EBEB883-B167-9258-9B3C-2408558E83C0}"/>
                </a:ext>
              </a:extLst>
            </p:cNvPr>
            <p:cNvSpPr/>
            <p:nvPr/>
          </p:nvSpPr>
          <p:spPr>
            <a:xfrm>
              <a:off x="5933559" y="1864863"/>
              <a:ext cx="328966" cy="32896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A1F63EEE-282A-49B8-7F1F-6C06CA2642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80605" y="1902449"/>
              <a:ext cx="247724" cy="245928"/>
            </a:xfrm>
            <a:prstGeom prst="rect">
              <a:avLst/>
            </a:prstGeom>
          </p:spPr>
        </p:pic>
      </p:grpSp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43">
            <a:extLst>
              <a:ext uri="{FF2B5EF4-FFF2-40B4-BE49-F238E27FC236}">
                <a16:creationId xmlns:a16="http://schemas.microsoft.com/office/drawing/2014/main" id="{FC31513E-AADB-57EA-8918-A3D07FEEF498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381216" y="2467036"/>
            <a:ext cx="311831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ISO 25010 sub-characteristics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1897130" y="2957541"/>
            <a:ext cx="1430348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Analyzability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875926" y="3456782"/>
            <a:ext cx="1395083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Modifiability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2119163" y="3956023"/>
            <a:ext cx="119150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Testability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177515" y="4455264"/>
            <a:ext cx="1236385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Modularity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7522" y="4954505"/>
            <a:ext cx="124760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Reusability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314380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ISO 25010       Maintainability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C6AEC9BC-2562-04CA-C1D9-0C7137DF20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6764" y="1826081"/>
            <a:ext cx="393006" cy="33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8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Analyzability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Modifiability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Testability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Modularity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Reusability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2404922" y="2119302"/>
            <a:ext cx="9173128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6251E5-A1AC-6CFF-9472-C53DC41655B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SIG/</a:t>
            </a:r>
            <a:r>
              <a:rPr lang="en-US" noProof="0" dirty="0" err="1"/>
              <a:t>TÜViT</a:t>
            </a:r>
            <a:r>
              <a:rPr lang="en-US" noProof="0" dirty="0"/>
              <a:t> model maps the sub-characteristics to the system properties</a:t>
            </a:r>
          </a:p>
        </p:txBody>
      </p:sp>
      <p:grpSp>
        <p:nvGrpSpPr>
          <p:cNvPr id="16" name="Groep 15">
            <a:extLst>
              <a:ext uri="{FF2B5EF4-FFF2-40B4-BE49-F238E27FC236}">
                <a16:creationId xmlns:a16="http://schemas.microsoft.com/office/drawing/2014/main" id="{2EB7272D-F604-D956-AAE5-B2981212C033}"/>
              </a:ext>
            </a:extLst>
          </p:cNvPr>
          <p:cNvGrpSpPr/>
          <p:nvPr/>
        </p:nvGrpSpPr>
        <p:grpSpPr>
          <a:xfrm>
            <a:off x="2807936" y="2780488"/>
            <a:ext cx="2635602" cy="339865"/>
            <a:chOff x="2807936" y="2830273"/>
            <a:chExt cx="2635602" cy="339865"/>
          </a:xfrm>
        </p:grpSpPr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10F67CCC-4965-E170-13FB-4DE08A2FB12B}"/>
                </a:ext>
              </a:extLst>
            </p:cNvPr>
            <p:cNvGrpSpPr/>
            <p:nvPr/>
          </p:nvGrpSpPr>
          <p:grpSpPr>
            <a:xfrm>
              <a:off x="2906989" y="2918313"/>
              <a:ext cx="2445855" cy="157941"/>
              <a:chOff x="3149473" y="2702807"/>
              <a:chExt cx="2445855" cy="157941"/>
            </a:xfrm>
          </p:grpSpPr>
          <p:sp>
            <p:nvSpPr>
              <p:cNvPr id="10" name="Ovaal 9">
                <a:extLst>
                  <a:ext uri="{FF2B5EF4-FFF2-40B4-BE49-F238E27FC236}">
                    <a16:creationId xmlns:a16="http://schemas.microsoft.com/office/drawing/2014/main" id="{EEC047B5-4675-87BB-C77D-525A9C15C89C}"/>
                  </a:ext>
                </a:extLst>
              </p:cNvPr>
              <p:cNvSpPr/>
              <p:nvPr/>
            </p:nvSpPr>
            <p:spPr>
              <a:xfrm>
                <a:off x="3149473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B27E223E-7F96-98A3-1BCE-3C7E3476061A}"/>
                  </a:ext>
                </a:extLst>
              </p:cNvPr>
              <p:cNvSpPr/>
              <p:nvPr/>
            </p:nvSpPr>
            <p:spPr>
              <a:xfrm>
                <a:off x="4307640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Ovaal 11">
                <a:extLst>
                  <a:ext uri="{FF2B5EF4-FFF2-40B4-BE49-F238E27FC236}">
                    <a16:creationId xmlns:a16="http://schemas.microsoft.com/office/drawing/2014/main" id="{0490248B-B552-3119-224F-718F14ACB6C5}"/>
                  </a:ext>
                </a:extLst>
              </p:cNvPr>
              <p:cNvSpPr/>
              <p:nvPr/>
            </p:nvSpPr>
            <p:spPr>
              <a:xfrm>
                <a:off x="5437387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" name="Afgeronde rechthoek 4">
              <a:extLst>
                <a:ext uri="{FF2B5EF4-FFF2-40B4-BE49-F238E27FC236}">
                  <a16:creationId xmlns:a16="http://schemas.microsoft.com/office/drawing/2014/main" id="{C0978B86-C287-03A1-FB46-4DAE9843BB13}"/>
                </a:ext>
              </a:extLst>
            </p:cNvPr>
            <p:cNvSpPr/>
            <p:nvPr/>
          </p:nvSpPr>
          <p:spPr>
            <a:xfrm>
              <a:off x="2807936" y="2830273"/>
              <a:ext cx="2635602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17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ep 14">
            <a:extLst>
              <a:ext uri="{FF2B5EF4-FFF2-40B4-BE49-F238E27FC236}">
                <a16:creationId xmlns:a16="http://schemas.microsoft.com/office/drawing/2014/main" id="{6D345AE2-E02E-D32F-9CBD-7FC86770FA07}"/>
              </a:ext>
            </a:extLst>
          </p:cNvPr>
          <p:cNvGrpSpPr/>
          <p:nvPr/>
        </p:nvGrpSpPr>
        <p:grpSpPr>
          <a:xfrm>
            <a:off x="3955803" y="3249198"/>
            <a:ext cx="5018263" cy="339865"/>
            <a:chOff x="3955803" y="3291298"/>
            <a:chExt cx="5018263" cy="339865"/>
          </a:xfrm>
        </p:grpSpPr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1BF8A6A9-6A5F-3E6F-8302-59A7894DA250}"/>
                </a:ext>
              </a:extLst>
            </p:cNvPr>
            <p:cNvGrpSpPr/>
            <p:nvPr/>
          </p:nvGrpSpPr>
          <p:grpSpPr>
            <a:xfrm>
              <a:off x="4065156" y="3376902"/>
              <a:ext cx="4813858" cy="157941"/>
              <a:chOff x="4307640" y="3166426"/>
              <a:chExt cx="4813858" cy="157941"/>
            </a:xfrm>
          </p:grpSpPr>
          <p:sp>
            <p:nvSpPr>
              <p:cNvPr id="30" name="Ovaal 29">
                <a:extLst>
                  <a:ext uri="{FF2B5EF4-FFF2-40B4-BE49-F238E27FC236}">
                    <a16:creationId xmlns:a16="http://schemas.microsoft.com/office/drawing/2014/main" id="{A1A0F8C2-9323-45A0-6442-CD6CF9F3DC4F}"/>
                  </a:ext>
                </a:extLst>
              </p:cNvPr>
              <p:cNvSpPr/>
              <p:nvPr/>
            </p:nvSpPr>
            <p:spPr>
              <a:xfrm>
                <a:off x="43076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5D327F0B-D25F-E912-D40A-438F2DD37A48}"/>
                  </a:ext>
                </a:extLst>
              </p:cNvPr>
              <p:cNvSpPr/>
              <p:nvPr/>
            </p:nvSpPr>
            <p:spPr>
              <a:xfrm>
                <a:off x="65969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BAEEFB57-DC37-56B7-9F13-3DEE86B7E6F4}"/>
                  </a:ext>
                </a:extLst>
              </p:cNvPr>
              <p:cNvSpPr/>
              <p:nvPr/>
            </p:nvSpPr>
            <p:spPr>
              <a:xfrm>
                <a:off x="8963557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Afgeronde rechthoek 8">
              <a:extLst>
                <a:ext uri="{FF2B5EF4-FFF2-40B4-BE49-F238E27FC236}">
                  <a16:creationId xmlns:a16="http://schemas.microsoft.com/office/drawing/2014/main" id="{DBAC85F2-D462-26C2-8480-06B8112AEB41}"/>
                </a:ext>
              </a:extLst>
            </p:cNvPr>
            <p:cNvSpPr/>
            <p:nvPr/>
          </p:nvSpPr>
          <p:spPr>
            <a:xfrm>
              <a:off x="3955803" y="3291298"/>
              <a:ext cx="5018263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ep 7">
            <a:extLst>
              <a:ext uri="{FF2B5EF4-FFF2-40B4-BE49-F238E27FC236}">
                <a16:creationId xmlns:a16="http://schemas.microsoft.com/office/drawing/2014/main" id="{24A25421-1B5F-3753-AFD8-FEDCF2499C6D}"/>
              </a:ext>
            </a:extLst>
          </p:cNvPr>
          <p:cNvGrpSpPr/>
          <p:nvPr/>
        </p:nvGrpSpPr>
        <p:grpSpPr>
          <a:xfrm>
            <a:off x="2807935" y="3717908"/>
            <a:ext cx="8456177" cy="339865"/>
            <a:chOff x="2807935" y="3744528"/>
            <a:chExt cx="8456177" cy="339865"/>
          </a:xfrm>
        </p:grpSpPr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34C2642E-BD9E-B164-9B50-9F6044701472}"/>
                </a:ext>
              </a:extLst>
            </p:cNvPr>
            <p:cNvGrpSpPr/>
            <p:nvPr/>
          </p:nvGrpSpPr>
          <p:grpSpPr>
            <a:xfrm>
              <a:off x="2906989" y="3835491"/>
              <a:ext cx="8258926" cy="157941"/>
              <a:chOff x="3149473" y="3796856"/>
              <a:chExt cx="8258926" cy="157941"/>
            </a:xfrm>
          </p:grpSpPr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6B6535E0-9B87-4936-01E5-3207BED2217D}"/>
                  </a:ext>
                </a:extLst>
              </p:cNvPr>
              <p:cNvSpPr/>
              <p:nvPr/>
            </p:nvSpPr>
            <p:spPr>
              <a:xfrm>
                <a:off x="3149473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5C7E45C1-1A48-CBA8-888A-1A6A9F926F5C}"/>
                  </a:ext>
                </a:extLst>
              </p:cNvPr>
              <p:cNvSpPr/>
              <p:nvPr/>
            </p:nvSpPr>
            <p:spPr>
              <a:xfrm>
                <a:off x="6610746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Ovaal 34">
                <a:extLst>
                  <a:ext uri="{FF2B5EF4-FFF2-40B4-BE49-F238E27FC236}">
                    <a16:creationId xmlns:a16="http://schemas.microsoft.com/office/drawing/2014/main" id="{D04F3E43-6E0B-8BCD-7228-E5FF88C02653}"/>
                  </a:ext>
                </a:extLst>
              </p:cNvPr>
              <p:cNvSpPr/>
              <p:nvPr/>
            </p:nvSpPr>
            <p:spPr>
              <a:xfrm>
                <a:off x="11250458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" name="Afgeronde rechthoek 12">
              <a:extLst>
                <a:ext uri="{FF2B5EF4-FFF2-40B4-BE49-F238E27FC236}">
                  <a16:creationId xmlns:a16="http://schemas.microsoft.com/office/drawing/2014/main" id="{0FED46CD-0272-D4D6-12BE-438AFB4120B1}"/>
                </a:ext>
              </a:extLst>
            </p:cNvPr>
            <p:cNvSpPr/>
            <p:nvPr/>
          </p:nvSpPr>
          <p:spPr>
            <a:xfrm>
              <a:off x="2807935" y="3744528"/>
              <a:ext cx="8456177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5E3456A8-CC1F-BB43-8D8C-7D6557414C9D}"/>
              </a:ext>
            </a:extLst>
          </p:cNvPr>
          <p:cNvGrpSpPr/>
          <p:nvPr/>
        </p:nvGrpSpPr>
        <p:grpSpPr>
          <a:xfrm>
            <a:off x="8601834" y="4186618"/>
            <a:ext cx="2662278" cy="339865"/>
            <a:chOff x="8601834" y="4197760"/>
            <a:chExt cx="2662278" cy="339865"/>
          </a:xfrm>
        </p:grpSpPr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1A7CBC52-328C-B2D0-C7F6-04728E853D42}"/>
                </a:ext>
              </a:extLst>
            </p:cNvPr>
            <p:cNvGrpSpPr/>
            <p:nvPr/>
          </p:nvGrpSpPr>
          <p:grpSpPr>
            <a:xfrm>
              <a:off x="8708612" y="4294080"/>
              <a:ext cx="2457303" cy="157941"/>
              <a:chOff x="8951096" y="4294237"/>
              <a:chExt cx="2457303" cy="157941"/>
            </a:xfrm>
          </p:grpSpPr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4334F243-08B2-6786-25B4-FF32DB399AA8}"/>
                  </a:ext>
                </a:extLst>
              </p:cNvPr>
              <p:cNvSpPr/>
              <p:nvPr/>
            </p:nvSpPr>
            <p:spPr>
              <a:xfrm>
                <a:off x="11250458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Ovaal 36">
                <a:extLst>
                  <a:ext uri="{FF2B5EF4-FFF2-40B4-BE49-F238E27FC236}">
                    <a16:creationId xmlns:a16="http://schemas.microsoft.com/office/drawing/2014/main" id="{9E687F8D-E767-F317-E2C8-5013133A3E6C}"/>
                  </a:ext>
                </a:extLst>
              </p:cNvPr>
              <p:cNvSpPr/>
              <p:nvPr/>
            </p:nvSpPr>
            <p:spPr>
              <a:xfrm>
                <a:off x="10152377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Ovaal 37">
                <a:extLst>
                  <a:ext uri="{FF2B5EF4-FFF2-40B4-BE49-F238E27FC236}">
                    <a16:creationId xmlns:a16="http://schemas.microsoft.com/office/drawing/2014/main" id="{36312CC0-E81D-1F88-7500-78BCB99C111F}"/>
                  </a:ext>
                </a:extLst>
              </p:cNvPr>
              <p:cNvSpPr/>
              <p:nvPr/>
            </p:nvSpPr>
            <p:spPr>
              <a:xfrm>
                <a:off x="8951096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4" name="Afgeronde rechthoek 13">
              <a:extLst>
                <a:ext uri="{FF2B5EF4-FFF2-40B4-BE49-F238E27FC236}">
                  <a16:creationId xmlns:a16="http://schemas.microsoft.com/office/drawing/2014/main" id="{0C28EA2C-ADB2-610A-9843-B711D6BF6AD7}"/>
                </a:ext>
              </a:extLst>
            </p:cNvPr>
            <p:cNvSpPr/>
            <p:nvPr/>
          </p:nvSpPr>
          <p:spPr>
            <a:xfrm>
              <a:off x="8601834" y="4197760"/>
              <a:ext cx="2662278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ep 5">
            <a:extLst>
              <a:ext uri="{FF2B5EF4-FFF2-40B4-BE49-F238E27FC236}">
                <a16:creationId xmlns:a16="http://schemas.microsoft.com/office/drawing/2014/main" id="{1F44224B-F24D-C427-53AD-5E37EBAF3383}"/>
              </a:ext>
            </a:extLst>
          </p:cNvPr>
          <p:cNvGrpSpPr/>
          <p:nvPr/>
        </p:nvGrpSpPr>
        <p:grpSpPr>
          <a:xfrm>
            <a:off x="5089890" y="4655327"/>
            <a:ext cx="2759384" cy="339865"/>
            <a:chOff x="5089890" y="4658783"/>
            <a:chExt cx="2759384" cy="339865"/>
          </a:xfrm>
        </p:grpSpPr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580DDB05-E7F6-E9B6-6EB5-93816E666A05}"/>
                </a:ext>
              </a:extLst>
            </p:cNvPr>
            <p:cNvGrpSpPr/>
            <p:nvPr/>
          </p:nvGrpSpPr>
          <p:grpSpPr>
            <a:xfrm>
              <a:off x="5194635" y="4752669"/>
              <a:ext cx="2555987" cy="157941"/>
              <a:chOff x="5437119" y="4812269"/>
              <a:chExt cx="2555987" cy="157941"/>
            </a:xfrm>
          </p:grpSpPr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50BA0F96-2A00-CE63-9D2F-2D16A95C2D15}"/>
                  </a:ext>
                </a:extLst>
              </p:cNvPr>
              <p:cNvSpPr/>
              <p:nvPr/>
            </p:nvSpPr>
            <p:spPr>
              <a:xfrm>
                <a:off x="7835165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Ovaal 39">
                <a:extLst>
                  <a:ext uri="{FF2B5EF4-FFF2-40B4-BE49-F238E27FC236}">
                    <a16:creationId xmlns:a16="http://schemas.microsoft.com/office/drawing/2014/main" id="{CE1D0E13-4B48-1770-693F-792379748CC8}"/>
                  </a:ext>
                </a:extLst>
              </p:cNvPr>
              <p:cNvSpPr/>
              <p:nvPr/>
            </p:nvSpPr>
            <p:spPr>
              <a:xfrm>
                <a:off x="5437119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70808160-862B-ECE4-6A3E-5050F5A9C883}"/>
                </a:ext>
              </a:extLst>
            </p:cNvPr>
            <p:cNvSpPr/>
            <p:nvPr/>
          </p:nvSpPr>
          <p:spPr>
            <a:xfrm>
              <a:off x="5089890" y="4658783"/>
              <a:ext cx="2759384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2831161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0" noProof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Maintainability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en-US" sz="1400" noProof="0" dirty="0">
                <a:solidFill>
                  <a:schemeClr val="bg1"/>
                </a:solidFill>
                <a:latin typeface="☞NOIR PRO MEDIUM" pitchFamily="2" charset="0"/>
              </a:rPr>
              <a:t>25010</a:t>
            </a: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21" name="Picture 166">
            <a:extLst>
              <a:ext uri="{FF2B5EF4-FFF2-40B4-BE49-F238E27FC236}">
                <a16:creationId xmlns:a16="http://schemas.microsoft.com/office/drawing/2014/main" id="{0E781429-EAE9-5D29-21EF-7E7387F6E91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342438" y="2225598"/>
            <a:ext cx="454660" cy="386461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3658" y="2306414"/>
            <a:ext cx="359504" cy="239668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/>
        </p:nvGraphicFramePr>
        <p:xfrm>
          <a:off x="2404922" y="2200267"/>
          <a:ext cx="9173128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6641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Volume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Duplication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size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complexity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interfacing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Module 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entanglement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independence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49" name="Driehoek 48">
            <a:extLst>
              <a:ext uri="{FF2B5EF4-FFF2-40B4-BE49-F238E27FC236}">
                <a16:creationId xmlns:a16="http://schemas.microsoft.com/office/drawing/2014/main" id="{76614EDA-4914-AB80-9A45-AF481E7E5AAA}"/>
              </a:ext>
            </a:extLst>
          </p:cNvPr>
          <p:cNvSpPr/>
          <p:nvPr/>
        </p:nvSpPr>
        <p:spPr>
          <a:xfrm rot="10800000">
            <a:off x="1075993" y="2580143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0" name="Driehoek 49">
            <a:extLst>
              <a:ext uri="{FF2B5EF4-FFF2-40B4-BE49-F238E27FC236}">
                <a16:creationId xmlns:a16="http://schemas.microsoft.com/office/drawing/2014/main" id="{2C9FFFED-5DCC-8361-E111-40B1639E7797}"/>
              </a:ext>
            </a:extLst>
          </p:cNvPr>
          <p:cNvSpPr/>
          <p:nvPr/>
        </p:nvSpPr>
        <p:spPr>
          <a:xfrm rot="5400000">
            <a:off x="2409413" y="2405190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22A25979-9B27-41E5-42F3-4829A8820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092" y="1549761"/>
            <a:ext cx="262890" cy="26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45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518124" cy="228209"/>
          </a:xfrm>
        </p:spPr>
        <p:txBody>
          <a:bodyPr/>
          <a:lstStyle/>
          <a:p>
            <a:r>
              <a:rPr lang="en-US" noProof="0" dirty="0"/>
              <a:t>Key findings – Maintainability benchmark</a:t>
            </a:r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E61F4EF7-95D6-9141-8632-993E0F35179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is a </a:t>
            </a:r>
            <a:r>
              <a:rPr lang="en-US" noProof="0" dirty="0" err="1"/>
              <a:t>MAINT_SIZE</a:t>
            </a:r>
            <a:r>
              <a:rPr lang="en-US" noProof="0" dirty="0"/>
              <a:t> system of </a:t>
            </a:r>
            <a:r>
              <a:rPr lang="en-US" noProof="0" dirty="0" err="1"/>
              <a:t>SYSTEM_PY</a:t>
            </a:r>
            <a:r>
              <a:rPr lang="en-US" noProof="0" dirty="0"/>
              <a:t> PY which scores </a:t>
            </a:r>
            <a:r>
              <a:rPr lang="en-US" noProof="0" dirty="0" err="1"/>
              <a:t>MAINT_RATING</a:t>
            </a:r>
            <a:r>
              <a:rPr lang="en-US" noProof="0" dirty="0"/>
              <a:t> for maintainability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GALAXY_SLIDE&#13;&#10;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/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D0FC-1E69-5405-8D25-E89771A7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1B609EF-4181-E74F-FF39-E0761C89B7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674945" cy="228145"/>
          </a:xfrm>
        </p:spPr>
        <p:txBody>
          <a:bodyPr/>
          <a:lstStyle/>
          <a:p>
            <a:r>
              <a:rPr lang="en-US" noProof="0" dirty="0"/>
              <a:t>Key findings – Maintainability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C9D4FD2A-29C7-977B-F942-DDDC53AD6A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SYSTEM_NAME</a:t>
            </a:r>
            <a:r>
              <a:rPr lang="en-US" sz="1400" noProof="0" dirty="0"/>
              <a:t> scores </a:t>
            </a:r>
            <a:r>
              <a:rPr lang="en-US" sz="1400" noProof="0" dirty="0" err="1"/>
              <a:t>MAINT_RELATIVE</a:t>
            </a:r>
            <a:r>
              <a:rPr lang="en-US" sz="1400" noProof="0" dirty="0"/>
              <a:t> market average for maintainability. This indicates </a:t>
            </a:r>
            <a:r>
              <a:rPr lang="en-US" sz="1400" noProof="0" dirty="0" err="1"/>
              <a:t>MAINT_INDICATION</a:t>
            </a:r>
            <a:r>
              <a:rPr lang="en-US" sz="1400" noProof="0" dirty="0"/>
              <a:t> maintenance costs and time to market for functional changes. </a:t>
            </a:r>
          </a:p>
          <a:p>
            <a:endParaRPr lang="en-US" sz="1400" noProof="0" dirty="0"/>
          </a:p>
          <a:p>
            <a:r>
              <a:rPr lang="en-US" sz="1400" noProof="0" dirty="0">
                <a:latin typeface="Noir Pro Semi Bold" pitchFamily="2" charset="0"/>
              </a:rPr>
              <a:t>Notable metrics</a:t>
            </a:r>
          </a:p>
          <a:p>
            <a:r>
              <a:rPr lang="en-US" sz="1400" noProof="0" dirty="0" err="1"/>
              <a:t>MAINT_MULTIPLE_OBSERVATIONS</a:t>
            </a:r>
            <a:endParaRPr lang="en-US" sz="1400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C752FB1-03C1-7292-253C-C8435A815C2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5651B26-96DD-EACD-2E25-B80757D07B9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A6914BE1-1869-02E9-03A8-30809130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scores </a:t>
            </a:r>
            <a:r>
              <a:rPr lang="en-US" noProof="0" dirty="0" err="1"/>
              <a:t>MAINT_INDICATION</a:t>
            </a:r>
            <a:r>
              <a:rPr lang="en-US" noProof="0" dirty="0"/>
              <a:t> for maintainability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EF8E65C2-A45F-F7BE-50AD-120C0B0578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2617144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ep 6">
            <a:extLst>
              <a:ext uri="{FF2B5EF4-FFF2-40B4-BE49-F238E27FC236}">
                <a16:creationId xmlns:a16="http://schemas.microsoft.com/office/drawing/2014/main" id="{8058F19A-8E04-B773-2F63-975EE437CF7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0DCAE605-6045-AE2B-8209-321411B56E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7" name="Afgeronde rechthoek 36">
              <a:extLst>
                <a:ext uri="{FF2B5EF4-FFF2-40B4-BE49-F238E27FC236}">
                  <a16:creationId xmlns:a16="http://schemas.microsoft.com/office/drawing/2014/main" id="{A519506A-F642-8B0A-0CD2-170BCE2AA5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3" name="TextBox 39">
              <a:extLst>
                <a:ext uri="{FF2B5EF4-FFF2-40B4-BE49-F238E27FC236}">
                  <a16:creationId xmlns:a16="http://schemas.microsoft.com/office/drawing/2014/main" id="{8A515EA8-6F7F-CB57-EEF9-6A988D6515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3" name="Afgeronde rechthoek 2">
              <a:extLst>
                <a:ext uri="{FF2B5EF4-FFF2-40B4-BE49-F238E27FC236}">
                  <a16:creationId xmlns:a16="http://schemas.microsoft.com/office/drawing/2014/main" id="{E2EE68DC-9DD1-19EB-B084-5915863A13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16341FD7-C449-69BD-197B-554C11DA7F1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Rechte verbindingslijn 9">
              <a:extLst>
                <a:ext uri="{FF2B5EF4-FFF2-40B4-BE49-F238E27FC236}">
                  <a16:creationId xmlns:a16="http://schemas.microsoft.com/office/drawing/2014/main" id="{A4959127-23CE-B5B2-54D8-24915B5D939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Rechte verbindingslijn 10">
              <a:extLst>
                <a:ext uri="{FF2B5EF4-FFF2-40B4-BE49-F238E27FC236}">
                  <a16:creationId xmlns:a16="http://schemas.microsoft.com/office/drawing/2014/main" id="{467EED00-A9A4-745B-FA74-A2589E0935F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Rechte verbindingslijn 12">
              <a:extLst>
                <a:ext uri="{FF2B5EF4-FFF2-40B4-BE49-F238E27FC236}">
                  <a16:creationId xmlns:a16="http://schemas.microsoft.com/office/drawing/2014/main" id="{65D273F6-15EF-5B5D-F9A4-4D7671E31A9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9B50D10F-F915-DCFC-A5F9-B9784D2E0A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9" name="Afgeronde rechthoek 18">
              <a:extLst>
                <a:ext uri="{FF2B5EF4-FFF2-40B4-BE49-F238E27FC236}">
                  <a16:creationId xmlns:a16="http://schemas.microsoft.com/office/drawing/2014/main" id="{7222BC8B-9E66-91BE-A862-E4B0A9707F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20" name="Afgeronde rechthoek 19">
              <a:extLst>
                <a:ext uri="{FF2B5EF4-FFF2-40B4-BE49-F238E27FC236}">
                  <a16:creationId xmlns:a16="http://schemas.microsoft.com/office/drawing/2014/main" id="{0372C655-B475-E870-9B73-C457C94299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21" name="Afgeronde rechthoek 20">
              <a:extLst>
                <a:ext uri="{FF2B5EF4-FFF2-40B4-BE49-F238E27FC236}">
                  <a16:creationId xmlns:a16="http://schemas.microsoft.com/office/drawing/2014/main" id="{A4495646-4CD8-7FE9-D6FA-E6A32F3268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22" name="Afgeronde rechthoek 21">
              <a:extLst>
                <a:ext uri="{FF2B5EF4-FFF2-40B4-BE49-F238E27FC236}">
                  <a16:creationId xmlns:a16="http://schemas.microsoft.com/office/drawing/2014/main" id="{81E714D1-2EDD-E6C5-CAAA-EB02239A0D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23" name="Afgeronde rechthoek 22">
              <a:extLst>
                <a:ext uri="{FF2B5EF4-FFF2-40B4-BE49-F238E27FC236}">
                  <a16:creationId xmlns:a16="http://schemas.microsoft.com/office/drawing/2014/main" id="{9FA94012-C64B-FEAF-BEF5-6E878110F9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24" name="Afgeronde rechthoek 23">
              <a:extLst>
                <a:ext uri="{FF2B5EF4-FFF2-40B4-BE49-F238E27FC236}">
                  <a16:creationId xmlns:a16="http://schemas.microsoft.com/office/drawing/2014/main" id="{06245C99-D1A2-81E1-7A2A-9B3FA54DB5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0D680DAE-6A0A-5F80-9D73-1B3434F7C5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3" name="Rectangle 34">
              <a:extLst>
                <a:ext uri="{FF2B5EF4-FFF2-40B4-BE49-F238E27FC236}">
                  <a16:creationId xmlns:a16="http://schemas.microsoft.com/office/drawing/2014/main" id="{B95F3709-4127-653F-563F-EB0A748FB3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DB3E36D4-BB81-8AF0-CEF6-CCC2706BF8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3A492A1F-5A7A-07F8-8C38-7C13295E7C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8D18C5C7-06E2-49CE-D02A-344D110428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8" name="Rechte verbindingslijn 77">
              <a:extLst>
                <a:ext uri="{FF2B5EF4-FFF2-40B4-BE49-F238E27FC236}">
                  <a16:creationId xmlns:a16="http://schemas.microsoft.com/office/drawing/2014/main" id="{B27569F3-74B0-C2D8-CBC7-DCBA58B39A6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Rechte verbindingslijn 79">
              <a:extLst>
                <a:ext uri="{FF2B5EF4-FFF2-40B4-BE49-F238E27FC236}">
                  <a16:creationId xmlns:a16="http://schemas.microsoft.com/office/drawing/2014/main" id="{37D11895-5EFF-93B7-DE3D-9A9E9F09F8C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5" name="Graphic 74">
              <a:extLst>
                <a:ext uri="{FF2B5EF4-FFF2-40B4-BE49-F238E27FC236}">
                  <a16:creationId xmlns:a16="http://schemas.microsoft.com/office/drawing/2014/main" id="{B5BD83E5-4A87-97B5-1F20-E26F1CC99FB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28" name="Rechte verbindingslijn 27">
              <a:extLst>
                <a:ext uri="{FF2B5EF4-FFF2-40B4-BE49-F238E27FC236}">
                  <a16:creationId xmlns:a16="http://schemas.microsoft.com/office/drawing/2014/main" id="{D9F659BC-E5C3-0EB3-2FDA-3439436410A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0F81F54D-AD5F-2ED7-41E7-B4244E747E5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65" name="TextBox 39">
            <a:extLst>
              <a:ext uri="{FF2B5EF4-FFF2-40B4-BE49-F238E27FC236}">
                <a16:creationId xmlns:a16="http://schemas.microsoft.com/office/drawing/2014/main" id="{DDB8BF03-352C-7912-CA4F-E637BDD54D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402C79F4-6E42-178E-24B7-07CA9240F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213525"/>
              </p:ext>
            </p:extLst>
          </p:nvPr>
        </p:nvGraphicFramePr>
        <p:xfrm>
          <a:off x="8571496" y="3035953"/>
          <a:ext cx="3116504" cy="18681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Volume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STARS_VOLUME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MAINT_RATING_VOLUME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Duplication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Unit 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STARS_UNIT_SIZE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complexity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STARS_UNIT_COMPLEXITY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MAINT_RATING_UNIT_COMPLEXITY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interfacing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STARS_UNIT_INTERFACING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MAINT_RATING_UNIT_INTERFACING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Module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STARS_MODULE_COUPLING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MAINT_RATING_MODULE_COUPLING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entanglement 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STARS_COMPONENT_ENTANGLEMENT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MAINT_RATING_COMPONENT_ENTANGLEMENT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independence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STARS_COMPONENT_INDEPENDENCE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MAINT_RATING_COMPONENT_INDEPENDENCE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77E3437B-5074-14E8-36C7-3DF76B44157A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AC4EC13-23AB-04D5-0F9F-2B74B25C4A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26078FB0-8A8E-B3F7-4DCB-48A08F7217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89227F0-045C-CC55-9916-9690A349C77E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30C82FE-1178-32D8-EC14-6C21317BE3E9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F195F66-2F7D-44D7-BBBD-D6BE8D7F6F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58D67A48-2556-2ED0-85E0-5AC6B13B7F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MARKER_MAINT_RATING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1129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4D6E7B-3114-F989-0221-CF083D29CE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US" noProof="0" dirty="0"/>
              <a:t>Key findings – Technology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70E21-F741-00F2-0514-4F39688D23D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BA139-C731-CD59-94C7-031326B415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94009D2-574F-A208-29BC-1338E3FD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system is </a:t>
            </a:r>
            <a:r>
              <a:rPr lang="en-US" noProof="0" dirty="0" err="1"/>
              <a:t>VOLUME_RELATIVE</a:t>
            </a:r>
            <a:r>
              <a:rPr lang="en-US" noProof="0" dirty="0"/>
              <a:t> in size and is built primarily in TECH_1_NAME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AEDC6C-8C3E-727E-1418-2D7B541D7525}"/>
              </a:ext>
            </a:extLst>
          </p:cNvPr>
          <p:cNvSpPr txBox="1">
            <a:spLocks/>
          </p:cNvSpPr>
          <p:nvPr/>
        </p:nvSpPr>
        <p:spPr>
          <a:xfrm>
            <a:off x="154800" y="1411199"/>
            <a:ext cx="3927600" cy="4161697"/>
          </a:xfrm>
          <a:prstGeom prst="rect">
            <a:avLst/>
          </a:prstGeom>
        </p:spPr>
        <p:txBody>
          <a:bodyPr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noProof="0" dirty="0" err="1"/>
              <a:t>TECH_COMMON_SUMMARY</a:t>
            </a:r>
            <a:endParaRPr lang="en-US" noProof="0" dirty="0"/>
          </a:p>
          <a:p>
            <a:pPr marL="285750" indent="-285750"/>
            <a:r>
              <a:rPr lang="en-US" noProof="0" dirty="0" err="1"/>
              <a:t>TECH_VARIANCE</a:t>
            </a:r>
            <a:endParaRPr lang="en-US" noProof="0" dirty="0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DD55A41C-2B82-26B6-9D2A-766F671176C0}"/>
              </a:ext>
            </a:extLst>
          </p:cNvPr>
          <p:cNvCxnSpPr>
            <a:cxnSpLocks/>
          </p:cNvCxnSpPr>
          <p:nvPr/>
        </p:nvCxnSpPr>
        <p:spPr>
          <a:xfrm>
            <a:off x="4176367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ECHNOLOGY_CHART">
            <a:extLst>
              <a:ext uri="{FF2B5EF4-FFF2-40B4-BE49-F238E27FC236}">
                <a16:creationId xmlns:a16="http://schemas.microsoft.com/office/drawing/2014/main" id="{E5DDF9E1-26B6-EE58-18CE-4DBED266C4BE}"/>
              </a:ext>
            </a:extLst>
          </p:cNvPr>
          <p:cNvGraphicFramePr/>
          <p:nvPr/>
        </p:nvGraphicFramePr>
        <p:xfrm>
          <a:off x="4258899" y="1366989"/>
          <a:ext cx="7486768" cy="1940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C4B4064B-3666-8F9B-FEDF-E1E1A99275BE}"/>
              </a:ext>
            </a:extLst>
          </p:cNvPr>
          <p:cNvGraphicFramePr>
            <a:graphicFrameLocks noGrp="1"/>
          </p:cNvGraphicFramePr>
          <p:nvPr/>
        </p:nvGraphicFramePr>
        <p:xfrm>
          <a:off x="4258898" y="3328130"/>
          <a:ext cx="7486769" cy="215457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374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44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Lines of Code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Rebuild size (PM)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TECH_1_NAME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TECH_1_LOC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TECH_1_PY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TECH_2_NAME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TECH_2_LOC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TECH_2_PY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TECH_3_NAME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TECH_3_LOC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TECH_3_PY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TECH_4_NAME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TECH_4_LOC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TECH_4_PY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TECH_5_NAME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TECH_5_LOC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TECH_5_PY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</a:tbl>
          </a:graphicData>
        </a:graphic>
      </p:graphicFrame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F6F2A0BE-E3E4-9A47-906A-32FD433FB0F7}"/>
              </a:ext>
            </a:extLst>
          </p:cNvPr>
          <p:cNvSpPr txBox="1">
            <a:spLocks/>
          </p:cNvSpPr>
          <p:nvPr/>
        </p:nvSpPr>
        <p:spPr>
          <a:xfrm>
            <a:off x="4478812" y="5781286"/>
            <a:ext cx="1797438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 dirty="0">
                <a:solidFill>
                  <a:schemeClr val="tx1"/>
                </a:solidFill>
              </a:rPr>
              <a:t>System rebuild size: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4E5F2948-2383-E59A-7528-F3A85A416090}"/>
              </a:ext>
            </a:extLst>
          </p:cNvPr>
          <p:cNvSpPr txBox="1">
            <a:spLocks/>
          </p:cNvSpPr>
          <p:nvPr/>
        </p:nvSpPr>
        <p:spPr>
          <a:xfrm>
            <a:off x="9695543" y="5781287"/>
            <a:ext cx="2050125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SYSTEM_PY</a:t>
            </a:r>
            <a:r>
              <a:rPr lang="en-US" noProof="0" dirty="0">
                <a:solidFill>
                  <a:schemeClr val="tx1"/>
                </a:solidFill>
              </a:rPr>
              <a:t> PY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EDF7FCC4-80F8-93F6-F4FE-6E60740CE42A}"/>
              </a:ext>
            </a:extLst>
          </p:cNvPr>
          <p:cNvSpPr txBox="1">
            <a:spLocks/>
          </p:cNvSpPr>
          <p:nvPr/>
        </p:nvSpPr>
        <p:spPr>
          <a:xfrm>
            <a:off x="6628412" y="5781286"/>
            <a:ext cx="2906219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SYSTEM_LOC_FORMAT_COMMA</a:t>
            </a:r>
            <a:r>
              <a:rPr lang="en-US" noProof="0" dirty="0">
                <a:solidFill>
                  <a:schemeClr val="tx1"/>
                </a:solidFill>
              </a:rPr>
              <a:t> LOC</a:t>
            </a:r>
          </a:p>
        </p:txBody>
      </p:sp>
    </p:spTree>
    <p:extLst>
      <p:ext uri="{BB962C8B-B14F-4D97-AF65-F5344CB8AC3E}">
        <p14:creationId xmlns:p14="http://schemas.microsoft.com/office/powerpoint/2010/main" val="3325148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72F7C4-C3B1-B0C2-D389-99A8407F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169037" cy="228145"/>
          </a:xfrm>
        </p:spPr>
        <p:txBody>
          <a:bodyPr/>
          <a:lstStyle/>
          <a:p>
            <a:r>
              <a:rPr lang="en-US" noProof="0" dirty="0"/>
              <a:t>Key findings – Test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CAEBE-164D-836E-049D-4910A21076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5620353" cy="4842000"/>
          </a:xfrm>
        </p:spPr>
        <p:txBody>
          <a:bodyPr/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SYSTEM_NAME</a:t>
            </a:r>
            <a:r>
              <a:rPr lang="en-US" noProof="0" dirty="0">
                <a:solidFill>
                  <a:schemeClr val="tx2"/>
                </a:solidFill>
              </a:rPr>
              <a:t> scores </a:t>
            </a:r>
            <a:r>
              <a:rPr lang="en-US" noProof="0" dirty="0" err="1">
                <a:solidFill>
                  <a:schemeClr val="tx2"/>
                </a:solidFill>
              </a:rPr>
              <a:t>TEST_CODE_RELATIVE</a:t>
            </a:r>
            <a:r>
              <a:rPr lang="en-US" noProof="0" dirty="0">
                <a:solidFill>
                  <a:schemeClr val="tx2"/>
                </a:solidFill>
              </a:rPr>
              <a:t>, with </a:t>
            </a:r>
            <a:r>
              <a:rPr lang="en-US" noProof="0" dirty="0" err="1">
                <a:solidFill>
                  <a:schemeClr val="tx2"/>
                </a:solidFill>
              </a:rPr>
              <a:t>TEST_CODE_RATIO</a:t>
            </a:r>
            <a:r>
              <a:rPr lang="en-US" noProof="0" dirty="0">
                <a:solidFill>
                  <a:schemeClr val="tx2"/>
                </a:solidFill>
              </a:rPr>
              <a:t> test/production code ratio.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TEST_CODE_SUMMARY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151CEE-B969-2DB6-0530-EA6B0263716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DF9A9-2EED-6BE7-6C07-F39D9AF03C5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4AA2B4-9A41-D6AF-11A8-87EF447EE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has a </a:t>
            </a:r>
            <a:r>
              <a:rPr lang="en-US" noProof="0" dirty="0" err="1"/>
              <a:t>TEST_CODE_RELATIVE</a:t>
            </a:r>
            <a:r>
              <a:rPr lang="en-US" noProof="0" dirty="0"/>
              <a:t> test/code ratio</a:t>
            </a:r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5736F781-52FC-C240-8546-50219238C95E}"/>
              </a:ext>
            </a:extLst>
          </p:cNvPr>
          <p:cNvCxnSpPr>
            <a:cxnSpLocks/>
          </p:cNvCxnSpPr>
          <p:nvPr/>
        </p:nvCxnSpPr>
        <p:spPr>
          <a:xfrm>
            <a:off x="6094800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95AD662-7602-636C-AACA-DB9C425C5BB8}"/>
              </a:ext>
            </a:extLst>
          </p:cNvPr>
          <p:cNvSpPr txBox="1"/>
          <p:nvPr/>
        </p:nvSpPr>
        <p:spPr>
          <a:xfrm>
            <a:off x="6618419" y="1366988"/>
            <a:ext cx="5201030" cy="35355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600" noProof="0" dirty="0" err="1">
                <a:latin typeface="Noir Pro Semi Bold" pitchFamily="2" charset="0"/>
              </a:rPr>
              <a:t>TEST_CODE_RATIO</a:t>
            </a:r>
            <a:r>
              <a:rPr lang="en-US" sz="1600" noProof="0" dirty="0">
                <a:latin typeface="Noir Pro Semi Bold" pitchFamily="2" charset="0"/>
              </a:rPr>
              <a:t> overall Test/code ratio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33388D-52FF-10DF-3C03-01B6DD6936E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39649" y="5882683"/>
            <a:ext cx="4758570" cy="307564"/>
          </a:xfrm>
          <a:prstGeom prst="rect">
            <a:avLst/>
          </a:prstGeom>
        </p:spPr>
      </p:pic>
      <p:graphicFrame>
        <p:nvGraphicFramePr>
          <p:cNvPr id="10" name="TEST_CODE_RATIO_CHART">
            <a:extLst>
              <a:ext uri="{FF2B5EF4-FFF2-40B4-BE49-F238E27FC236}">
                <a16:creationId xmlns:a16="http://schemas.microsoft.com/office/drawing/2014/main" id="{09595FD5-5B13-CF14-5B29-9E2438F6DBA0}"/>
              </a:ext>
            </a:extLst>
          </p:cNvPr>
          <p:cNvGraphicFramePr>
            <a:graphicFrameLocks/>
          </p:cNvGraphicFramePr>
          <p:nvPr/>
        </p:nvGraphicFramePr>
        <p:xfrm>
          <a:off x="7109907" y="1819134"/>
          <a:ext cx="4218054" cy="4026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55961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71F068-8C71-3D21-62FF-DAD3558519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Architecture Quality model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The SIG Architecture Quality model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 provides insight into the ability for an application to evolve as business needs change. </a:t>
            </a:r>
          </a:p>
          <a:p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Each of the 5 sub-characteristics represent properties of software architecture that affect the velocity in which foundational changes can be made to a software system.</a:t>
            </a:r>
            <a:endParaRPr lang="en-US" sz="1400" noProof="0" dirty="0">
              <a:solidFill>
                <a:schemeClr val="accent3"/>
              </a:solidFill>
              <a:latin typeface="Azeret Mono" pitchFamily="2" charset="77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1362254" y="2467036"/>
            <a:ext cx="2137273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2233759" y="2957541"/>
            <a:ext cx="109371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Structure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738004" y="3456782"/>
            <a:ext cx="1533005" cy="35676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>
            <a:defPPr>
              <a:defRPr lang="en-US"/>
            </a:defPPr>
            <a:lvl1pPr algn="r">
              <a:lnSpc>
                <a:spcPct val="113000"/>
              </a:lnSpc>
              <a:defRPr sz="1600">
                <a:solidFill>
                  <a:schemeClr val="bg1"/>
                </a:solidFill>
                <a:latin typeface="☞NOIR PRO MEDIUM" pitchFamily="2" charset="0"/>
              </a:defRPr>
            </a:lvl1pPr>
          </a:lstStyle>
          <a:p>
            <a:r>
              <a:rPr lang="en-US" noProof="0" dirty="0"/>
              <a:t>Communication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1928405" y="3956023"/>
            <a:ext cx="138225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Data access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353845" y="4455264"/>
            <a:ext cx="1060055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Evolution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5919" y="4954505"/>
            <a:ext cx="124920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Knowledge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534123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spc="140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SIG Architecture Quality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2E0CFBB-7A9C-9929-8E23-E856E40EC156}"/>
              </a:ext>
            </a:extLst>
          </p:cNvPr>
          <p:cNvSpPr/>
          <p:nvPr/>
        </p:nvSpPr>
        <p:spPr>
          <a:xfrm>
            <a:off x="5543925" y="3154882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5772D6-9BAE-9A49-D31B-F33891E3DF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0611" y="3175250"/>
            <a:ext cx="881625" cy="876046"/>
          </a:xfrm>
          <a:prstGeom prst="rect">
            <a:avLst/>
          </a:prstGeom>
        </p:spPr>
      </p:pic>
      <p:sp>
        <p:nvSpPr>
          <p:cNvPr id="81" name="Oval 43">
            <a:extLst>
              <a:ext uri="{FF2B5EF4-FFF2-40B4-BE49-F238E27FC236}">
                <a16:creationId xmlns:a16="http://schemas.microsoft.com/office/drawing/2014/main" id="{272F2F13-0896-623C-F051-A762F0144832}"/>
              </a:ext>
            </a:extLst>
          </p:cNvPr>
          <p:cNvSpPr/>
          <p:nvPr/>
        </p:nvSpPr>
        <p:spPr>
          <a:xfrm>
            <a:off x="5541883" y="3153205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463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Structure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 access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1738994" y="2119302"/>
            <a:ext cx="9839056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6251E5-A1AC-6CFF-9472-C53DC41655B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SIG’s Architecture Model maps the sub-characteristics to 9 system properties</a:t>
            </a:r>
          </a:p>
        </p:txBody>
      </p:sp>
      <p:sp>
        <p:nvSpPr>
          <p:cNvPr id="5" name="Afgeronde rechthoek 4">
            <a:extLst>
              <a:ext uri="{FF2B5EF4-FFF2-40B4-BE49-F238E27FC236}">
                <a16:creationId xmlns:a16="http://schemas.microsoft.com/office/drawing/2014/main" id="{C0978B86-C287-03A1-FB46-4DAE9843BB13}"/>
              </a:ext>
            </a:extLst>
          </p:cNvPr>
          <p:cNvSpPr/>
          <p:nvPr/>
        </p:nvSpPr>
        <p:spPr>
          <a:xfrm>
            <a:off x="2079450" y="2800306"/>
            <a:ext cx="5010198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3513435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0" noProof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Architecture Quality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740" y="2226642"/>
            <a:ext cx="590770" cy="393845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/>
        </p:nvGraphicFramePr>
        <p:xfrm>
          <a:off x="1724258" y="2210220"/>
          <a:ext cx="10295802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978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64319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Code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breakdown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adjacency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cohesion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centralization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Bounded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distribution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freshness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E447C6ED-5A30-ACDA-F05F-C9EE4524B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035" y="1523454"/>
            <a:ext cx="295455" cy="293586"/>
          </a:xfrm>
          <a:prstGeom prst="rect">
            <a:avLst/>
          </a:prstGeom>
        </p:spPr>
      </p:pic>
      <p:sp>
        <p:nvSpPr>
          <p:cNvPr id="10" name="Ovaal 9">
            <a:extLst>
              <a:ext uri="{FF2B5EF4-FFF2-40B4-BE49-F238E27FC236}">
                <a16:creationId xmlns:a16="http://schemas.microsoft.com/office/drawing/2014/main" id="{EEC047B5-4675-87BB-C77D-525A9C15C89C}"/>
              </a:ext>
            </a:extLst>
          </p:cNvPr>
          <p:cNvSpPr/>
          <p:nvPr/>
        </p:nvSpPr>
        <p:spPr>
          <a:xfrm>
            <a:off x="2218728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B27E223E-7F96-98A3-1BCE-3C7E3476061A}"/>
              </a:ext>
            </a:extLst>
          </p:cNvPr>
          <p:cNvSpPr/>
          <p:nvPr/>
        </p:nvSpPr>
        <p:spPr>
          <a:xfrm>
            <a:off x="5654945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0490248B-B552-3119-224F-718F14ACB6C5}"/>
              </a:ext>
            </a:extLst>
          </p:cNvPr>
          <p:cNvSpPr/>
          <p:nvPr/>
        </p:nvSpPr>
        <p:spPr>
          <a:xfrm>
            <a:off x="6797392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38" name="Ovaal 11">
            <a:extLst>
              <a:ext uri="{FF2B5EF4-FFF2-40B4-BE49-F238E27FC236}">
                <a16:creationId xmlns:a16="http://schemas.microsoft.com/office/drawing/2014/main" id="{6874EC91-042A-605C-8D6E-0521908AC107}"/>
              </a:ext>
            </a:extLst>
          </p:cNvPr>
          <p:cNvSpPr/>
          <p:nvPr/>
        </p:nvSpPr>
        <p:spPr>
          <a:xfrm>
            <a:off x="6797394" y="334365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39" name="Ovaal 10">
            <a:extLst>
              <a:ext uri="{FF2B5EF4-FFF2-40B4-BE49-F238E27FC236}">
                <a16:creationId xmlns:a16="http://schemas.microsoft.com/office/drawing/2014/main" id="{7E0F3336-7E00-3017-BF4A-E0D62E8C679F}"/>
              </a:ext>
            </a:extLst>
          </p:cNvPr>
          <p:cNvSpPr/>
          <p:nvPr/>
        </p:nvSpPr>
        <p:spPr>
          <a:xfrm>
            <a:off x="4512500" y="334475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0" name="Ovaal 10">
            <a:extLst>
              <a:ext uri="{FF2B5EF4-FFF2-40B4-BE49-F238E27FC236}">
                <a16:creationId xmlns:a16="http://schemas.microsoft.com/office/drawing/2014/main" id="{4CBA9FF2-A29A-B056-CCF4-3E8F6BF1E2B9}"/>
              </a:ext>
            </a:extLst>
          </p:cNvPr>
          <p:cNvSpPr/>
          <p:nvPr/>
        </p:nvSpPr>
        <p:spPr>
          <a:xfrm>
            <a:off x="3374154" y="33472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1" name="Ovaal 11">
            <a:extLst>
              <a:ext uri="{FF2B5EF4-FFF2-40B4-BE49-F238E27FC236}">
                <a16:creationId xmlns:a16="http://schemas.microsoft.com/office/drawing/2014/main" id="{BC564ED3-A53F-4681-0C82-114FB291ABF6}"/>
              </a:ext>
            </a:extLst>
          </p:cNvPr>
          <p:cNvSpPr/>
          <p:nvPr/>
        </p:nvSpPr>
        <p:spPr>
          <a:xfrm>
            <a:off x="7951314" y="33472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2" name="Ovaal 11">
            <a:extLst>
              <a:ext uri="{FF2B5EF4-FFF2-40B4-BE49-F238E27FC236}">
                <a16:creationId xmlns:a16="http://schemas.microsoft.com/office/drawing/2014/main" id="{498A5593-0A46-DE2F-22E7-1DCB40AE2D00}"/>
              </a:ext>
            </a:extLst>
          </p:cNvPr>
          <p:cNvSpPr/>
          <p:nvPr/>
        </p:nvSpPr>
        <p:spPr>
          <a:xfrm>
            <a:off x="9090244" y="3349541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8" name="Ovaal 11">
            <a:extLst>
              <a:ext uri="{FF2B5EF4-FFF2-40B4-BE49-F238E27FC236}">
                <a16:creationId xmlns:a16="http://schemas.microsoft.com/office/drawing/2014/main" id="{9CC9673A-F89B-12EB-21B8-75E30C9D2080}"/>
              </a:ext>
            </a:extLst>
          </p:cNvPr>
          <p:cNvSpPr/>
          <p:nvPr/>
        </p:nvSpPr>
        <p:spPr>
          <a:xfrm>
            <a:off x="6793863" y="381479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9" name="Ovaal 10">
            <a:extLst>
              <a:ext uri="{FF2B5EF4-FFF2-40B4-BE49-F238E27FC236}">
                <a16:creationId xmlns:a16="http://schemas.microsoft.com/office/drawing/2014/main" id="{828AC1A7-9160-FEB7-DB79-3435941438F6}"/>
              </a:ext>
            </a:extLst>
          </p:cNvPr>
          <p:cNvSpPr/>
          <p:nvPr/>
        </p:nvSpPr>
        <p:spPr>
          <a:xfrm>
            <a:off x="4508969" y="381589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0" name="Ovaal 10">
            <a:extLst>
              <a:ext uri="{FF2B5EF4-FFF2-40B4-BE49-F238E27FC236}">
                <a16:creationId xmlns:a16="http://schemas.microsoft.com/office/drawing/2014/main" id="{61B86929-CAFC-4B95-0C1C-51AC05D784F0}"/>
              </a:ext>
            </a:extLst>
          </p:cNvPr>
          <p:cNvSpPr/>
          <p:nvPr/>
        </p:nvSpPr>
        <p:spPr>
          <a:xfrm>
            <a:off x="3370623" y="381843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1" name="Ovaal 11">
            <a:extLst>
              <a:ext uri="{FF2B5EF4-FFF2-40B4-BE49-F238E27FC236}">
                <a16:creationId xmlns:a16="http://schemas.microsoft.com/office/drawing/2014/main" id="{C9115110-8ADA-848B-D863-F06FB80DED4F}"/>
              </a:ext>
            </a:extLst>
          </p:cNvPr>
          <p:cNvSpPr/>
          <p:nvPr/>
        </p:nvSpPr>
        <p:spPr>
          <a:xfrm>
            <a:off x="7947783" y="381843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6" name="Ovaal 9">
            <a:extLst>
              <a:ext uri="{FF2B5EF4-FFF2-40B4-BE49-F238E27FC236}">
                <a16:creationId xmlns:a16="http://schemas.microsoft.com/office/drawing/2014/main" id="{9BDEE888-167D-966F-C1F2-B5417B5DA84B}"/>
              </a:ext>
            </a:extLst>
          </p:cNvPr>
          <p:cNvSpPr/>
          <p:nvPr/>
        </p:nvSpPr>
        <p:spPr>
          <a:xfrm>
            <a:off x="2215199" y="4275894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7" name="Ovaal 10">
            <a:extLst>
              <a:ext uri="{FF2B5EF4-FFF2-40B4-BE49-F238E27FC236}">
                <a16:creationId xmlns:a16="http://schemas.microsoft.com/office/drawing/2014/main" id="{A8E55C29-424F-C86E-9059-BB74D2141A3C}"/>
              </a:ext>
            </a:extLst>
          </p:cNvPr>
          <p:cNvSpPr/>
          <p:nvPr/>
        </p:nvSpPr>
        <p:spPr>
          <a:xfrm>
            <a:off x="5651416" y="428195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9" name="Ovaal 10">
            <a:extLst>
              <a:ext uri="{FF2B5EF4-FFF2-40B4-BE49-F238E27FC236}">
                <a16:creationId xmlns:a16="http://schemas.microsoft.com/office/drawing/2014/main" id="{1C67472D-7DB0-3A78-43FA-FFD2DD48FC01}"/>
              </a:ext>
            </a:extLst>
          </p:cNvPr>
          <p:cNvSpPr/>
          <p:nvPr/>
        </p:nvSpPr>
        <p:spPr>
          <a:xfrm>
            <a:off x="4508969" y="42769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0" name="Ovaal 10">
            <a:extLst>
              <a:ext uri="{FF2B5EF4-FFF2-40B4-BE49-F238E27FC236}">
                <a16:creationId xmlns:a16="http://schemas.microsoft.com/office/drawing/2014/main" id="{1FC6962A-C121-CBE7-BDBD-17AB17923A72}"/>
              </a:ext>
            </a:extLst>
          </p:cNvPr>
          <p:cNvSpPr/>
          <p:nvPr/>
        </p:nvSpPr>
        <p:spPr>
          <a:xfrm>
            <a:off x="3370623" y="427347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2" name="Ovaal 11">
            <a:extLst>
              <a:ext uri="{FF2B5EF4-FFF2-40B4-BE49-F238E27FC236}">
                <a16:creationId xmlns:a16="http://schemas.microsoft.com/office/drawing/2014/main" id="{1F2D0029-FADC-9339-9382-49C8069FF25F}"/>
              </a:ext>
            </a:extLst>
          </p:cNvPr>
          <p:cNvSpPr/>
          <p:nvPr/>
        </p:nvSpPr>
        <p:spPr>
          <a:xfrm>
            <a:off x="9086713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3" name="Ovaal 11">
            <a:extLst>
              <a:ext uri="{FF2B5EF4-FFF2-40B4-BE49-F238E27FC236}">
                <a16:creationId xmlns:a16="http://schemas.microsoft.com/office/drawing/2014/main" id="{6E7AABD6-937F-DAFB-B1F0-EE0A04634B74}"/>
              </a:ext>
            </a:extLst>
          </p:cNvPr>
          <p:cNvSpPr/>
          <p:nvPr/>
        </p:nvSpPr>
        <p:spPr>
          <a:xfrm>
            <a:off x="10236612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4" name="Ovaal 11">
            <a:extLst>
              <a:ext uri="{FF2B5EF4-FFF2-40B4-BE49-F238E27FC236}">
                <a16:creationId xmlns:a16="http://schemas.microsoft.com/office/drawing/2014/main" id="{1A485405-125F-7FAC-A51E-ADEA50ADBF11}"/>
              </a:ext>
            </a:extLst>
          </p:cNvPr>
          <p:cNvSpPr/>
          <p:nvPr/>
        </p:nvSpPr>
        <p:spPr>
          <a:xfrm>
            <a:off x="11375001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5" name="Ovaal 11">
            <a:extLst>
              <a:ext uri="{FF2B5EF4-FFF2-40B4-BE49-F238E27FC236}">
                <a16:creationId xmlns:a16="http://schemas.microsoft.com/office/drawing/2014/main" id="{A8F5F29E-A2FB-9091-E6B6-74785EEC2691}"/>
              </a:ext>
            </a:extLst>
          </p:cNvPr>
          <p:cNvSpPr/>
          <p:nvPr/>
        </p:nvSpPr>
        <p:spPr>
          <a:xfrm>
            <a:off x="10236613" y="473886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6" name="Ovaal 11">
            <a:extLst>
              <a:ext uri="{FF2B5EF4-FFF2-40B4-BE49-F238E27FC236}">
                <a16:creationId xmlns:a16="http://schemas.microsoft.com/office/drawing/2014/main" id="{2B5D5729-583E-8BF0-5AC8-486005BA6A0F}"/>
              </a:ext>
            </a:extLst>
          </p:cNvPr>
          <p:cNvSpPr/>
          <p:nvPr/>
        </p:nvSpPr>
        <p:spPr>
          <a:xfrm>
            <a:off x="11375002" y="473886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7" name="Afgeronde rechthoek 4">
            <a:extLst>
              <a:ext uri="{FF2B5EF4-FFF2-40B4-BE49-F238E27FC236}">
                <a16:creationId xmlns:a16="http://schemas.microsoft.com/office/drawing/2014/main" id="{6512E9E4-9B95-7954-3745-5B7DFC710C19}"/>
              </a:ext>
            </a:extLst>
          </p:cNvPr>
          <p:cNvSpPr/>
          <p:nvPr/>
        </p:nvSpPr>
        <p:spPr>
          <a:xfrm>
            <a:off x="3234047" y="3252689"/>
            <a:ext cx="6112511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8" name="Afgeronde rechthoek 4">
            <a:extLst>
              <a:ext uri="{FF2B5EF4-FFF2-40B4-BE49-F238E27FC236}">
                <a16:creationId xmlns:a16="http://schemas.microsoft.com/office/drawing/2014/main" id="{F27BC448-4468-EA9E-A482-26966DD5E0A7}"/>
              </a:ext>
            </a:extLst>
          </p:cNvPr>
          <p:cNvSpPr/>
          <p:nvPr/>
        </p:nvSpPr>
        <p:spPr>
          <a:xfrm>
            <a:off x="3234047" y="3727474"/>
            <a:ext cx="4995554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9" name="Afgeronde rechthoek 4">
            <a:extLst>
              <a:ext uri="{FF2B5EF4-FFF2-40B4-BE49-F238E27FC236}">
                <a16:creationId xmlns:a16="http://schemas.microsoft.com/office/drawing/2014/main" id="{DCBB745F-1E7A-DCD4-F9CA-B9BE6C18EB8A}"/>
              </a:ext>
            </a:extLst>
          </p:cNvPr>
          <p:cNvSpPr/>
          <p:nvPr/>
        </p:nvSpPr>
        <p:spPr>
          <a:xfrm>
            <a:off x="2079450" y="4184931"/>
            <a:ext cx="9597669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0" name="Afgeronde rechthoek 4">
            <a:extLst>
              <a:ext uri="{FF2B5EF4-FFF2-40B4-BE49-F238E27FC236}">
                <a16:creationId xmlns:a16="http://schemas.microsoft.com/office/drawing/2014/main" id="{8FDE29E0-E140-7AE4-ABB5-5DF38D348344}"/>
              </a:ext>
            </a:extLst>
          </p:cNvPr>
          <p:cNvSpPr/>
          <p:nvPr/>
        </p:nvSpPr>
        <p:spPr>
          <a:xfrm>
            <a:off x="10137228" y="4644690"/>
            <a:ext cx="1539891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537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F6B8A-7C00-C575-7457-191C7FD7C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ep 6">
            <a:extLst>
              <a:ext uri="{FF2B5EF4-FFF2-40B4-BE49-F238E27FC236}">
                <a16:creationId xmlns:a16="http://schemas.microsoft.com/office/drawing/2014/main" id="{6B0DEB51-B2FE-F834-8777-2603B3D20B39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69" name="Rechthoek 25">
              <a:extLst>
                <a:ext uri="{FF2B5EF4-FFF2-40B4-BE49-F238E27FC236}">
                  <a16:creationId xmlns:a16="http://schemas.microsoft.com/office/drawing/2014/main" id="{F62F3BBE-F027-D806-FFCD-85040BCE7D01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0" name="Afgeronde rechthoek 36">
              <a:extLst>
                <a:ext uri="{FF2B5EF4-FFF2-40B4-BE49-F238E27FC236}">
                  <a16:creationId xmlns:a16="http://schemas.microsoft.com/office/drawing/2014/main" id="{E1A4E865-37F0-9A34-FD7D-835BA918DD1E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2" name="TextBox 39">
              <a:extLst>
                <a:ext uri="{FF2B5EF4-FFF2-40B4-BE49-F238E27FC236}">
                  <a16:creationId xmlns:a16="http://schemas.microsoft.com/office/drawing/2014/main" id="{E0DB69D7-1842-B942-7F31-5E79154351F4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77" name="Afgeronde rechthoek 2">
              <a:extLst>
                <a:ext uri="{FF2B5EF4-FFF2-40B4-BE49-F238E27FC236}">
                  <a16:creationId xmlns:a16="http://schemas.microsoft.com/office/drawing/2014/main" id="{4E632430-34C6-9115-5659-8CA345289B2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9" name="Rechte verbindingslijn 8">
              <a:extLst>
                <a:ext uri="{FF2B5EF4-FFF2-40B4-BE49-F238E27FC236}">
                  <a16:creationId xmlns:a16="http://schemas.microsoft.com/office/drawing/2014/main" id="{DF949A42-8A7E-EEDC-FDCB-2F42B36E3D8F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Rechte verbindingslijn 9">
              <a:extLst>
                <a:ext uri="{FF2B5EF4-FFF2-40B4-BE49-F238E27FC236}">
                  <a16:creationId xmlns:a16="http://schemas.microsoft.com/office/drawing/2014/main" id="{82321C5C-F1A3-1ADC-CFDB-1BE9EE1CFE45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Rechte verbindingslijn 10">
              <a:extLst>
                <a:ext uri="{FF2B5EF4-FFF2-40B4-BE49-F238E27FC236}">
                  <a16:creationId xmlns:a16="http://schemas.microsoft.com/office/drawing/2014/main" id="{E108268E-41B0-FD95-ED4E-7897ADD92B47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Rechte verbindingslijn 12">
              <a:extLst>
                <a:ext uri="{FF2B5EF4-FFF2-40B4-BE49-F238E27FC236}">
                  <a16:creationId xmlns:a16="http://schemas.microsoft.com/office/drawing/2014/main" id="{03CDD57C-F5C9-5D96-0FF3-F3D5249E2A9E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hthoek 14">
              <a:extLst>
                <a:ext uri="{FF2B5EF4-FFF2-40B4-BE49-F238E27FC236}">
                  <a16:creationId xmlns:a16="http://schemas.microsoft.com/office/drawing/2014/main" id="{7663298D-4D08-EA75-E570-301709FB63B5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5" name="Afgeronde rechthoek 18">
              <a:extLst>
                <a:ext uri="{FF2B5EF4-FFF2-40B4-BE49-F238E27FC236}">
                  <a16:creationId xmlns:a16="http://schemas.microsoft.com/office/drawing/2014/main" id="{A5FAAF41-C124-ED48-3B06-0E05FE2716BD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86" name="Afgeronde rechthoek 19">
              <a:extLst>
                <a:ext uri="{FF2B5EF4-FFF2-40B4-BE49-F238E27FC236}">
                  <a16:creationId xmlns:a16="http://schemas.microsoft.com/office/drawing/2014/main" id="{498A98D2-8FFB-F176-FF97-11B1FF459B19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87" name="Afgeronde rechthoek 20">
              <a:extLst>
                <a:ext uri="{FF2B5EF4-FFF2-40B4-BE49-F238E27FC236}">
                  <a16:creationId xmlns:a16="http://schemas.microsoft.com/office/drawing/2014/main" id="{7F5F2E8F-73B0-A7E0-AAF4-9EE5770CF8D5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88" name="Afgeronde rechthoek 21">
              <a:extLst>
                <a:ext uri="{FF2B5EF4-FFF2-40B4-BE49-F238E27FC236}">
                  <a16:creationId xmlns:a16="http://schemas.microsoft.com/office/drawing/2014/main" id="{CE4A8CD8-E211-19E8-2A9B-E2339DFE182C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89" name="Afgeronde rechthoek 22">
              <a:extLst>
                <a:ext uri="{FF2B5EF4-FFF2-40B4-BE49-F238E27FC236}">
                  <a16:creationId xmlns:a16="http://schemas.microsoft.com/office/drawing/2014/main" id="{91EA6B1C-419C-984B-628F-BF569F9E6635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90" name="Afgeronde rechthoek 23">
              <a:extLst>
                <a:ext uri="{FF2B5EF4-FFF2-40B4-BE49-F238E27FC236}">
                  <a16:creationId xmlns:a16="http://schemas.microsoft.com/office/drawing/2014/main" id="{57F1BCDC-2201-676E-E672-58D1F045E3EC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91" name="Rectangle 29">
              <a:extLst>
                <a:ext uri="{FF2B5EF4-FFF2-40B4-BE49-F238E27FC236}">
                  <a16:creationId xmlns:a16="http://schemas.microsoft.com/office/drawing/2014/main" id="{8F2CF3F5-6DDD-DD26-B94B-228E7E2A9207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2" name="Rectangle 34">
              <a:extLst>
                <a:ext uri="{FF2B5EF4-FFF2-40B4-BE49-F238E27FC236}">
                  <a16:creationId xmlns:a16="http://schemas.microsoft.com/office/drawing/2014/main" id="{A9B6994F-DDB5-543C-0A4C-09D790753C2A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3" name="Rectangle 35">
              <a:extLst>
                <a:ext uri="{FF2B5EF4-FFF2-40B4-BE49-F238E27FC236}">
                  <a16:creationId xmlns:a16="http://schemas.microsoft.com/office/drawing/2014/main" id="{CDFCB27B-9C34-D648-B912-48313CC5A18A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94" name="Rectangle 36">
              <a:extLst>
                <a:ext uri="{FF2B5EF4-FFF2-40B4-BE49-F238E27FC236}">
                  <a16:creationId xmlns:a16="http://schemas.microsoft.com/office/drawing/2014/main" id="{D6D645DA-F400-D23F-2E6A-8F7B3B74EB03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5" name="Rectangle 37">
              <a:extLst>
                <a:ext uri="{FF2B5EF4-FFF2-40B4-BE49-F238E27FC236}">
                  <a16:creationId xmlns:a16="http://schemas.microsoft.com/office/drawing/2014/main" id="{02A52E32-90C2-9F1D-5BEC-07FB7A0CC76C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6" name="Rechte verbindingslijn 77">
              <a:extLst>
                <a:ext uri="{FF2B5EF4-FFF2-40B4-BE49-F238E27FC236}">
                  <a16:creationId xmlns:a16="http://schemas.microsoft.com/office/drawing/2014/main" id="{A6E6830D-28D0-4E29-B40C-0F125AB5CEB2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Rechte verbindingslijn 79">
              <a:extLst>
                <a:ext uri="{FF2B5EF4-FFF2-40B4-BE49-F238E27FC236}">
                  <a16:creationId xmlns:a16="http://schemas.microsoft.com/office/drawing/2014/main" id="{E3D5E980-DCCD-CC53-AEBE-BD8A28D28CDF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6184C160-E2F7-3EE1-80A1-FA0E7C453FAF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99" name="Rechte verbindingslijn 27">
              <a:extLst>
                <a:ext uri="{FF2B5EF4-FFF2-40B4-BE49-F238E27FC236}">
                  <a16:creationId xmlns:a16="http://schemas.microsoft.com/office/drawing/2014/main" id="{D4B51BB0-9CB9-13BD-8469-038BBA75B4CA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0" name="Graphic 99">
              <a:extLst>
                <a:ext uri="{FF2B5EF4-FFF2-40B4-BE49-F238E27FC236}">
                  <a16:creationId xmlns:a16="http://schemas.microsoft.com/office/drawing/2014/main" id="{00092586-1408-3B9B-0915-DD60B92E3AC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9023B7C-A473-4E6D-F108-E3D1F0A95D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96535" cy="228145"/>
          </a:xfrm>
        </p:spPr>
        <p:txBody>
          <a:bodyPr/>
          <a:lstStyle/>
          <a:p>
            <a:r>
              <a:rPr lang="en-US" noProof="0" dirty="0"/>
              <a:t>Key findings – Architecture quality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D74ABEF-BBA7-7EB8-0A5E-BB2FB1DE2F0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278C1DA-0A09-03B2-12F4-1C97F1DE44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096AE361-6DBC-B794-EDAB-4DC17958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US" noProof="0" dirty="0"/>
              <a:t>SYSTEM_NAME scores ARCH_AT_BELOW market average (ARCH_RATING </a:t>
            </a:r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r>
              <a:rPr lang="en-US" noProof="0" dirty="0"/>
              <a:t>) for Architecture Quality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25670B74-994D-55A0-AD07-98A248D48DB6}"/>
              </a:ext>
            </a:extLst>
          </p:cNvPr>
          <p:cNvCxnSpPr>
            <a:cxnSpLocks/>
          </p:cNvCxnSpPr>
          <p:nvPr/>
        </p:nvCxnSpPr>
        <p:spPr>
          <a:xfrm>
            <a:off x="8234879" y="2821727"/>
            <a:ext cx="0" cy="289775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4DBF2D50-43B3-9D1D-1C7D-6BB92C13BC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95675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EC064487-82CA-6298-4D63-838846DA7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534412"/>
              </p:ext>
            </p:extLst>
          </p:nvPr>
        </p:nvGraphicFramePr>
        <p:xfrm>
          <a:off x="8395675" y="3035953"/>
          <a:ext cx="3292327" cy="25931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46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445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28201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Code breakdown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adjacency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STARS_COMPONENT_ADJACENCY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ARCH_RATING_COMPONENT_ADJACENCY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cohesion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STARS_COMPONENT_COHESION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ARCH_RATING_COMPONENT_COHESION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Communication centralization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STARS_COMMUNICATION_CENTRALIZATION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ARCH_RATING_COMMUNICATION_CENTRALIZATION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Data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STARS_DATA_COUPLING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ARCH_RATING_DATA_COUPLING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Bounded evolution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STARS_BOUNDED_EVOLUTION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ARCH_RATING_BOUNDED_EVOLUTION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Knowledge distribution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STARS_KNOWLEDGE_DISTRIBUTION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ARCH_RATING_KNOWLEDGE_DISTRIBUTION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STARS_COMPONENT_FRESHNESS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855687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823BDAA0-459C-E350-9690-A1457832995E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A05C33E1-20E4-89ED-347A-3028FC9719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627BA5DB-ADE1-55DF-349E-456F831C42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A90CCEF1-0D7F-A990-DCAA-3B1F056EDCF7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83DAF973-8321-71A3-7FE1-2C44138B02F1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E0ABF83-8B60-6866-F885-2186595DE3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4CE8562A-8EBE-7476-822E-7617D83FB9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MARKER_ARCH_RATING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16" name="Hexagon 15">
            <a:extLst>
              <a:ext uri="{FF2B5EF4-FFF2-40B4-BE49-F238E27FC236}">
                <a16:creationId xmlns:a16="http://schemas.microsoft.com/office/drawing/2014/main" id="{ED0ADA17-128F-6A3D-D2F9-7B6FDC4001CE}"/>
              </a:ext>
            </a:extLst>
          </p:cNvPr>
          <p:cNvSpPr/>
          <p:nvPr/>
        </p:nvSpPr>
        <p:spPr>
          <a:xfrm>
            <a:off x="707921" y="3519047"/>
            <a:ext cx="1427142" cy="1299028"/>
          </a:xfrm>
          <a:prstGeom prst="hexagon">
            <a:avLst/>
          </a:prstGeom>
          <a:solidFill>
            <a:srgbClr val="DB4A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b="1" noProof="0" dirty="0">
                <a:solidFill>
                  <a:schemeClr val="bg1"/>
                </a:solidFill>
              </a:rPr>
              <a:t>Knowledge</a:t>
            </a:r>
          </a:p>
          <a:p>
            <a:pPr algn="ctr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COLOR_ARCH_RATING_KNOWLEDGE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5E3E2333-CF2E-CB39-4395-42A9EB95BD8E}"/>
              </a:ext>
            </a:extLst>
          </p:cNvPr>
          <p:cNvSpPr/>
          <p:nvPr/>
        </p:nvSpPr>
        <p:spPr>
          <a:xfrm>
            <a:off x="1862482" y="2869533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900" noProof="0" dirty="0">
                <a:solidFill>
                  <a:srgbClr val="1E354B"/>
                </a:solidFill>
              </a:rPr>
              <a:t>Communication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COLOR_ARCH_RATING_COMMUNICATION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7A06B6EF-AB98-D5CE-88A2-E77A3B25B548}"/>
              </a:ext>
            </a:extLst>
          </p:cNvPr>
          <p:cNvSpPr/>
          <p:nvPr/>
        </p:nvSpPr>
        <p:spPr>
          <a:xfrm>
            <a:off x="1862482" y="421297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Structure</a:t>
            </a:r>
          </a:p>
          <a:p>
            <a:pPr algn="ctr"/>
            <a:r>
              <a:rPr lang="en-US" sz="1200" noProof="0" dirty="0">
                <a:solidFill>
                  <a:srgbClr val="1E354B"/>
                </a:solidFill>
              </a:rPr>
              <a:t>COLOR_ARCH_RATING_STRUCTURE ★</a:t>
            </a:r>
            <a:endParaRPr lang="en-US" sz="1050" noProof="0" dirty="0">
              <a:solidFill>
                <a:srgbClr val="1E354B"/>
              </a:solidFill>
              <a:latin typeface="Sigsterren" pitchFamily="2" charset="0"/>
            </a:endParaRPr>
          </a:p>
        </p:txBody>
      </p:sp>
      <p:sp>
        <p:nvSpPr>
          <p:cNvPr id="29" name="Hexagon 28">
            <a:extLst>
              <a:ext uri="{FF2B5EF4-FFF2-40B4-BE49-F238E27FC236}">
                <a16:creationId xmlns:a16="http://schemas.microsoft.com/office/drawing/2014/main" id="{FDF57ABA-B6E0-13E7-A935-32521C040FF3}"/>
              </a:ext>
            </a:extLst>
          </p:cNvPr>
          <p:cNvSpPr/>
          <p:nvPr/>
        </p:nvSpPr>
        <p:spPr>
          <a:xfrm>
            <a:off x="707921" y="487919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Evolution</a:t>
            </a:r>
          </a:p>
          <a:p>
            <a:pPr algn="ctr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COLOR_ARCH_RATING_EVOLUTION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B1275457-DED3-801E-77EE-D83D1FE14B37}"/>
              </a:ext>
            </a:extLst>
          </p:cNvPr>
          <p:cNvSpPr/>
          <p:nvPr/>
        </p:nvSpPr>
        <p:spPr>
          <a:xfrm>
            <a:off x="3034403" y="351904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Data Access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COLOR_ARCH_RATING_DATA_ACCESS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1" name="Hexagon 30">
            <a:extLst>
              <a:ext uri="{FF2B5EF4-FFF2-40B4-BE49-F238E27FC236}">
                <a16:creationId xmlns:a16="http://schemas.microsoft.com/office/drawing/2014/main" id="{37FCEF89-149E-5604-15A3-6B3D61BA84D3}"/>
              </a:ext>
            </a:extLst>
          </p:cNvPr>
          <p:cNvSpPr/>
          <p:nvPr/>
        </p:nvSpPr>
        <p:spPr>
          <a:xfrm>
            <a:off x="3017043" y="487919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Technology Stack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COLOR_ARCH_RATING_TECHNOLOGY_STACK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0F924A-2375-295D-4FA1-E0595583258E}"/>
              </a:ext>
            </a:extLst>
          </p:cNvPr>
          <p:cNvSpPr txBox="1"/>
          <p:nvPr/>
        </p:nvSpPr>
        <p:spPr>
          <a:xfrm>
            <a:off x="4651513" y="3050651"/>
            <a:ext cx="32887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 err="1"/>
              <a:t>ARCH_WORST_METRIC_REMARK</a:t>
            </a:r>
            <a:endParaRPr lang="en-US" sz="1600" noProof="0" dirty="0"/>
          </a:p>
          <a:p>
            <a:br>
              <a:rPr lang="en-US" sz="1600" noProof="0" dirty="0"/>
            </a:br>
            <a:r>
              <a:rPr lang="en-US" sz="1600" noProof="0" dirty="0" err="1"/>
              <a:t>ARCH_BEST_METRIC_REMARK</a:t>
            </a: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1110005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691-EEF8-B68C-5A5F-30410C8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B6C70F8F-27F3-4CF3-FECD-439D34C675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3">
                  <a:alpha val="15000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5C27F98-D0CE-D5B9-C55D-97BBC5A5BF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3">
                  <a:alpha val="30871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9D0E3-9C9E-5F23-111D-96C14386A3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3000">
                      <a:srgbClr val="FFFFFF"/>
                    </a:gs>
                    <a:gs pos="9000">
                      <a:srgbClr val="88ADF5">
                        <a:lumMod val="60000"/>
                        <a:lumOff val="40000"/>
                      </a:srgbClr>
                    </a:gs>
                  </a:gsLst>
                  <a:lin ang="9600000" scaled="0"/>
                </a:gradFill>
                <a:effectLst>
                  <a:outerShdw blurRad="113571" dist="44478" dir="16200000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oir Pro Semi Bold" pitchFamily="2" charset="0"/>
                <a:ea typeface="+mn-ea"/>
                <a:cs typeface="+mn-cs"/>
              </a:rPr>
              <a:t>Open Source Health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470666D-AB22-177C-6C7A-D16FF6FB97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F5EE4F-BA36-EEBF-BA2F-29E886519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FAE676-1E79-98D7-3514-335462A799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42BD21-9B61-2246-BCB1-4BE5E1BEBE1C}" type="slidenum">
              <a:rPr kumimoji="0" lang="en-US" sz="900" b="0" i="0" u="none" strike="noStrike" kern="1200" cap="none" spc="1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9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3EF7774A-211E-088E-C9B6-6A86C44050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SIG assesses the use of Open Source and IP in five key areas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3FDDD-3858-C838-0AD0-612548D292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3">
              <a:alpha val="256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3F8D7-DBCC-1E52-6611-0BE5FFCA74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gradFill>
            <a:gsLst>
              <a:gs pos="23000">
                <a:schemeClr val="accent3">
                  <a:lumMod val="60000"/>
                  <a:lumOff val="40000"/>
                  <a:alpha val="33841"/>
                </a:schemeClr>
              </a:gs>
              <a:gs pos="61000">
                <a:schemeClr val="accent3">
                  <a:lumMod val="60000"/>
                  <a:lumOff val="40000"/>
                  <a:alpha val="1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3A583D-6BE0-A8F1-39D1-114B3FDEE8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23000">
                <a:schemeClr val="bg1"/>
              </a:gs>
              <a:gs pos="61000">
                <a:schemeClr val="accent3">
                  <a:lumMod val="40000"/>
                  <a:lumOff val="60000"/>
                  <a:alpha val="29000"/>
                </a:schemeClr>
              </a:gs>
            </a:gsLst>
            <a:lin ang="2700000" scaled="0"/>
          </a:gradFill>
          <a:ln w="12700">
            <a:solidFill>
              <a:schemeClr val="accent3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E6CC9E-A042-4D41-4D82-5012869DD8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13D36-4866-963A-B984-D0771F1F8F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1F8860-D3BD-ADF7-947C-66743FAA23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EE0137-8821-1C78-1860-272D52AD6A6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035F2BD-9708-0AD0-BD3B-D333B7293E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041D92-70F1-8E69-18DA-1A12061BC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D5037DEE-D3A7-543A-B3E5-6F22ECB1E9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148338" y="1411200"/>
            <a:ext cx="3650085" cy="4842000"/>
          </a:xfrm>
          <a:prstGeom prst="rect">
            <a:avLst/>
          </a:prstGeom>
        </p:spPr>
        <p:txBody>
          <a:bodyPr vert="horz" lIns="216000" tIns="0" rIns="9144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Open Source Health (OSH)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systems in scope are assessed for risks resulting from the use of open source software.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key sources for this check are configuration files of common dependency management systems (e.g.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Nuget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, Maven, and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NPM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This information is used to uncover risks related to known vulnerabilities, freshness, license usage, activity and management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AE202C74-D8C9-84F4-7CCF-66BFEFFF7D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18941193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3"/>
                </a:gs>
                <a:gs pos="18000">
                  <a:schemeClr val="accent3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86B057A7-8157-80A0-0AA7-9BDCD7BBB4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1">
                    <a:alpha val="90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F9DAC-CBE3-1B3F-9290-7F5D371A54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00476" y="1504866"/>
            <a:ext cx="403047" cy="345174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88B6BB2-C968-8F30-797C-D8BF8F77AD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0162" y="3488675"/>
            <a:ext cx="709276" cy="472846"/>
          </a:xfrm>
          <a:prstGeom prst="rect">
            <a:avLst/>
          </a:prstGeom>
          <a:effectLst/>
        </p:spPr>
      </p:pic>
      <p:sp>
        <p:nvSpPr>
          <p:cNvPr id="11" name="Oval 43">
            <a:extLst>
              <a:ext uri="{FF2B5EF4-FFF2-40B4-BE49-F238E27FC236}">
                <a16:creationId xmlns:a16="http://schemas.microsoft.com/office/drawing/2014/main" id="{72B4FB6F-6763-191D-367B-6D9493FDE9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14976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31" name="Boog 30">
            <a:extLst>
              <a:ext uri="{FF2B5EF4-FFF2-40B4-BE49-F238E27FC236}">
                <a16:creationId xmlns:a16="http://schemas.microsoft.com/office/drawing/2014/main" id="{2E76718F-E362-2675-C4E3-B79D88D026C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266711"/>
              <a:gd name="adj2" fmla="val 12416581"/>
            </a:avLst>
          </a:prstGeom>
          <a:ln w="12700">
            <a:gradFill>
              <a:gsLst>
                <a:gs pos="83000">
                  <a:schemeClr val="accent3"/>
                </a:gs>
                <a:gs pos="16000">
                  <a:schemeClr val="accent3"/>
                </a:gs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E8DECA9-24CF-753A-9E3D-ED81D741270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3951" y="2467036"/>
            <a:ext cx="272557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>
                  <a:outerShdw blurRad="229337" sx="102000" sy="102000" algn="ctr" rotWithShape="0">
                    <a:srgbClr val="1763FF">
                      <a:alpha val="20000"/>
                    </a:srgbClr>
                  </a:outerShdw>
                </a:effectLst>
                <a:uLnTx/>
                <a:uFillTx/>
                <a:latin typeface="☞NOIR PRO MEDIUM" pitchFamily="2" charset="0"/>
                <a:ea typeface="+mn-ea"/>
                <a:cs typeface="+mn-cs"/>
              </a:rPr>
              <a:t>Model sub-characteristics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20B4AB-9225-343C-3039-7D6D4668EB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2E5481D9-8C0E-A2F0-820F-EC973CFB7F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F992DA66-29D9-1466-1F41-2D88272912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B435B4C7-661B-FDF9-E7D5-7747088120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al 36">
            <a:extLst>
              <a:ext uri="{FF2B5EF4-FFF2-40B4-BE49-F238E27FC236}">
                <a16:creationId xmlns:a16="http://schemas.microsoft.com/office/drawing/2014/main" id="{FCBA4432-7F01-F84E-2492-55FE1ECE0C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10D3DB77-BAAE-D993-38A8-5175851EB1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54462" y="2957541"/>
            <a:ext cx="1573016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Vulnerabilities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7E259356-0193-A86A-4CEE-5A1813E292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0462" y="3456782"/>
            <a:ext cx="2390547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Dependency freshness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5F0DC96E-F7E0-F74E-E1F1-46E5AC30F4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97335" y="3956023"/>
            <a:ext cx="131332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License Use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793CE3A-19AA-C87F-F0EE-2C1B9143E4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15749" y="4455264"/>
            <a:ext cx="898151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Activity</a:t>
            </a:r>
          </a:p>
        </p:txBody>
      </p:sp>
      <p:sp>
        <p:nvSpPr>
          <p:cNvPr id="43" name="Tekstvak 42">
            <a:extLst>
              <a:ext uri="{FF2B5EF4-FFF2-40B4-BE49-F238E27FC236}">
                <a16:creationId xmlns:a16="http://schemas.microsoft.com/office/drawing/2014/main" id="{27320431-995A-9BDB-9C53-5D7D2B38AA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1116" y="4954505"/>
            <a:ext cx="1464012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Management</a:t>
            </a:r>
          </a:p>
        </p:txBody>
      </p:sp>
    </p:spTree>
    <p:extLst>
      <p:ext uri="{BB962C8B-B14F-4D97-AF65-F5344CB8AC3E}">
        <p14:creationId xmlns:p14="http://schemas.microsoft.com/office/powerpoint/2010/main" val="1150897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7657C-97FB-B1AA-E71A-0A0A45FB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ep 6">
            <a:extLst>
              <a:ext uri="{FF2B5EF4-FFF2-40B4-BE49-F238E27FC236}">
                <a16:creationId xmlns:a16="http://schemas.microsoft.com/office/drawing/2014/main" id="{4CE14A0A-B8B6-7D0D-3564-33C85D8F48B0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14" name="Rechthoek 25">
              <a:extLst>
                <a:ext uri="{FF2B5EF4-FFF2-40B4-BE49-F238E27FC236}">
                  <a16:creationId xmlns:a16="http://schemas.microsoft.com/office/drawing/2014/main" id="{6024112E-385A-46B2-9146-3B430094ECEE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6" name="Afgeronde rechthoek 36">
              <a:extLst>
                <a:ext uri="{FF2B5EF4-FFF2-40B4-BE49-F238E27FC236}">
                  <a16:creationId xmlns:a16="http://schemas.microsoft.com/office/drawing/2014/main" id="{D5AF62F9-2731-16DA-3D50-41C5C6913927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39">
              <a:extLst>
                <a:ext uri="{FF2B5EF4-FFF2-40B4-BE49-F238E27FC236}">
                  <a16:creationId xmlns:a16="http://schemas.microsoft.com/office/drawing/2014/main" id="{5F9B5B7F-C4FB-ED20-5174-E893C3E53456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25" name="Afgeronde rechthoek 2">
              <a:extLst>
                <a:ext uri="{FF2B5EF4-FFF2-40B4-BE49-F238E27FC236}">
                  <a16:creationId xmlns:a16="http://schemas.microsoft.com/office/drawing/2014/main" id="{4BA3C8BC-C5A7-3237-B1EA-EEA17EC9119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29" name="Rechte verbindingslijn 8">
              <a:extLst>
                <a:ext uri="{FF2B5EF4-FFF2-40B4-BE49-F238E27FC236}">
                  <a16:creationId xmlns:a16="http://schemas.microsoft.com/office/drawing/2014/main" id="{A3239A47-7688-AC30-090B-A22E630FC15C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Rechte verbindingslijn 9">
              <a:extLst>
                <a:ext uri="{FF2B5EF4-FFF2-40B4-BE49-F238E27FC236}">
                  <a16:creationId xmlns:a16="http://schemas.microsoft.com/office/drawing/2014/main" id="{AB03C8D2-A77E-F86D-699F-61EEAF3A6F6D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Rechte verbindingslijn 10">
              <a:extLst>
                <a:ext uri="{FF2B5EF4-FFF2-40B4-BE49-F238E27FC236}">
                  <a16:creationId xmlns:a16="http://schemas.microsoft.com/office/drawing/2014/main" id="{A14CB0E1-CAAE-D4CC-52AE-D4F8F65D414D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Rechte verbindingslijn 12">
              <a:extLst>
                <a:ext uri="{FF2B5EF4-FFF2-40B4-BE49-F238E27FC236}">
                  <a16:creationId xmlns:a16="http://schemas.microsoft.com/office/drawing/2014/main" id="{0A8A6778-B9CF-3E87-C97E-26A24A41A976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hthoek 14">
              <a:extLst>
                <a:ext uri="{FF2B5EF4-FFF2-40B4-BE49-F238E27FC236}">
                  <a16:creationId xmlns:a16="http://schemas.microsoft.com/office/drawing/2014/main" id="{1A9FF113-390D-B765-CB3B-9A27EC9E0043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41" name="Afgeronde rechthoek 18">
              <a:extLst>
                <a:ext uri="{FF2B5EF4-FFF2-40B4-BE49-F238E27FC236}">
                  <a16:creationId xmlns:a16="http://schemas.microsoft.com/office/drawing/2014/main" id="{60755CF8-D102-5653-00B8-BE78247EA5F1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42" name="Afgeronde rechthoek 19">
              <a:extLst>
                <a:ext uri="{FF2B5EF4-FFF2-40B4-BE49-F238E27FC236}">
                  <a16:creationId xmlns:a16="http://schemas.microsoft.com/office/drawing/2014/main" id="{DEE64A5D-4E01-5524-F799-1F6F1ECA090D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43" name="Afgeronde rechthoek 20">
              <a:extLst>
                <a:ext uri="{FF2B5EF4-FFF2-40B4-BE49-F238E27FC236}">
                  <a16:creationId xmlns:a16="http://schemas.microsoft.com/office/drawing/2014/main" id="{BEBD6C4E-1E55-C06A-BBF3-8958FF7D7C43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44" name="Afgeronde rechthoek 21">
              <a:extLst>
                <a:ext uri="{FF2B5EF4-FFF2-40B4-BE49-F238E27FC236}">
                  <a16:creationId xmlns:a16="http://schemas.microsoft.com/office/drawing/2014/main" id="{51CB4841-8577-D508-2FD2-5FE829BE9E20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45" name="Afgeronde rechthoek 22">
              <a:extLst>
                <a:ext uri="{FF2B5EF4-FFF2-40B4-BE49-F238E27FC236}">
                  <a16:creationId xmlns:a16="http://schemas.microsoft.com/office/drawing/2014/main" id="{424AEB5C-E6BC-5C31-CBB0-CB678E021394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46" name="Afgeronde rechthoek 23">
              <a:extLst>
                <a:ext uri="{FF2B5EF4-FFF2-40B4-BE49-F238E27FC236}">
                  <a16:creationId xmlns:a16="http://schemas.microsoft.com/office/drawing/2014/main" id="{B28E507D-44A0-F88A-01F1-566B0FAD0FC8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48" name="Rectangle 29">
              <a:extLst>
                <a:ext uri="{FF2B5EF4-FFF2-40B4-BE49-F238E27FC236}">
                  <a16:creationId xmlns:a16="http://schemas.microsoft.com/office/drawing/2014/main" id="{5AA3918E-C243-8940-15ED-6DCB20D268B1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9" name="Rectangle 34">
              <a:extLst>
                <a:ext uri="{FF2B5EF4-FFF2-40B4-BE49-F238E27FC236}">
                  <a16:creationId xmlns:a16="http://schemas.microsoft.com/office/drawing/2014/main" id="{2B7654F3-F274-18DB-3333-74D092A89FB0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1" name="Rectangle 35">
              <a:extLst>
                <a:ext uri="{FF2B5EF4-FFF2-40B4-BE49-F238E27FC236}">
                  <a16:creationId xmlns:a16="http://schemas.microsoft.com/office/drawing/2014/main" id="{ED200687-7BC1-C02E-D320-49D6FB896F25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52" name="Rectangle 36">
              <a:extLst>
                <a:ext uri="{FF2B5EF4-FFF2-40B4-BE49-F238E27FC236}">
                  <a16:creationId xmlns:a16="http://schemas.microsoft.com/office/drawing/2014/main" id="{50A96A4F-95C3-61B9-5011-65B391A77225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5" name="Rectangle 37">
              <a:extLst>
                <a:ext uri="{FF2B5EF4-FFF2-40B4-BE49-F238E27FC236}">
                  <a16:creationId xmlns:a16="http://schemas.microsoft.com/office/drawing/2014/main" id="{367A8A67-3457-4FA2-A363-B3F14A43072E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56" name="Rechte verbindingslijn 77">
              <a:extLst>
                <a:ext uri="{FF2B5EF4-FFF2-40B4-BE49-F238E27FC236}">
                  <a16:creationId xmlns:a16="http://schemas.microsoft.com/office/drawing/2014/main" id="{BA782917-279D-CB2D-D97E-3910DF4196B4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Rechte verbindingslijn 79">
              <a:extLst>
                <a:ext uri="{FF2B5EF4-FFF2-40B4-BE49-F238E27FC236}">
                  <a16:creationId xmlns:a16="http://schemas.microsoft.com/office/drawing/2014/main" id="{2667CBF8-AB62-D99D-BA51-142C08F5CF79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E2BAF064-7635-1B45-EA75-1067691D05F4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59" name="Rechte verbindingslijn 27">
              <a:extLst>
                <a:ext uri="{FF2B5EF4-FFF2-40B4-BE49-F238E27FC236}">
                  <a16:creationId xmlns:a16="http://schemas.microsoft.com/office/drawing/2014/main" id="{2DD03688-C2CE-72C7-2E9D-3FF562749A55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7C1EB5F-382D-9F3C-AD26-C3E7BE7E26C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AC69A2C-A802-2564-B045-52FACE4578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92F6EBB4-2CFF-E11E-C500-7D4D087C5F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OSH_VULN_SUMMARY</a:t>
            </a:r>
            <a:endParaRPr lang="en-US" sz="1400" noProof="0" dirty="0"/>
          </a:p>
          <a:p>
            <a:r>
              <a:rPr lang="en-US" sz="1400" noProof="0" dirty="0" err="1"/>
              <a:t>OSH_LEGAL_SUMMARY</a:t>
            </a:r>
            <a:endParaRPr lang="en-US" sz="1400" noProof="0" dirty="0"/>
          </a:p>
          <a:p>
            <a:r>
              <a:rPr lang="en-US" sz="1400" noProof="0" dirty="0" err="1"/>
              <a:t>OSH_FRESHNESS_SUMMARY</a:t>
            </a:r>
            <a:endParaRPr lang="en-US" sz="1400" noProof="0" dirty="0"/>
          </a:p>
          <a:p>
            <a:r>
              <a:rPr lang="en-US" sz="1400" noProof="0" dirty="0" err="1"/>
              <a:t>OSH_MANAGEMENT_SUMMARY</a:t>
            </a:r>
            <a:endParaRPr lang="en-US" sz="1400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F31452C-B3D9-1038-BB21-62811C4725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9F0A056-8E36-38AE-2AC7-E82BB91DEF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C627CDF4-44FD-FE7F-BEB6-F93F16532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rates </a:t>
            </a:r>
            <a:r>
              <a:rPr lang="en-US" noProof="0" dirty="0" err="1"/>
              <a:t>OSH_RELATIVE</a:t>
            </a:r>
            <a:r>
              <a:rPr lang="en-US" noProof="0" dirty="0"/>
              <a:t> in Open-Source health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071C9F9A-A1FA-AA10-D877-152A912912C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1679328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0EE68FF8-4CD1-81B5-DCFE-9E07D30C14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DA65BE2A-A98A-8EBA-0757-212F21D72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106464"/>
              </p:ext>
            </p:extLst>
          </p:nvPr>
        </p:nvGraphicFramePr>
        <p:xfrm>
          <a:off x="8571496" y="3035953"/>
          <a:ext cx="3116504" cy="9183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Vulnerability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License use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Management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Activity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D0BD417E-8466-1687-21C5-BCB913951ADD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8BF66FC-97CC-BD90-B24F-F210E66AFE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Open source health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A5AE3144-E72D-C395-031F-513B7A7FDF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OSH_DATE_DAY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DF6022E-F95A-14F7-D500-BA24EAC5E025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C2EB2A0-888F-966A-64D7-A852BEDF2006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5447EB1B-609A-3757-DFA1-735B9D7E3B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0C3D3AB2-F054-4EFB-3435-62E5C0FA4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MARKER_OSH_RATING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4340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66BB4E1B-985F-9EF3-5AC6-C768D2CB71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21846"/>
            <a:ext cx="5938800" cy="4896154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OSH_VULN_SUMMARY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OSH_LEGAL_SUMMARY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OSH_FRESHNESS_SUMMARY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OSH_MANAGEMENT_SUMMARY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5582F2-40D0-9238-3CA5-366CA9A6B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sz="1400" noProof="0" dirty="0" err="1"/>
              <a:t>OSH_TOTAL_DEPS</a:t>
            </a:r>
            <a:endParaRPr lang="en-US" sz="1400" noProof="0" dirty="0"/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6B434B96-A0F4-D550-9948-4935A3A3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7500" lnSpcReduction="20000"/>
          </a:bodyPr>
          <a:lstStyle/>
          <a:p>
            <a:endParaRPr lang="en-US" noProof="0" dirty="0"/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F2A786C1-12AB-2815-EA60-7CF5A856C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77500" lnSpcReduction="20000"/>
          </a:bodyPr>
          <a:lstStyle/>
          <a:p>
            <a:endParaRPr lang="en-US" noProof="0" dirty="0"/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1815B1ED-FC37-06DC-642E-E962FAF8C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77500" lnSpcReduction="20000"/>
          </a:bodyPr>
          <a:lstStyle/>
          <a:p>
            <a:endParaRPr lang="en-US" noProof="0" dirty="0"/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F9105C04-203F-52A9-B023-8BCB23ABA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77500" lnSpcReduction="20000"/>
          </a:bodyPr>
          <a:lstStyle/>
          <a:p>
            <a:endParaRPr lang="en-US" noProof="0" dirty="0"/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CCA1B4DB-A80E-D27A-4D97-18B15B411B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77500" lnSpcReduction="20000"/>
          </a:bodyPr>
          <a:lstStyle/>
          <a:p>
            <a:endParaRPr lang="en-US" noProof="0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F49E5F7-1212-C10F-AF03-7BCD250B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OSH_TOTAL_VULN</a:t>
            </a:r>
            <a:r>
              <a:rPr lang="en-US" noProof="0" dirty="0"/>
              <a:t> vulnerable 3rd party open-source dependencies were identified</a:t>
            </a:r>
          </a:p>
        </p:txBody>
      </p:sp>
      <p:sp>
        <p:nvSpPr>
          <p:cNvPr id="10" name="Tijdelijke aanduiding voor voettekst 9">
            <a:extLst>
              <a:ext uri="{FF2B5EF4-FFF2-40B4-BE49-F238E27FC236}">
                <a16:creationId xmlns:a16="http://schemas.microsoft.com/office/drawing/2014/main" id="{85CC0D40-EB66-D793-CEA6-7AF5F045B2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8CFF3985-4FCE-83E0-0FFC-607EBC9734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A846D4E-DBA5-CFC4-BD38-6CC5C41F55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graphicFrame>
        <p:nvGraphicFramePr>
          <p:cNvPr id="2" name="OSH_VULN_LEGAL_GRAPH">
            <a:extLst>
              <a:ext uri="{FF2B5EF4-FFF2-40B4-BE49-F238E27FC236}">
                <a16:creationId xmlns:a16="http://schemas.microsoft.com/office/drawing/2014/main" id="{663304D0-0E7B-1454-8672-C6C89EF3BF5C}"/>
              </a:ext>
            </a:extLst>
          </p:cNvPr>
          <p:cNvGraphicFramePr>
            <a:graphicFrameLocks/>
          </p:cNvGraphicFramePr>
          <p:nvPr/>
        </p:nvGraphicFramePr>
        <p:xfrm>
          <a:off x="2993512" y="2846744"/>
          <a:ext cx="3102882" cy="1124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OSH_OTHER_RISKS_GRAPH">
            <a:extLst>
              <a:ext uri="{FF2B5EF4-FFF2-40B4-BE49-F238E27FC236}">
                <a16:creationId xmlns:a16="http://schemas.microsoft.com/office/drawing/2014/main" id="{F710C4F3-29D3-2E11-A1BF-518BE8D055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5695836"/>
              </p:ext>
            </p:extLst>
          </p:nvPr>
        </p:nvGraphicFramePr>
        <p:xfrm>
          <a:off x="2995636" y="3732550"/>
          <a:ext cx="3100364" cy="258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6205539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11203</TotalTime>
  <Words>1837</Words>
  <Application>Microsoft Macintosh PowerPoint</Application>
  <PresentationFormat>Widescreen</PresentationFormat>
  <Paragraphs>387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36" baseType="lpstr">
      <vt:lpstr>.AppleSystemUIFont</vt:lpstr>
      <vt:lpstr>☞NOIR PRO MEDIUM</vt:lpstr>
      <vt:lpstr>Arial</vt:lpstr>
      <vt:lpstr>Azeret Mono</vt:lpstr>
      <vt:lpstr>Azeret Mono Medium</vt:lpstr>
      <vt:lpstr>Calibri</vt:lpstr>
      <vt:lpstr>Calibri Bold</vt:lpstr>
      <vt:lpstr>Calibri Regular</vt:lpstr>
      <vt:lpstr>Google Sans</vt:lpstr>
      <vt:lpstr>Helvetica Neue Bold</vt:lpstr>
      <vt:lpstr>Noir Pro</vt:lpstr>
      <vt:lpstr>Noir Pro Medium</vt:lpstr>
      <vt:lpstr>Noir Pro Semi Bold</vt:lpstr>
      <vt:lpstr>Sigsterren</vt:lpstr>
      <vt:lpstr>TheSansMono M5</vt:lpstr>
      <vt:lpstr>Wingdings</vt:lpstr>
      <vt:lpstr>Light theme (default)</vt:lpstr>
      <vt:lpstr>Dark theme</vt:lpstr>
      <vt:lpstr>PowerPoint Presentation</vt:lpstr>
      <vt:lpstr>Outline of topics</vt:lpstr>
      <vt:lpstr>System "SYSTEM_NAME" technical quality: management summary</vt:lpstr>
      <vt:lpstr>Outline of topics</vt:lpstr>
      <vt:lpstr>Explanation: The Cost Estimation model combines Sigrid analysis results with SIG benchmarks</vt:lpstr>
      <vt:lpstr>SYSTEM_NAME technical debt is RENOVATION_EFFORT_PY person years (RENOVATION_EFFORT_PERCENTAGE% of its volume)</vt:lpstr>
      <vt:lpstr>Explanation: The ISO 25010 standard for Maintainability has 5 sub-characteristics</vt:lpstr>
      <vt:lpstr>The SIG/TÜViT model maps the sub-characteristics to the system properties</vt:lpstr>
      <vt:lpstr>SYSTEM_NAME is a MAINT_SIZE system of SYSTEM_PY PY which scores MAINT_RATING for maintainability </vt:lpstr>
      <vt:lpstr>SYSTEM_NAME scores MAINT_INDICATION for maintainability</vt:lpstr>
      <vt:lpstr>The system is VOLUME_RELATIVE in size and is built primarily in TECH_1_NAME</vt:lpstr>
      <vt:lpstr>SYSTEM_NAME has a TEST_CODE_RELATIVE test/code ratio</vt:lpstr>
      <vt:lpstr>Explanation: The Architecture Quality model has 5 sub-characteristics</vt:lpstr>
      <vt:lpstr>SIG’s Architecture Model maps the sub-characteristics to 9 system properties</vt:lpstr>
      <vt:lpstr>SYSTEM_NAME scores ARCH_AT_BELOW market average (ARCH_RATING ★) for Architecture Quality</vt:lpstr>
      <vt:lpstr>SIG assesses the use of Open Source and IP in five key areas</vt:lpstr>
      <vt:lpstr>SYSTEM_NAME rates OSH_RELATIVE in Open-Source health</vt:lpstr>
      <vt:lpstr>OSH_TOTAL_VULN vulnerable 3rd party open-source dependencies were identified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Floris van Leeuwen</cp:lastModifiedBy>
  <cp:revision>183</cp:revision>
  <cp:lastPrinted>2020-04-20T09:37:43Z</cp:lastPrinted>
  <dcterms:created xsi:type="dcterms:W3CDTF">2025-10-22T11:22:13Z</dcterms:created>
  <dcterms:modified xsi:type="dcterms:W3CDTF">2026-03-12T16:02:57Z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