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31.svg" ContentType="image/svg+xml"/>
  <Override PartName="/ppt/media/image33.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4"/>
  </p:notesMasterIdLst>
  <p:handoutMasterIdLst>
    <p:handoutMasterId r:id="rId25"/>
  </p:handoutMasterIdLst>
  <p:sldIdLst>
    <p:sldId id="1973" r:id="rId6"/>
    <p:sldId id="2010" r:id="rId7"/>
    <p:sldId id="11394" r:id="rId8"/>
    <p:sldId id="2011" r:id="rId9"/>
    <p:sldId id="11482" r:id="rId10"/>
    <p:sldId id="11330" r:id="rId11"/>
    <p:sldId id="1988" r:id="rId12"/>
    <p:sldId id="2016" r:id="rId13"/>
    <p:sldId id="1824" r:id="rId14"/>
    <p:sldId id="11430" r:id="rId15"/>
    <p:sldId id="11483" r:id="rId16"/>
    <p:sldId id="11484" r:id="rId17"/>
    <p:sldId id="11481" r:id="rId18"/>
    <p:sldId id="11485" r:id="rId19"/>
    <p:sldId id="11486" r:id="rId20"/>
    <p:sldId id="2184" r:id="rId21"/>
    <p:sldId id="11487" r:id="rId22"/>
    <p:sldId id="1148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5"/>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288"/>
    <p:restoredTop sz="96763"/>
  </p:normalViewPr>
  <p:slideViewPr>
    <p:cSldViewPr snapToGrid="0" snapToObjects="1" showGuides="1">
      <p:cViewPr varScale="1">
        <p:scale>
          <a:sx n="227" d="100"/>
          <a:sy n="227" d="100"/>
        </p:scale>
        <p:origin x="1192" y="-746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notesMaster" Target="notesMasters/notesMaster1.xml"/><Relationship Id="rId25" Type="http://schemas.openxmlformats.org/officeDocument/2006/relationships/handoutMaster" Target="handoutMasters/handout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Twitter Algorithm</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c:v>
                </c:pt>
              </c:numCache>
            </c:numRef>
          </c:xVal>
          <c:yVal>
            <c:numRef>
              <c:f>Sheet1!$B$2:$B$2</c:f>
              <c:numCache>
                <c:formatCode>General</c:formatCode>
                <c:ptCount val="1"/>
                <c:pt idx="0">
                  <c:v>3.1085510232189746</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0.030990466421789493</c:v>
                </c:pt>
                <c:pt idx="3">
                  <c:v>0.028508116214593864</c:v>
                </c:pt>
                <c:pt idx="4">
                  <c:v>0.013843515502198148</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77F4-8A4B-8FCE-EB828520119B}"/>
              </c:ext>
            </c:extLst>
          </c:dPt>
          <c:dPt>
            <c:idx val="4"/>
            <c:spPr>
              <a:solidFill>
                <a:srgbClr val="E06C4F"/>
              </a:solidFill>
            </c:spPr>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0.030990466421789493</c:v>
                </c:pt>
                <c:pt idx="3">
                  <c:v>0.028508116214593864</c:v>
                </c:pt>
                <c:pt idx="4">
                  <c:v>0.013843515502198148</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Freshness risk</c:v>
                </c:pt>
              </c:strCache>
            </c:strRef>
          </c:cat>
          <c:val>
            <c:numRef>
              <c:f>Sheet1!$B$2:$B$3</c:f>
              <c:numCache>
                <c:formatCode>General</c:formatCode>
                <c:ptCount val="2"/>
                <c:pt idx="0">
                  <c:v>10</c:v>
                </c:pt>
                <c:pt idx="1">
                  <c:v>92</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Freshness risk</c:v>
                </c:pt>
              </c:strCache>
            </c:strRef>
          </c:cat>
          <c:val>
            <c:numRef>
              <c:f>Sheet1!$C$2:$C$3</c:f>
              <c:numCache>
                <c:formatCode>General</c:formatCode>
                <c:ptCount val="2"/>
                <c:pt idx="0">
                  <c:v>6</c:v>
                </c:pt>
                <c:pt idx="1">
                  <c:v>21</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Freshness risk</c:v>
                </c:pt>
              </c:strCache>
            </c:strRef>
          </c:cat>
          <c:val>
            <c:numRef>
              <c:f>Sheet1!$D$2:$D$3</c:f>
              <c:numCache>
                <c:formatCode>General</c:formatCode>
                <c:ptCount val="2"/>
                <c:pt idx="0">
                  <c:v>5</c:v>
                </c:pt>
                <c:pt idx="1">
                  <c:v>25</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Freshness risk</c:v>
                </c:pt>
              </c:strCache>
            </c:strRef>
          </c:cat>
          <c:val>
            <c:numRef>
              <c:f>Sheet1!$E$2:$E$3</c:f>
              <c:numCache>
                <c:formatCode>General</c:formatCode>
                <c:ptCount val="2"/>
                <c:pt idx="0">
                  <c:v>5</c:v>
                </c:pt>
                <c:pt idx="1">
                  <c:v>2</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2</c:v>
                </c:pt>
                <c:pt idx="2">
                  <c:v>3</c:v>
                </c:pt>
                <c:pt idx="3">
                  <c:v>1</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40</c:v>
                </c:pt>
                <c:pt idx="1">
                  <c:v>79</c:v>
                </c:pt>
                <c:pt idx="2">
                  <c:v>6</c:v>
                </c:pt>
                <c:pt idx="3">
                  <c:v>1</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18</c:v>
                </c:pt>
                <c:pt idx="1">
                  <c:v>0</c:v>
                </c:pt>
                <c:pt idx="2">
                  <c:v>0</c:v>
                </c:pt>
                <c:pt idx="3">
                  <c:v>21</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1</c:v>
                </c:pt>
                <c:pt idx="1">
                  <c:v>2</c:v>
                </c:pt>
                <c:pt idx="2">
                  <c:v>3</c:v>
                </c:pt>
                <c:pt idx="3">
                  <c:v>4</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15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2/23/26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2/23/26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14</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7.png"/><Relationship Id="rId7" Type="http://schemas.openxmlformats.org/officeDocument/2006/relationships/image" Target="../media/image8.svg"/><Relationship Id="rId8" Type="http://schemas.openxmlformats.org/officeDocument/2006/relationships/image" Target="../media/image9.png"/><Relationship Id="rId9" Type="http://schemas.openxmlformats.org/officeDocument/2006/relationships/image" Target="../media/image10.svg"/><Relationship Id="rId10" Type="http://schemas.openxmlformats.org/officeDocument/2006/relationships/image" Target="../media/image11.png"/><Relationship Id="rId11" Type="http://schemas.openxmlformats.org/officeDocument/2006/relationships/image" Target="../media/image12.svg"/><Relationship Id="rId12" Type="http://schemas.openxmlformats.org/officeDocument/2006/relationships/image" Target="../media/image13.png"/><Relationship Id="rId13" Type="http://schemas.openxmlformats.org/officeDocument/2006/relationships/image" Target="../media/image14.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r:embed="rId2">
            <a:alphaModFix amt="80000"/>
            <a:lum bright="-100000"/>
            <a:extLst>
              <a:ext uri="{96DAC541-7B7A-43D3-8B79-37D633B846F1}">
                <asvg:svgBlip xmlns:asvg="http://schemas.microsoft.com/office/drawing/2016/SVG/main" r:embed="rId3"/>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r:embed="rId4">
            <a:alphaModFix amt="80000"/>
            <a:lum bright="-100000"/>
            <a:extLst>
              <a:ext uri="{96DAC541-7B7A-43D3-8B79-37D633B846F1}">
                <asvg:svgBlip xmlns:asvg="http://schemas.microsoft.com/office/drawing/2016/SVG/main" r:embed="rId5"/>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r:embed="rId6">
            <a:alphaModFix amt="80000"/>
            <a:lum bright="-100000"/>
            <a:extLst>
              <a:ext uri="{96DAC541-7B7A-43D3-8B79-37D633B846F1}">
                <asvg:svgBlip xmlns:asvg="http://schemas.microsoft.com/office/drawing/2016/SVG/main" r:embed="rId7"/>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r:embed="rId8">
            <a:alphaModFix amt="80000"/>
            <a:lum bright="-100000"/>
            <a:extLst>
              <a:ext uri="{96DAC541-7B7A-43D3-8B79-37D633B846F1}">
                <asvg:svgBlip xmlns:asvg="http://schemas.microsoft.com/office/drawing/2016/SVG/main" r:embed="rId9"/>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r:embed="rId12">
            <a:alphaModFix amt="80000"/>
            <a:lum bright="-100000"/>
            <a:extLst>
              <a:ext uri="{96DAC541-7B7A-43D3-8B79-37D633B846F1}">
                <asvg:svgBlip xmlns:asvg="http://schemas.microsoft.com/office/drawing/2016/SVG/main" r:embed="rId13"/>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2.xml"/><Relationship Id="rId3" Type="http://schemas.openxmlformats.org/officeDocument/2006/relationships/image" Target="../media/image15.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7.svg"/><Relationship Id="rId4" Type="http://schemas.openxmlformats.org/officeDocument/2006/relationships/image" Target="../media/image18.png"/><Relationship Id="rId5" Type="http://schemas.openxmlformats.org/officeDocument/2006/relationships/image" Target="../media/image19.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0.png"/><Relationship Id="rId5" Type="http://schemas.openxmlformats.org/officeDocument/2006/relationships/image" Target="../media/image21.svg"/><Relationship Id="rId6" Type="http://schemas.openxmlformats.org/officeDocument/2006/relationships/image" Target="../media/image22.png"/><Relationship Id="rId7" Type="http://schemas.openxmlformats.org/officeDocument/2006/relationships/image" Target="../media/image2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emf"/><Relationship Id="rId3" Type="http://schemas.openxmlformats.org/officeDocument/2006/relationships/image" Target="../media/image18.png"/><Relationship Id="rId4" Type="http://schemas.openxmlformats.org/officeDocument/2006/relationships/image" Target="../media/image25.svg"/><Relationship Id="rId5" Type="http://schemas.openxmlformats.org/officeDocument/2006/relationships/image" Target="../media/image26.png"/><Relationship Id="rId6" Type="http://schemas.openxmlformats.org/officeDocument/2006/relationships/image" Target="../media/image27.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8.tiff"/><Relationship Id="rId4" Type="http://schemas.openxmlformats.org/officeDocument/2006/relationships/chart" Target="../charts/chart1.xml"/><Relationship Id="rId5" Type="http://schemas.openxmlformats.org/officeDocument/2006/relationships/image" Target="../media/image29.e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image" Target="../media/image31.svg"/><Relationship Id="rId4" Type="http://schemas.openxmlformats.org/officeDocument/2006/relationships/image" Target="../media/image32.png"/><Relationship Id="rId5" Type="http://schemas.openxmlformats.org/officeDocument/2006/relationships/image" Target="../media/image3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35.png"/><Relationship Id="rId5" Type="http://schemas.openxmlformats.org/officeDocument/2006/relationships/image" Target="../media/image3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8.png"/><Relationship Id="rId4" Type="http://schemas.openxmlformats.org/officeDocument/2006/relationships/image" Target="../media/image25.svg"/><Relationship Id="rId5" Type="http://schemas.openxmlformats.org/officeDocument/2006/relationships/image" Target="../media/image37.png"/><Relationship Id="rId6" Type="http://schemas.openxmlformats.org/officeDocument/2006/relationships/image" Target="../media/image38.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image" Target="../media/image31.svg"/><Relationship Id="rId4" Type="http://schemas.openxmlformats.org/officeDocument/2006/relationships/image" Target="../media/image32.png"/><Relationship Id="rId5" Type="http://schemas.openxmlformats.org/officeDocument/2006/relationships/image" Target="../media/image3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image" Target="../media/image18.png"/><Relationship Id="rId5" Type="http://schemas.openxmlformats.org/officeDocument/2006/relationships/image" Target="../media/image19.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image" Target="../media/image31.svg"/><Relationship Id="rId4" Type="http://schemas.openxmlformats.org/officeDocument/2006/relationships/image" Target="../media/image32.png"/><Relationship Id="rId5" Type="http://schemas.openxmlformats.org/officeDocument/2006/relationships/image" Target="../media/image33.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Opendemo – Twitter Algorithm</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03 April 2023</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Twitter Algorithm</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3</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3.1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units with large interfaces</a:t>
            </a:r>
            <a:endParaRPr lang="en-US" sz="1400" noProof="0" dirty="0">
              <a:ea typeface="+mn-lt"/>
              <a:cs typeface="+mn-lt"/>
            </a:endParaRP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39.7 PY (292,692 LOC) large. The system is built using mostly modern technologies, and has no or minimal technologies that should be phased out. Its main technology is Scala.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0%. This indicates the system does not have an automated testing suite in place. This decreases developer velocity and can increase bugs in production. This can be partially compensated by increased manual testing.</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3.9 stars (★★★★☆)</a:t>
            </a:r>
            <a:r>
              <a:rPr lang="en-US" sz="1400" b="1" noProof="0" dirty="0"/>
              <a:t> </a:t>
            </a:r>
            <a:r>
              <a:rPr lang="en-US" sz="1400" noProof="0" dirty="0"/>
              <a:t>on the SIG Architecture Quality model, above the market average. </a:t>
            </a:r>
            <a:endParaRPr lang="en-US" sz="1400" noProof="0" dirty="0"/>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1 medium or higher risk vulnerable libraries and 1 licenses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CC222B10-C35A-E1BF-3C6F-DEEE02500266}"/>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4</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3314298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Tree>
    <p:extLst>
      <p:ext uri="{BB962C8B-B14F-4D97-AF65-F5344CB8AC3E}">
        <p14:creationId xmlns:p14="http://schemas.microsoft.com/office/powerpoint/2010/main" val="837537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39.7 person years of theoretical rebuild volume.</a:t>
            </a:r>
          </a:p>
          <a:p>
            <a:pPr marL="285750" indent="-285750">
              <a:buFont typeface="Arial" panose="020B0604020202020204" pitchFamily="34" charset="0"/>
              <a:buChar char="•"/>
            </a:pPr>
            <a:r>
              <a:rPr lang="en-US" noProof="0" dirty="0"/>
              <a:t>The average maintainability level is at.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6.0 FTE of development effort is recommended for maintenance alone.</a:t>
            </a:r>
          </a:p>
          <a:p>
            <a:pPr marL="285750" indent="-285750">
              <a:buFont typeface="Arial" panose="020B0604020202020204" pitchFamily="34" charset="0"/>
              <a:buChar char="•"/>
            </a:pPr>
            <a:r>
              <a:rPr lang="en-US" noProof="0" dirty="0"/>
              <a:t>Approximately 39.7 person years is required to renovate the system towards the recommended 4-star level</a:t>
            </a:r>
          </a:p>
        </p:txBody>
      </p:sp>
      <p:sp>
        <p:nvSpPr>
          <p:cNvPr id="2" name="Footer Placeholder 3">
            <a:extLst>
              <a:ext uri="{FF2B5EF4-FFF2-40B4-BE49-F238E27FC236}">
                <a16:creationId xmlns:a16="http://schemas.microsoft.com/office/drawing/2014/main" id="{6403D236-46DC-F53D-82C2-4D20A0AF68AC}"/>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6</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Twitter Algorithm technical debt is 39.7 person years (100%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35480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Twitter Algorithm</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39.7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39.7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6.0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6569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06764" y="1826081"/>
            <a:ext cx="393006" cy="333158"/>
          </a:xfrm>
          <a:prstGeom prst="rect">
            <a:avLst/>
          </a:prstGeom>
        </p:spPr>
      </p:pic>
    </p:spTree>
    <p:extLst>
      <p:ext uri="{BB962C8B-B14F-4D97-AF65-F5344CB8AC3E}">
        <p14:creationId xmlns:p14="http://schemas.microsoft.com/office/powerpoint/2010/main" val="4189987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2807936" y="2780488"/>
            <a:ext cx="2635602" cy="339865"/>
            <a:chOff x="2807936" y="2830273"/>
            <a:chExt cx="2635602"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2906989" y="2918313"/>
              <a:ext cx="2445855" cy="157941"/>
              <a:chOff x="3149473" y="2702807"/>
              <a:chExt cx="2445855" cy="157941"/>
            </a:xfrm>
          </p:grpSpPr>
          <p:sp>
            <p:nvSpPr>
              <p:cNvPr id="10" name="Ovaal 9">
                <a:extLst>
                  <a:ext uri="{FF2B5EF4-FFF2-40B4-BE49-F238E27FC236}">
                    <a16:creationId xmlns:a16="http://schemas.microsoft.com/office/drawing/2014/main" id="{EEC047B5-4675-87BB-C77D-525A9C15C89C}"/>
                  </a:ext>
                </a:extLst>
              </p:cNvPr>
              <p:cNvSpPr/>
              <p:nvPr/>
            </p:nvSpPr>
            <p:spPr>
              <a:xfrm>
                <a:off x="3149473"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2807936" y="2830273"/>
              <a:ext cx="2635602"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2807935" y="3717908"/>
            <a:ext cx="8456177" cy="339865"/>
            <a:chOff x="2807935" y="3744528"/>
            <a:chExt cx="8456177"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2906989" y="3835491"/>
              <a:ext cx="8258926" cy="157941"/>
              <a:chOff x="3149473" y="3796856"/>
              <a:chExt cx="8258926" cy="157941"/>
            </a:xfrm>
          </p:grpSpPr>
          <p:sp>
            <p:nvSpPr>
              <p:cNvPr id="33" name="Ovaal 32">
                <a:extLst>
                  <a:ext uri="{FF2B5EF4-FFF2-40B4-BE49-F238E27FC236}">
                    <a16:creationId xmlns:a16="http://schemas.microsoft.com/office/drawing/2014/main" id="{6B6535E0-9B87-4936-01E5-3207BED2217D}"/>
                  </a:ext>
                </a:extLst>
              </p:cNvPr>
              <p:cNvSpPr/>
              <p:nvPr/>
            </p:nvSpPr>
            <p:spPr>
              <a:xfrm>
                <a:off x="3149473"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2807935" y="3744528"/>
              <a:ext cx="8456177"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r>
                        <a:rPr lang="en-US" sz="1200" b="0" i="0" noProof="0" dirty="0">
                          <a:solidFill>
                            <a:schemeClr val="bg1"/>
                          </a:solidFill>
                          <a:latin typeface="☞NOIR PRO MEDIUM" pitchFamily="2" charset="0"/>
                        </a:rPr>
                        <a:t>Volume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51092" y="1549761"/>
            <a:ext cx="262890" cy="260985"/>
          </a:xfrm>
          <a:prstGeom prst="rect">
            <a:avLst/>
          </a:prstGeom>
        </p:spPr>
      </p:pic>
    </p:spTree>
    <p:extLst>
      <p:ext uri="{BB962C8B-B14F-4D97-AF65-F5344CB8AC3E}">
        <p14:creationId xmlns:p14="http://schemas.microsoft.com/office/powerpoint/2010/main" val="1659745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5" name="Tijdelijke aanduiding voor voettekst 14">
            <a:extLst>
              <a:ext uri="{FF2B5EF4-FFF2-40B4-BE49-F238E27FC236}">
                <a16:creationId xmlns:a16="http://schemas.microsoft.com/office/drawing/2014/main" id="{E61F4EF7-95D6-9141-8632-993E0F351796}"/>
              </a:ext>
            </a:extLst>
          </p:cNvPr>
          <p:cNvSpPr>
            <a:spLocks noGrp="1"/>
          </p:cNvSpPr>
          <p:nvPr>
            <p:ph type="ftr" sz="quarter" idx="14"/>
          </p:nvPr>
        </p:nvSpPr>
        <p:spPr/>
        <p:txBody>
          <a:bodyPr/>
          <a:lstStyle/>
          <a:p>
            <a:r>
              <a:rPr lang="en-US" noProof="0" dirty="0"/>
              <a:t>Confidential</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Twitter Algorithm is a large system of 39.7 PY which scores 3.1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2" name="TextBox 1">
            <a:extLst>
              <a:ext uri="{FF2B5EF4-FFF2-40B4-BE49-F238E27FC236}">
                <a16:creationId xmlns:a16="http://schemas.microsoft.com/office/drawing/2014/main" id="{767471FA-A9FE-8926-C136-F5A56280E365}"/>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Twitter Algorithm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400" noProof="0" dirty="0"/>
          </a:p>
        </p:txBody>
      </p:sp>
      <p:sp>
        <p:nvSpPr>
          <p:cNvPr id="4" name="Tijdelijke aanduiding voor voettekst 3">
            <a:extLst>
              <a:ext uri="{FF2B5EF4-FFF2-40B4-BE49-F238E27FC236}">
                <a16:creationId xmlns:a16="http://schemas.microsoft.com/office/drawing/2014/main" id="{CC752FB1-03C1-7292-253C-C8435A815C2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err="1"/>
              <a:t>Twitter Algorithm scores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r:embed="rId2">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r:embed="rId4">
              <a:extLst>
                <a:ext uri="{96DAC541-7B7A-43D3-8B79-37D633B846F1}">
                  <asvg:svgBlip xmlns:asvg="http://schemas.microsoft.com/office/drawing/2016/SVG/main" r:embed="rId5"/>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3526213525"/>
              </p:ext>
            </p:extLst>
          </p:nvPr>
        </p:nvGraphicFramePr>
        <p:xfrm>
          <a:off x="8571496" y="3035953"/>
          <a:ext cx="3116504" cy="1868112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806823">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chemeClr val="tx1"/>
                          </a:solidFill>
                          <a:effectLst/>
                          <a:latin typeface="+mn-lt"/>
                        </a:rPr>
                        <a:t>Volume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03 April 2023</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58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3.1</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4" name="Footer Placeholder 3">
            <a:extLst>
              <a:ext uri="{FF2B5EF4-FFF2-40B4-BE49-F238E27FC236}">
                <a16:creationId xmlns:a16="http://schemas.microsoft.com/office/drawing/2014/main" id="{D2770E21-F741-00F2-0514-4F39688D23DB}"/>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large in size and is built primarily in Scala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mostly modern technologies, and has no or minimal technologies that should be phased out.</a:t>
            </a:r>
            <a:endParaRPr lang="en-US" noProof="0" dirty="0"/>
          </a:p>
          <a:p>
            <a:pPr marL="285750" indent="-285750"/>
            <a:r>
              <a:rPr lang="en-US" noProof="0" dirty="0" err="1"/>
              <a:t>The system is mainly built using 2 different technologies: Scala,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Chart 8">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4606</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0.5</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39.7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292,692 LOC</a:t>
            </a:r>
          </a:p>
        </p:txBody>
      </p:sp>
      <p:sp>
        <p:nvSpPr>
          <p:cNvPr id="14" name="TextBox 13">
            <a:extLst>
              <a:ext uri="{FF2B5EF4-FFF2-40B4-BE49-F238E27FC236}">
                <a16:creationId xmlns:a16="http://schemas.microsoft.com/office/drawing/2014/main" id="{3B20EE1A-4478-B644-31B7-C378F5EED1D8}"/>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noProof="0" dirty="0" err="1">
                <a:solidFill>
                  <a:schemeClr val="tx2"/>
                </a:solidFill>
              </a:rPr>
              <a:t>TECHNOLOGY_CHART</a:t>
            </a:r>
            <a:endParaRPr lang="en-US" sz="1600" noProof="0" dirty="0">
              <a:solidFill>
                <a:schemeClr val="tx2"/>
              </a:solidFill>
            </a:endParaRPr>
          </a:p>
        </p:txBody>
      </p:sp>
    </p:spTree>
    <p:extLst>
      <p:ext uri="{BB962C8B-B14F-4D97-AF65-F5344CB8AC3E}">
        <p14:creationId xmlns:p14="http://schemas.microsoft.com/office/powerpoint/2010/main" val="33251482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Twitter Algorithm scores below market average, with 0% test/production code ratio. </a:t>
            </a:r>
          </a:p>
          <a:p>
            <a:pPr marL="285750" indent="-285750">
              <a:lnSpc>
                <a:spcPct val="113000"/>
              </a:lnSpc>
              <a:buFont typeface="Arial" panose="020B0604020202020204" pitchFamily="34" charset="0"/>
              <a:buChar char="•"/>
            </a:pPr>
            <a:r>
              <a:rPr lang="en-US" noProof="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noProof="0" dirty="0">
              <a:solidFill>
                <a:schemeClr val="tx2"/>
              </a:solidFill>
            </a:endParaRP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Twitter Algorithm has a below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0%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Content Placeholder 17">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a:extLst>
              <a:ext uri="{FF2B5EF4-FFF2-40B4-BE49-F238E27FC236}">
                <a16:creationId xmlns:a16="http://schemas.microsoft.com/office/drawing/2014/main" id="{F6B3C2CD-CAEE-824E-753F-A5DE9CEE5263}"/>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noProof="0" dirty="0" err="1">
                <a:solidFill>
                  <a:schemeClr val="tx2"/>
                </a:solidFill>
              </a:rPr>
              <a:t>TEST_CODE_RATIO_CHART</a:t>
            </a:r>
            <a:endParaRPr lang="en-US" sz="1600" noProof="0" dirty="0">
              <a:solidFill>
                <a:schemeClr val="tx2"/>
              </a:solidFill>
            </a:endParaRPr>
          </a:p>
        </p:txBody>
      </p:sp>
    </p:spTree>
    <p:extLst>
      <p:ext uri="{BB962C8B-B14F-4D97-AF65-F5344CB8AC3E}">
        <p14:creationId xmlns:p14="http://schemas.microsoft.com/office/powerpoint/2010/main" val="33559612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Tree>
    <p:extLst>
      <p:ext uri="{BB962C8B-B14F-4D97-AF65-F5344CB8AC3E}">
        <p14:creationId xmlns:p14="http://schemas.microsoft.com/office/powerpoint/2010/main" val="1884463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SIG’s Architecture Model maps the sub-characteristics to 9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2079450" y="2800306"/>
            <a:ext cx="5010198"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US" sz="1400" noProof="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258" y="2210220"/>
          <a:ext cx="10295802" cy="457200"/>
        </p:xfrm>
        <a:graphic>
          <a:graphicData uri="http://schemas.openxmlformats.org/drawingml/2006/table">
            <a:tbl>
              <a:tblPr>
                <a:tableStyleId>{5C22544A-7EE6-4342-B048-85BDC9FD1C3A}</a:tableStyleId>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p>
                      <a:pPr algn="ctr"/>
                      <a:r>
                        <a:rPr lang="en-US" sz="1200" b="0" i="0" noProof="0" dirty="0">
                          <a:solidFill>
                            <a:schemeClr val="bg1"/>
                          </a:solidFill>
                          <a:latin typeface="☞NOIR PRO MEDIUM" pitchFamily="2" charset="0"/>
                        </a:rPr>
                        <a:t>Code</a:t>
                      </a:r>
                    </a:p>
                    <a:p>
                      <a:pPr algn="ctr"/>
                      <a:r>
                        <a:rPr lang="en-US" sz="1200" b="0" i="0" noProof="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a:t>
                      </a:r>
                    </a:p>
                    <a:p>
                      <a:pPr algn="ctr"/>
                      <a:r>
                        <a:rPr lang="en-US" sz="1200" b="0" i="0" noProof="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Communication</a:t>
                      </a:r>
                    </a:p>
                    <a:p>
                      <a:pPr algn="ctr"/>
                      <a:r>
                        <a:rPr lang="en-US" sz="1200" b="0" i="0" noProof="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Data</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Bounded</a:t>
                      </a:r>
                    </a:p>
                    <a:p>
                      <a:pPr algn="ctr"/>
                      <a:r>
                        <a:rPr lang="en-US" sz="1200" b="0" i="0" noProof="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Knowledge</a:t>
                      </a:r>
                    </a:p>
                    <a:p>
                      <a:pPr algn="ctr"/>
                      <a:r>
                        <a:rPr lang="en-US" sz="1200" b="0" i="0" noProof="0" dirty="0">
                          <a:solidFill>
                            <a:schemeClr val="bg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218728"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654945"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797392"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797394"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512500" y="33447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37415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95131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9090244" y="3349541"/>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793863" y="381479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508969" y="381589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37062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94778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215199" y="427589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651416" y="42819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508969" y="42769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370623" y="427347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9086713"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1023661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4" name="Ovaal 11">
            <a:extLst>
              <a:ext uri="{FF2B5EF4-FFF2-40B4-BE49-F238E27FC236}">
                <a16:creationId xmlns:a16="http://schemas.microsoft.com/office/drawing/2014/main" id="{1A485405-125F-7FAC-A51E-ADEA50ADBF11}"/>
              </a:ext>
            </a:extLst>
          </p:cNvPr>
          <p:cNvSpPr/>
          <p:nvPr/>
        </p:nvSpPr>
        <p:spPr>
          <a:xfrm>
            <a:off x="11375001"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236613"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375002"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3234047" y="3252689"/>
            <a:ext cx="611251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3234047" y="3727474"/>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2079450" y="4184931"/>
            <a:ext cx="959766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10137228" y="4644690"/>
            <a:ext cx="153989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4278537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r:embed="rId2">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r:embed="rId4">
              <a:extLst>
                <a:ext uri="{96DAC541-7B7A-43D3-8B79-37D633B846F1}">
                  <asvg:svgBlip xmlns:asvg="http://schemas.microsoft.com/office/drawing/2016/SVG/main" r:embed="rId5"/>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dirty="0"/>
              <a:t>Key findings –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15</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dirty="0"/>
              <a:t>Twitter Algorithm scores above market average (3.9 </a:t>
            </a:r>
            <a:r>
              <a:rPr lang="en-US" noProof="0" dirty="0">
                <a:latin typeface="Calibri" panose="020F0502020204030204" pitchFamily="34" charset="0"/>
                <a:cs typeface="Calibri" panose="020F0502020204030204" pitchFamily="34" charset="0"/>
              </a:rPr>
              <a:t>★</a:t>
            </a:r>
            <a:r>
              <a:rPr lang="en-US" noProof="0" dirty="0"/>
              <a:t>) for Architecture Quality</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4151534412"/>
              </p:ext>
            </p:extLst>
          </p:nvPr>
        </p:nvGraphicFramePr>
        <p:xfrm>
          <a:off x="8395675" y="3035953"/>
          <a:ext cx="3292327" cy="25931160"/>
        </p:xfrm>
        <a:graphic>
          <a:graphicData uri="http://schemas.openxmlformats.org/drawingml/2006/table">
            <a:tbl>
              <a:tblPr>
                <a:tableStyleId>{5940675A-B579-460E-94D1-54222C63F5DA}</a:tableStyleId>
              </a:tblPr>
              <a:tblGrid>
                <a:gridCol w="2046681">
                  <a:extLst>
                    <a:ext uri="{9D8B030D-6E8A-4147-A177-3AD203B41FA5}">
                      <a16:colId xmlns:a16="http://schemas.microsoft.com/office/drawing/2014/main" val="20000"/>
                    </a:ext>
                  </a:extLst>
                </a:gridCol>
                <a:gridCol w="817445">
                  <a:extLst>
                    <a:ext uri="{9D8B030D-6E8A-4147-A177-3AD203B41FA5}">
                      <a16:colId xmlns:a16="http://schemas.microsoft.com/office/drawing/2014/main" val="335839943"/>
                    </a:ext>
                  </a:extLst>
                </a:gridCol>
                <a:gridCol w="428201">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distribution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03 April 2023</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761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3.9</a:t>
              </a:r>
              <a:endParaRPr lang="en-US" sz="1000" noProof="0" dirty="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dirty="0">
                <a:solidFill>
                  <a:schemeClr val="bg1"/>
                </a:solidFill>
              </a:rPr>
              <a:t>Knowledge</a:t>
            </a:r>
          </a:p>
          <a:p>
            <a:pPr algn="ctr">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N/A ★</a:t>
            </a:r>
            <a:endParaRPr kumimoji="0" lang="en-US" sz="1050" u="none" strike="noStrike" kern="1200" cap="none" spc="0" normalizeH="0" baseline="0" noProof="0" dirty="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dirty="0">
                <a:solidFill>
                  <a:srgbClr val="1E354B"/>
                </a:solidFill>
              </a:rPr>
              <a:t>Communication</a:t>
            </a:r>
          </a:p>
          <a:p>
            <a:pPr algn="ctr">
              <a:defRPr/>
            </a:pPr>
            <a:r>
              <a:rPr lang="en-US" sz="1200" noProof="0" dirty="0">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Structure</a:t>
            </a:r>
          </a:p>
          <a:p>
            <a:pPr algn="ctr"/>
            <a:r>
              <a:rPr lang="en-US" sz="1200" noProof="0" dirty="0">
                <a:solidFill>
                  <a:srgbClr val="1E354B"/>
                </a:solidFill>
              </a:rPr>
              <a:t>4.0 ★</a:t>
            </a:r>
            <a:endParaRPr lang="en-US" sz="1050" noProof="0" dirty="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Evolution</a:t>
            </a:r>
          </a:p>
          <a:p>
            <a:pPr algn="ctr">
              <a:defRPr/>
            </a:pP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3.7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Data Access</a:t>
            </a:r>
          </a:p>
          <a:p>
            <a:pPr algn="ctr">
              <a:defRPr/>
            </a:pPr>
            <a:r>
              <a:rPr lang="en-US" sz="1200" noProof="0" dirty="0">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Technology Stack</a:t>
            </a:r>
          </a:p>
          <a:p>
            <a:pPr algn="ctr">
              <a:defRPr/>
            </a:pPr>
            <a:r>
              <a:rPr lang="en-US" sz="1200" noProof="0" dirty="0">
                <a:solidFill>
                  <a:srgbClr val="1E354B"/>
                </a:solidFill>
                <a:latin typeface="Calibri" panose="020F0502020204030204"/>
              </a:rPr>
              <a:t>N/A</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830997"/>
          </a:xfrm>
          <a:prstGeom prst="rect">
            <a:avLst/>
          </a:prstGeom>
          <a:noFill/>
        </p:spPr>
        <p:txBody>
          <a:bodyPr wrap="square">
            <a:spAutoFit/>
          </a:bodyPr>
          <a:lstStyle/>
          <a:p>
            <a:r>
              <a:rPr lang="en-US" sz="1600" noProof="0" dirty="0" err="1"/>
              <a:t/>
            </a:r>
            <a:endParaRPr lang="en-US" sz="1600" noProof="0" dirty="0"/>
          </a:p>
          <a:p>
            <a:br>
              <a:rPr lang="en-US" sz="1600" noProof="0" dirty="0"/>
            </a:br>
            <a:r>
              <a:rPr lang="en-US" sz="1600" noProof="0" dirty="0" err="1"/>
              <a:t>The system's high score in Component Cohesion means highly reusable and replaceable components with focused internal logic. This minimizes external dependencies and references from other external components.</a:t>
            </a:r>
            <a:endParaRPr lang="en-US" sz="2400" noProof="0" dirty="0"/>
          </a:p>
        </p:txBody>
      </p:sp>
    </p:spTree>
    <p:extLst>
      <p:ext uri="{BB962C8B-B14F-4D97-AF65-F5344CB8AC3E}">
        <p14:creationId xmlns:p14="http://schemas.microsoft.com/office/powerpoint/2010/main" val="1110005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noRot="1" noMove="1" noResize="1" noEditPoints="1" noAdjustHandles="1" noChangeArrowheads="1" noChangeShapeType="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r:embed="rId2">
            <a:extLst>
              <a:ext uri="{96DAC541-7B7A-43D3-8B79-37D633B846F1}">
                <asvg:svgBlip xmlns:asvg="http://schemas.microsoft.com/office/drawing/2016/SVG/main" r:embed="rId3"/>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r:embed="rId4">
            <a:extLst>
              <a:ext uri="{96DAC541-7B7A-43D3-8B79-37D633B846F1}">
                <asvg:svgBlip xmlns:asvg="http://schemas.microsoft.com/office/drawing/2016/SVG/main" r:embed="rId5"/>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Tree>
    <p:extLst>
      <p:ext uri="{BB962C8B-B14F-4D97-AF65-F5344CB8AC3E}">
        <p14:creationId xmlns:p14="http://schemas.microsoft.com/office/powerpoint/2010/main" val="1150897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r:embed="rId2">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r:embed="rId4">
              <a:extLst>
                <a:ext uri="{96DAC541-7B7A-43D3-8B79-37D633B846F1}">
                  <asvg:svgBlip xmlns:asvg="http://schemas.microsoft.com/office/drawing/2016/SVG/main" r:embed="rId5"/>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2% of dependencies (1 in total) used in the system contain one or more known vulnerabilities.</a:t>
            </a:r>
            <a:endParaRPr lang="en-US" sz="1400" noProof="0" dirty="0"/>
          </a:p>
          <a:p>
            <a:r>
              <a:rPr lang="en-US" sz="1400" noProof="0" dirty="0" err="1"/>
              <a:t>All dependencies in the system use relatively liberal open-source licenses.</a:t>
            </a:r>
            <a:endParaRPr lang="en-US" sz="1400" noProof="0" dirty="0"/>
          </a:p>
          <a:p>
            <a:r>
              <a:rPr lang="en-US" sz="1400" noProof="0" dirty="0" err="1"/>
              <a:t>39% of dependencies (16 in total) used in the system have not been updated for over 2 years.</a:t>
            </a:r>
            <a:endParaRPr lang="en-US" sz="1400" noProof="0" dirty="0"/>
          </a:p>
          <a:p>
            <a:r>
              <a:rPr lang="en-US" sz="1400" noProof="0" dirty="0" err="1"/>
              <a:t>All dependencies in the system are managed by a package manager.</a:t>
            </a:r>
            <a:endParaRPr lang="en-US" sz="1400" noProof="0" dirty="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17</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Twitter Algorithm rates above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946106464"/>
              </p:ext>
            </p:extLst>
          </p:nvPr>
        </p:nvGraphicFramePr>
        <p:xfrm>
          <a:off x="8571496" y="3035953"/>
          <a:ext cx="3116504"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806823">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11 </a:t>
            </a:r>
            <a:r>
              <a:rPr lang="en-US" sz="800" noProof="0" dirty="0" err="1">
                <a:solidFill>
                  <a:srgbClr val="152F73"/>
                </a:solidFill>
                <a:latin typeface="Azeret Mono" pitchFamily="2" charset="77"/>
                <a:cs typeface="Azeret Mono" pitchFamily="2" charset="77"/>
              </a:rPr>
              <a:t>February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871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4.4</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1164340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2% of dependencies (1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All dependencies in the system use relatively liberal open-source licenses.</a:t>
            </a:r>
            <a:endParaRPr lang="en-US" noProof="0" dirty="0">
              <a:solidFill>
                <a:schemeClr val="tx1"/>
              </a:solidFill>
            </a:endParaRPr>
          </a:p>
          <a:p>
            <a:pPr>
              <a:spcAft>
                <a:spcPts val="1000"/>
              </a:spcAft>
            </a:pPr>
            <a:r>
              <a:rPr lang="en-US" noProof="0" dirty="0" err="1">
                <a:solidFill>
                  <a:schemeClr val="tx1"/>
                </a:solidFill>
              </a:rPr>
              <a:t>39% of dependencies (16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All dependencies in the system are managed by a package manager.</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41</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rmAutofit fontScale="77500" lnSpcReduction="20000"/>
          </a:bodyPr>
          <a:lstStyle/>
          <a:p>
            <a:endParaRPr lang="en-US" noProof="0" dirty="0"/>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rmAutofit fontScale="77500" lnSpcReduction="20000"/>
          </a:bodyPr>
          <a:lstStyle/>
          <a:p>
            <a:endParaRPr lang="en-US" noProof="0" dirty="0"/>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rmAutofit fontScale="77500" lnSpcReduction="20000"/>
          </a:bodyPr>
          <a:lstStyle/>
          <a:p>
            <a:endParaRPr lang="en-US" noProof="0" dirty="0"/>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rmAutofit fontScale="77500" lnSpcReduction="20000"/>
          </a:bodyPr>
          <a:lstStyle/>
          <a:p>
            <a:endParaRPr lang="en-US" noProof="0" dirty="0"/>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rmAutofit fontScale="77500" lnSpcReduction="20000"/>
          </a:bodyPr>
          <a:lstStyle/>
          <a:p>
            <a:endParaRPr lang="en-US" noProof="0" dirty="0"/>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1 vulnerable 3rd party open-source dependencies were identified</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p:txBody>
          <a:bodyPr/>
          <a:lstStyle/>
          <a:p>
            <a:r>
              <a:rPr lang="en-US" noProof="0" dirty="0"/>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18</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sp>
        <p:nvSpPr>
          <p:cNvPr id="9" name="TextBox 8">
            <a:extLst>
              <a:ext uri="{FF2B5EF4-FFF2-40B4-BE49-F238E27FC236}">
                <a16:creationId xmlns:a16="http://schemas.microsoft.com/office/drawing/2014/main" id="{A768C590-52C4-FD9D-BA2E-7DA3B20805D6}"/>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noProof="0" dirty="0" err="1">
                <a:solidFill>
                  <a:schemeClr val="tx2"/>
                </a:solidFill>
              </a:rPr>
              <a:t>OSH_SLIDE</a:t>
            </a:r>
            <a:endParaRPr lang="en-US" sz="1600" noProof="0" dirty="0">
              <a:solidFill>
                <a:schemeClr val="tx2"/>
              </a:solidFill>
            </a:endParaRPr>
          </a:p>
        </p:txBody>
      </p:sp>
      <p:graphicFrame>
        <p:nvGraphicFramePr>
          <p:cNvPr id="2" name="CHART_1">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_2">
            <a:extLst>
              <a:ext uri="{FF2B5EF4-FFF2-40B4-BE49-F238E27FC236}">
                <a16:creationId xmlns:a16="http://schemas.microsoft.com/office/drawing/2014/main" id="{F710C4F3-29D3-2E11-A1BF-518BE8D05501}"/>
              </a:ext>
            </a:extLst>
          </p:cNvPr>
          <p:cNvGraphicFramePr>
            <a:graphicFrameLocks/>
          </p:cNvGraphicFramePr>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3.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11192</TotalTime>
  <Words>1853</Words>
  <Application>Microsoft Macintosh PowerPoint</Application>
  <PresentationFormat>Widescreen</PresentationFormat>
  <Paragraphs>391</Paragraphs>
  <Slides>18</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18</vt:i4>
      </vt:variant>
    </vt:vector>
  </HeadingPairs>
  <TitlesOfParts>
    <vt:vector size="36"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System "SYSTEM_NAME" technical quality: management summary</vt:lpstr>
      <vt:lpstr>Outline of topics</vt:lpstr>
      <vt:lpstr>Explanation: The Cost Estimation model combines Sigrid analysis results with SIG benchmarks</vt:lpstr>
      <vt:lpstr>SYSTEM_NAME technical debt is RENOVATION_EFFORT_PY person years (RENOVATION_EFFORT_PERCENTAGE% of its volume)</vt:lpstr>
      <vt:lpstr>Explanation: The ISO 25010 standard for Maintainability has 5 sub-characteristics</vt:lpstr>
      <vt:lpstr>The SIG/TÜViT model maps the sub-characteristics to the system properties</vt:lpstr>
      <vt:lpstr>SYSTEM_NAME is a MAINT_SIZE system of SYSTEM_PY PY which scores MAINT_RATING for maintainability </vt:lpstr>
      <vt:lpstr>SYSTEM_NAME scores MAINT_INDICATION for maintainability</vt:lpstr>
      <vt:lpstr>The system is VOLUME_RELATIVE in size and is built primarily in TECH_1_NAME</vt:lpstr>
      <vt:lpstr>SYSTEM_NAME has a TEST_CODE_RELATIVE test/code ratio</vt:lpstr>
      <vt:lpstr>Explanation: The Architecture Quality model has 5 sub-characteristics</vt:lpstr>
      <vt:lpstr>SIG’s Architecture Model maps the sub-characteristics to 9 system properties</vt:lpstr>
      <vt:lpstr>SYSTEM_NAME scores ARCH_AT_BELOW market average (ARCH_RATING ★) for Architecture Quality</vt:lpstr>
      <vt:lpstr>SIG assesses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178</cp:revision>
  <cp:lastPrinted>2020-04-20T09:37:43Z</cp:lastPrinted>
  <dcterms:created xsi:type="dcterms:W3CDTF">2025-10-22T11:22:13Z</dcterms:created>
  <dcterms:modified xsi:type="dcterms:W3CDTF">2026-02-23T16:45:00Z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